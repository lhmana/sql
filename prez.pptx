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du POC détection d'anomalies GAB.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 est trop grand pour une surveillance manuelle et la détection arrive trop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dispositif détecte automatiquement les écarts de comportement, sans remplacer l'expertise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du pipeline, du même schéma quelle que soit l'approche utilisée.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donnée journalière est agrégée par mois, sur le périmètre métropole.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indicateurs calculés chaque mois par distributeur, base commune aux trois approches.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de calcul pas à pas d'un indicateur, avec visualisation du filtre.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Différence entre apprentissage supervisé et non supervisé, notre choix et sa limite assumée.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même moteur reçoit des données différentes selon l'approche : avec ou sans exemples déjà validés.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chiffré : des distributeurs qui se ressemblent finissent dans le même groupe, sans aucune règle écrite à l'avance.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Sélectionnez une vignette pour accéder au détail de chaque approche.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Mono-critère : un indicateur suivi contre l'historique propre du distributeur.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Multi-critère : distinguer un écart isolé d'un écart systémique.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Familles : comparer chaque distributeur à ses pairs, pas à l'ensemble du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Exemple réel détaillé : pourquoi ce distributeur est classé dans cette famille, et pas une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profils réels illustrant l'assignation automatique aux familles.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filtres successifs affinent la décision jusqu'à une liste priorisée.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fonctionne déjà, ce qu'il reste à valider avec les équipes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Feuille de route du POC : cadrage et construction terminés, validation métier en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dispositif fournit le signal ; l'expertise métier reste seule juge de la décision finale.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Clôture, ouverture aux questions et retours.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350">
                  <a:alpha val="100000"/>
                </a:srgbClr>
              </a:gs>
              <a:gs pos="100000">
                <a:srgbClr val="16356E">
                  <a:alpha val="100000"/>
                </a:srgbClr>
              </a:gs>
            </a:gsLst>
            <a:lin ang="2700000" scaled="0"/>
          </a:gradFill>
          <a:ln/>
        </p:spPr>
      </p:sp>
      <p:sp>
        <p:nvSpPr>
          <p:cNvPr id="3" name="Shape 1"/>
          <p:cNvSpPr/>
          <p:nvPr/>
        </p:nvSpPr>
        <p:spPr>
          <a:xfrm>
            <a:off x="12938760" y="-1143000"/>
            <a:ext cx="6111240" cy="6111240"/>
          </a:xfrm>
          <a:prstGeom prst="ellipse">
            <a:avLst/>
          </a:prstGeom>
          <a:ln w="7620">
            <a:solidFill>
              <a:srgbClr val="FFFFFF">
                <a:alpha val="8000"/>
              </a:srgbClr>
            </a:solidFill>
            <a:prstDash val="solid"/>
          </a:ln>
        </p:spPr>
      </p:sp>
      <p:sp>
        <p:nvSpPr>
          <p:cNvPr id="4" name="Shape 2"/>
          <p:cNvSpPr/>
          <p:nvPr/>
        </p:nvSpPr>
        <p:spPr>
          <a:xfrm>
            <a:off x="13891260" y="-381000"/>
            <a:ext cx="4206240" cy="4206240"/>
          </a:xfrm>
          <a:prstGeom prst="ellipse">
            <a:avLst/>
          </a:prstGeom>
          <a:ln w="7620">
            <a:solidFill>
              <a:srgbClr val="FFFFFF">
                <a:alpha val="10000"/>
              </a:srgbClr>
            </a:solidFill>
            <a:prstDash val="solid"/>
          </a:ln>
        </p:spPr>
      </p:sp>
      <p:sp>
        <p:nvSpPr>
          <p:cNvPr id="5" name="Shape 3"/>
          <p:cNvSpPr/>
          <p:nvPr/>
        </p:nvSpPr>
        <p:spPr>
          <a:xfrm>
            <a:off x="16040100" y="1139636"/>
            <a:ext cx="152400" cy="152400"/>
          </a:xfrm>
          <a:prstGeom prst="ellipse">
            <a:avLst/>
          </a:prstGeom>
          <a:solidFill>
            <a:srgbClr val="009EE0"/>
          </a:solidFill>
          <a:ln/>
        </p:spPr>
      </p:sp>
      <p:sp>
        <p:nvSpPr>
          <p:cNvPr id="6" name="Shape 4"/>
          <p:cNvSpPr/>
          <p:nvPr/>
        </p:nvSpPr>
        <p:spPr>
          <a:xfrm>
            <a:off x="14573250" y="3009474"/>
            <a:ext cx="95250" cy="95250"/>
          </a:xfrm>
          <a:prstGeom prst="ellipse">
            <a:avLst/>
          </a:prstGeom>
          <a:solidFill>
            <a:srgbClr val="5FC8EE"/>
          </a:solidFill>
          <a:ln/>
        </p:spPr>
      </p:sp>
      <p:sp>
        <p:nvSpPr>
          <p:cNvPr id="7" name="Shape 5"/>
          <p:cNvSpPr/>
          <p:nvPr/>
        </p:nvSpPr>
        <p:spPr>
          <a:xfrm>
            <a:off x="16840200" y="4374445"/>
            <a:ext cx="114300" cy="114300"/>
          </a:xfrm>
          <a:prstGeom prst="ellipse">
            <a:avLst/>
          </a:prstGeom>
          <a:solidFill>
            <a:srgbClr val="009EE0"/>
          </a:solidFill>
          <a:ln/>
        </p:spPr>
      </p:sp>
      <p:sp>
        <p:nvSpPr>
          <p:cNvPr id="8" name="Shape 6"/>
          <p:cNvSpPr/>
          <p:nvPr/>
        </p:nvSpPr>
        <p:spPr>
          <a:xfrm>
            <a:off x="1143000" y="2672953"/>
            <a:ext cx="3247668" cy="464820"/>
          </a:xfrm>
          <a:prstGeom prst="roundRect">
            <a:avLst>
              <a:gd name="adj" fmla="val 50000"/>
            </a:avLst>
          </a:prstGeom>
          <a:ln w="7620">
            <a:solidFill>
              <a:srgbClr val="FFFFFF">
                <a:alpha val="28000"/>
              </a:srgbClr>
            </a:solidFill>
            <a:prstDash val="solid"/>
          </a:ln>
        </p:spPr>
      </p:sp>
      <p:sp>
        <p:nvSpPr>
          <p:cNvPr id="9" name="Text 7"/>
          <p:cNvSpPr/>
          <p:nvPr/>
        </p:nvSpPr>
        <p:spPr>
          <a:xfrm>
            <a:off x="1360170" y="2775823"/>
            <a:ext cx="2910758" cy="29718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C2D6E8"/>
                </a:solidFill>
                <a:latin typeface="Arial" pitchFamily="34" charset="0"/>
                <a:ea typeface="Arial" pitchFamily="34" charset="-122"/>
                <a:cs typeface="Arial" pitchFamily="34" charset="-120"/>
              </a:rPr>
              <a:t>PREUVE DE CONCEPT</a:t>
            </a:r>
            <a:endParaRPr lang="en-US" sz="1800" dirty="0"/>
          </a:p>
        </p:txBody>
      </p:sp>
      <p:sp>
        <p:nvSpPr>
          <p:cNvPr id="10" name="Shape 8"/>
          <p:cNvSpPr/>
          <p:nvPr/>
        </p:nvSpPr>
        <p:spPr>
          <a:xfrm>
            <a:off x="4543068" y="2672953"/>
            <a:ext cx="4013478" cy="464820"/>
          </a:xfrm>
          <a:prstGeom prst="roundRect">
            <a:avLst>
              <a:gd name="adj" fmla="val 50000"/>
            </a:avLst>
          </a:prstGeom>
          <a:ln w="7620">
            <a:solidFill>
              <a:srgbClr val="FFFFFF">
                <a:alpha val="28000"/>
              </a:srgbClr>
            </a:solidFill>
            <a:prstDash val="solid"/>
          </a:ln>
        </p:spPr>
      </p:sp>
      <p:sp>
        <p:nvSpPr>
          <p:cNvPr id="11" name="Text 9"/>
          <p:cNvSpPr/>
          <p:nvPr/>
        </p:nvSpPr>
        <p:spPr>
          <a:xfrm>
            <a:off x="4760238" y="2775823"/>
            <a:ext cx="3699542" cy="29718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C2D6E8"/>
                </a:solidFill>
                <a:latin typeface="Arial" pitchFamily="34" charset="0"/>
                <a:ea typeface="Arial" pitchFamily="34" charset="-122"/>
                <a:cs typeface="Arial" pitchFamily="34" charset="-120"/>
              </a:rPr>
              <a:t>DIRECTION DES PAIEMENTS</a:t>
            </a:r>
            <a:endParaRPr lang="en-US" sz="1800" dirty="0"/>
          </a:p>
        </p:txBody>
      </p:sp>
      <p:sp>
        <p:nvSpPr>
          <p:cNvPr id="12" name="Shape 10"/>
          <p:cNvSpPr/>
          <p:nvPr/>
        </p:nvSpPr>
        <p:spPr>
          <a:xfrm>
            <a:off x="8708946" y="2672953"/>
            <a:ext cx="1657588" cy="464820"/>
          </a:xfrm>
          <a:prstGeom prst="roundRect">
            <a:avLst>
              <a:gd name="adj" fmla="val 50000"/>
            </a:avLst>
          </a:prstGeom>
          <a:ln w="7620">
            <a:solidFill>
              <a:srgbClr val="FFFFFF">
                <a:alpha val="28000"/>
              </a:srgbClr>
            </a:solidFill>
            <a:prstDash val="solid"/>
          </a:ln>
        </p:spPr>
      </p:sp>
      <p:sp>
        <p:nvSpPr>
          <p:cNvPr id="13" name="Text 11"/>
          <p:cNvSpPr/>
          <p:nvPr/>
        </p:nvSpPr>
        <p:spPr>
          <a:xfrm>
            <a:off x="8926116" y="2775823"/>
            <a:ext cx="1299448" cy="29718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C2D6E8"/>
                </a:solidFill>
                <a:latin typeface="Arial" pitchFamily="34" charset="0"/>
                <a:ea typeface="Arial" pitchFamily="34" charset="-122"/>
                <a:cs typeface="Arial" pitchFamily="34" charset="-120"/>
              </a:rPr>
              <a:t>DATA &amp; IA</a:t>
            </a:r>
            <a:endParaRPr lang="en-US" sz="1800" dirty="0"/>
          </a:p>
        </p:txBody>
      </p:sp>
      <p:sp>
        <p:nvSpPr>
          <p:cNvPr id="14" name="Text 12"/>
          <p:cNvSpPr/>
          <p:nvPr/>
        </p:nvSpPr>
        <p:spPr>
          <a:xfrm>
            <a:off x="1143000" y="3671173"/>
            <a:ext cx="14668500" cy="922734"/>
          </a:xfrm>
          <a:prstGeom prst="rect">
            <a:avLst/>
          </a:prstGeom>
          <a:noFill/>
          <a:ln/>
        </p:spPr>
        <p:txBody>
          <a:bodyPr wrap="square" lIns="25400" tIns="25400" rIns="25400" bIns="25400" rtlCol="0" anchor="t">
            <a:normAutofit/>
          </a:bodyPr>
          <a:lstStyle/>
          <a:p>
            <a:pPr algn="l" indent="0" marL="0">
              <a:lnSpc>
                <a:spcPct val="76887"/>
              </a:lnSpc>
              <a:buNone/>
            </a:pPr>
            <a:r>
              <a:rPr lang="en-US" sz="6450" b="1" dirty="0">
                <a:solidFill>
                  <a:srgbClr val="FFFFFF"/>
                </a:solidFill>
                <a:latin typeface="Arial" pitchFamily="34" charset="0"/>
                <a:ea typeface="Arial" pitchFamily="34" charset="-122"/>
                <a:cs typeface="Arial" pitchFamily="34" charset="-120"/>
              </a:rPr>
              <a:t>Détection d'anomalies</a:t>
            </a:r>
            <a:endParaRPr lang="en-US" sz="6450" dirty="0"/>
          </a:p>
        </p:txBody>
      </p:sp>
      <p:sp>
        <p:nvSpPr>
          <p:cNvPr id="15" name="Text 13"/>
          <p:cNvSpPr/>
          <p:nvPr/>
        </p:nvSpPr>
        <p:spPr>
          <a:xfrm>
            <a:off x="1143000" y="4555808"/>
            <a:ext cx="14668500" cy="922734"/>
          </a:xfrm>
          <a:prstGeom prst="rect">
            <a:avLst/>
          </a:prstGeom>
          <a:noFill/>
          <a:ln/>
        </p:spPr>
        <p:txBody>
          <a:bodyPr wrap="square" lIns="25400" tIns="25400" rIns="25400" bIns="25400" rtlCol="0" anchor="t">
            <a:normAutofit/>
          </a:bodyPr>
          <a:lstStyle/>
          <a:p>
            <a:pPr algn="l" indent="0" marL="0">
              <a:lnSpc>
                <a:spcPct val="76887"/>
              </a:lnSpc>
              <a:buNone/>
            </a:pPr>
            <a:r>
              <a:rPr lang="en-US" sz="6450" b="1" dirty="0">
                <a:solidFill>
                  <a:srgbClr val="009EE0"/>
                </a:solidFill>
                <a:latin typeface="Arial" pitchFamily="34" charset="0"/>
                <a:ea typeface="Arial" pitchFamily="34" charset="-122"/>
                <a:cs typeface="Arial" pitchFamily="34" charset="-120"/>
              </a:rPr>
              <a:t>sur le comportement des automates</a:t>
            </a:r>
            <a:endParaRPr lang="en-US" sz="6450" dirty="0"/>
          </a:p>
        </p:txBody>
      </p:sp>
      <p:sp>
        <p:nvSpPr>
          <p:cNvPr id="16" name="Text 14"/>
          <p:cNvSpPr/>
          <p:nvPr/>
        </p:nvSpPr>
        <p:spPr>
          <a:xfrm>
            <a:off x="1143000" y="5859542"/>
            <a:ext cx="9614535" cy="923925"/>
          </a:xfrm>
          <a:prstGeom prst="rect">
            <a:avLst/>
          </a:prstGeom>
          <a:noFill/>
          <a:ln/>
        </p:spPr>
        <p:txBody>
          <a:bodyPr wrap="square" lIns="25400" tIns="25400" rIns="25400" bIns="25400" rtlCol="0" anchor="t">
            <a:normAutofit/>
          </a:bodyPr>
          <a:lstStyle/>
          <a:p>
            <a:pPr algn="l" indent="0" marL="0">
              <a:lnSpc>
                <a:spcPct val="135174"/>
              </a:lnSpc>
              <a:buNone/>
            </a:pPr>
            <a:r>
              <a:rPr lang="en-US" sz="2250" dirty="0">
                <a:solidFill>
                  <a:srgbClr val="C2D6E8"/>
                </a:solidFill>
                <a:latin typeface="Arial" pitchFamily="34" charset="0"/>
                <a:ea typeface="Arial" pitchFamily="34" charset="-122"/>
                <a:cs typeface="Arial" pitchFamily="34" charset="-120"/>
              </a:rPr>
              <a:t>Identifier, comprendre et anticiper les évolutions de comportement, afin de mieux piloter le réseau de GAB.</a:t>
            </a:r>
            <a:endParaRPr lang="en-US" sz="2250" dirty="0"/>
          </a:p>
        </p:txBody>
      </p:sp>
      <p:sp>
        <p:nvSpPr>
          <p:cNvPr id="17" name="Shape 15"/>
          <p:cNvSpPr/>
          <p:nvPr/>
        </p:nvSpPr>
        <p:spPr>
          <a:xfrm>
            <a:off x="1143000" y="7436882"/>
            <a:ext cx="95250" cy="95250"/>
          </a:xfrm>
          <a:prstGeom prst="ellipse">
            <a:avLst/>
          </a:prstGeom>
          <a:solidFill>
            <a:srgbClr val="009EE0"/>
          </a:solidFill>
          <a:ln/>
        </p:spPr>
      </p:sp>
      <p:sp>
        <p:nvSpPr>
          <p:cNvPr id="18" name="Text 16"/>
          <p:cNvSpPr/>
          <p:nvPr/>
        </p:nvSpPr>
        <p:spPr>
          <a:xfrm>
            <a:off x="1390650" y="7354967"/>
            <a:ext cx="3136963"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Point d'avancement — POC</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LA PROBLÉMATIQUE</a:t>
            </a:r>
            <a:endParaRPr lang="en-US" sz="1800" dirty="0"/>
          </a:p>
        </p:txBody>
      </p:sp>
      <p:sp>
        <p:nvSpPr>
          <p:cNvPr id="3" name="Text 1"/>
          <p:cNvSpPr/>
          <p:nvPr/>
        </p:nvSpPr>
        <p:spPr>
          <a:xfrm>
            <a:off x="952500" y="1306830"/>
            <a:ext cx="15716250" cy="65532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Près de 6 000 distributeurs, une surveillance qui ne suit plus</a:t>
            </a:r>
            <a:endParaRPr lang="en-US" sz="4050" dirty="0"/>
          </a:p>
        </p:txBody>
      </p:sp>
      <p:sp>
        <p:nvSpPr>
          <p:cNvPr id="4" name="Text 2"/>
          <p:cNvSpPr/>
          <p:nvPr/>
        </p:nvSpPr>
        <p:spPr>
          <a:xfrm>
            <a:off x="952500" y="2152650"/>
            <a:ext cx="16187738" cy="1957388"/>
          </a:xfrm>
          <a:prstGeom prst="rect">
            <a:avLst/>
          </a:prstGeom>
          <a:noFill/>
          <a:ln/>
        </p:spPr>
        <p:txBody>
          <a:bodyPr wrap="square" lIns="25400" tIns="25400" rIns="25400" bIns="25400" rtlCol="0" anchor="t">
            <a:normAutofit/>
          </a:bodyPr>
          <a:lstStyle/>
          <a:p>
            <a:pPr algn="l" indent="0" marL="0">
              <a:lnSpc>
                <a:spcPct val="136149"/>
              </a:lnSpc>
              <a:buNone/>
            </a:pPr>
            <a:r>
              <a:rPr lang="en-US" sz="1950" dirty="0">
                <a:solidFill>
                  <a:srgbClr val="243149"/>
                </a:solidFill>
                <a:latin typeface="Arial" pitchFamily="34" charset="0"/>
                <a:ea typeface="Arial" pitchFamily="34" charset="-122"/>
                <a:cs typeface="Arial" pitchFamily="34" charset="-120"/>
              </a:rPr>
              <a:t>Aujourd'hui, l'équipe métier examine à la main le comportement de près de 6 000 distributeurs répartis sur tout le territoire. Cette vigilance est précieuse, mais elle a un coût : à cette échelle, une analyse manuelle prend du temps, retarde la détection de plusieurs mois, et laisse passer des signaux faibles qu'un œil humain ne peut pas suivre partout à la fois. Ce que nous vous présentons aujourd'hui est un dispositif capable de surveiller automatiquement l'ensemble du parc, chaque jour, pour donner à l'équipe métier un temps d'avance qu'elle n'a jamais eu.</a:t>
            </a:r>
            <a:endParaRPr lang="en-US" sz="1950" dirty="0"/>
          </a:p>
        </p:txBody>
      </p:sp>
      <p:sp>
        <p:nvSpPr>
          <p:cNvPr id="5" name="Shape 3"/>
          <p:cNvSpPr/>
          <p:nvPr/>
        </p:nvSpPr>
        <p:spPr>
          <a:xfrm>
            <a:off x="952500" y="4414838"/>
            <a:ext cx="5232321" cy="5205413"/>
          </a:xfrm>
          <a:prstGeom prst="roundRect">
            <a:avLst>
              <a:gd name="adj" fmla="val 3660"/>
            </a:avLst>
          </a:prstGeom>
          <a:solidFill>
            <a:srgbClr val="F2F8FC"/>
          </a:solidFill>
          <a:ln/>
        </p:spPr>
      </p:sp>
      <p:sp>
        <p:nvSpPr>
          <p:cNvPr id="6" name="Text 4"/>
          <p:cNvSpPr/>
          <p:nvPr/>
        </p:nvSpPr>
        <p:spPr>
          <a:xfrm>
            <a:off x="1371600" y="4833938"/>
            <a:ext cx="4833533" cy="822960"/>
          </a:xfrm>
          <a:prstGeom prst="rect">
            <a:avLst/>
          </a:prstGeom>
          <a:noFill/>
          <a:ln/>
        </p:spPr>
        <p:txBody>
          <a:bodyPr wrap="square" lIns="25400" tIns="25400" rIns="25400" bIns="25400" rtlCol="0" anchor="t">
            <a:normAutofit/>
          </a:bodyPr>
          <a:lstStyle/>
          <a:p>
            <a:pPr algn="l" indent="0" marL="0">
              <a:buNone/>
            </a:pPr>
            <a:r>
              <a:rPr lang="en-US" sz="5400" b="1" dirty="0">
                <a:solidFill>
                  <a:srgbClr val="0086C9"/>
                </a:solidFill>
                <a:latin typeface="Arial" pitchFamily="34" charset="0"/>
                <a:ea typeface="Arial" pitchFamily="34" charset="-122"/>
                <a:cs typeface="Arial" pitchFamily="34" charset="-120"/>
              </a:rPr>
              <a:t>~6 000</a:t>
            </a:r>
            <a:endParaRPr lang="en-US" sz="5400" dirty="0"/>
          </a:p>
        </p:txBody>
      </p:sp>
      <p:sp>
        <p:nvSpPr>
          <p:cNvPr id="7" name="Text 5"/>
          <p:cNvSpPr/>
          <p:nvPr/>
        </p:nvSpPr>
        <p:spPr>
          <a:xfrm>
            <a:off x="1371600" y="5675948"/>
            <a:ext cx="4833533"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distributeurs à surveiller</a:t>
            </a:r>
            <a:endParaRPr lang="en-US" sz="1800" dirty="0"/>
          </a:p>
        </p:txBody>
      </p:sp>
      <p:sp>
        <p:nvSpPr>
          <p:cNvPr id="8" name="Text 6"/>
          <p:cNvSpPr/>
          <p:nvPr/>
        </p:nvSpPr>
        <p:spPr>
          <a:xfrm>
            <a:off x="1371600" y="6125528"/>
            <a:ext cx="4525944" cy="216408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64758F"/>
                </a:solidFill>
                <a:latin typeface="Arial" pitchFamily="34" charset="0"/>
                <a:ea typeface="Arial" pitchFamily="34" charset="-122"/>
                <a:cs typeface="Arial" pitchFamily="34" charset="-120"/>
              </a:rPr>
              <a:t>L'équipe métier applique une politique d'analyse rigoureuse sur l'ensemble du parc — mais à cette échelle, l'exercice devient très long et coûteux à mener manuellement, distributeur par distributeur.</a:t>
            </a:r>
            <a:endParaRPr lang="en-US" sz="1800" dirty="0"/>
          </a:p>
        </p:txBody>
      </p:sp>
      <p:sp>
        <p:nvSpPr>
          <p:cNvPr id="9" name="Shape 7"/>
          <p:cNvSpPr/>
          <p:nvPr/>
        </p:nvSpPr>
        <p:spPr>
          <a:xfrm>
            <a:off x="6527721" y="4414838"/>
            <a:ext cx="5232440" cy="5205413"/>
          </a:xfrm>
          <a:prstGeom prst="roundRect">
            <a:avLst>
              <a:gd name="adj" fmla="val 3660"/>
            </a:avLst>
          </a:prstGeom>
          <a:solidFill>
            <a:srgbClr val="F2F8FC"/>
          </a:solidFill>
          <a:ln/>
        </p:spPr>
      </p:sp>
      <p:sp>
        <p:nvSpPr>
          <p:cNvPr id="10" name="Text 8"/>
          <p:cNvSpPr/>
          <p:nvPr/>
        </p:nvSpPr>
        <p:spPr>
          <a:xfrm>
            <a:off x="6946821" y="4833938"/>
            <a:ext cx="4526067"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Une détection qui arrive 2 à 3 mois trop tard</a:t>
            </a:r>
            <a:endParaRPr lang="en-US" sz="1800" dirty="0"/>
          </a:p>
        </p:txBody>
      </p:sp>
      <p:sp>
        <p:nvSpPr>
          <p:cNvPr id="11" name="Text 9"/>
          <p:cNvSpPr/>
          <p:nvPr/>
        </p:nvSpPr>
        <p:spPr>
          <a:xfrm>
            <a:off x="6946821" y="5504498"/>
            <a:ext cx="4526067" cy="145542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64758F"/>
                </a:solidFill>
                <a:latin typeface="Arial" pitchFamily="34" charset="0"/>
                <a:ea typeface="Arial" pitchFamily="34" charset="-122"/>
                <a:cs typeface="Arial" pitchFamily="34" charset="-120"/>
              </a:rPr>
              <a:t>Un comportement atypique n'est repéré qu'après plusieurs mois d'analyse manuelle. Selon la nature du signal, ce délai peut déjà être critique.</a:t>
            </a:r>
            <a:endParaRPr lang="en-US" sz="1800" dirty="0"/>
          </a:p>
        </p:txBody>
      </p:sp>
      <p:sp>
        <p:nvSpPr>
          <p:cNvPr id="12" name="Shape 10"/>
          <p:cNvSpPr/>
          <p:nvPr/>
        </p:nvSpPr>
        <p:spPr>
          <a:xfrm>
            <a:off x="7023021" y="8751570"/>
            <a:ext cx="4241840" cy="57150"/>
          </a:xfrm>
          <a:prstGeom prst="roundRect">
            <a:avLst>
              <a:gd name="adj" fmla="val 50000"/>
            </a:avLst>
          </a:prstGeom>
          <a:solidFill>
            <a:srgbClr val="C2D6E8"/>
          </a:solidFill>
          <a:ln/>
        </p:spPr>
      </p:sp>
      <p:sp>
        <p:nvSpPr>
          <p:cNvPr id="13" name="Shape 11"/>
          <p:cNvSpPr/>
          <p:nvPr/>
        </p:nvSpPr>
        <p:spPr>
          <a:xfrm>
            <a:off x="7023021" y="8684895"/>
            <a:ext cx="190500" cy="190500"/>
          </a:xfrm>
          <a:prstGeom prst="ellipse">
            <a:avLst/>
          </a:prstGeom>
          <a:solidFill>
            <a:srgbClr val="0C2350"/>
          </a:solidFill>
          <a:ln/>
        </p:spPr>
      </p:sp>
      <p:sp>
        <p:nvSpPr>
          <p:cNvPr id="14" name="Shape 12"/>
          <p:cNvSpPr/>
          <p:nvPr/>
        </p:nvSpPr>
        <p:spPr>
          <a:xfrm>
            <a:off x="11074360" y="8684895"/>
            <a:ext cx="190500" cy="190500"/>
          </a:xfrm>
          <a:prstGeom prst="ellipse">
            <a:avLst/>
          </a:prstGeom>
          <a:solidFill>
            <a:srgbClr val="009EE0"/>
          </a:solidFill>
          <a:ln/>
        </p:spPr>
      </p:sp>
      <p:sp>
        <p:nvSpPr>
          <p:cNvPr id="15" name="Text 13"/>
          <p:cNvSpPr/>
          <p:nvPr/>
        </p:nvSpPr>
        <p:spPr>
          <a:xfrm>
            <a:off x="6946821" y="8942070"/>
            <a:ext cx="87689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Incident</a:t>
            </a:r>
            <a:endParaRPr lang="en-US" sz="1800" dirty="0"/>
          </a:p>
        </p:txBody>
      </p:sp>
      <p:sp>
        <p:nvSpPr>
          <p:cNvPr id="16" name="Text 14"/>
          <p:cNvSpPr/>
          <p:nvPr/>
        </p:nvSpPr>
        <p:spPr>
          <a:xfrm>
            <a:off x="9244489" y="8942070"/>
            <a:ext cx="230622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Détection · 2–3 mois</a:t>
            </a:r>
            <a:endParaRPr lang="en-US" sz="1800" dirty="0"/>
          </a:p>
        </p:txBody>
      </p:sp>
      <p:sp>
        <p:nvSpPr>
          <p:cNvPr id="17" name="Shape 15"/>
          <p:cNvSpPr/>
          <p:nvPr/>
        </p:nvSpPr>
        <p:spPr>
          <a:xfrm>
            <a:off x="12103060" y="4414838"/>
            <a:ext cx="5232440" cy="5205413"/>
          </a:xfrm>
          <a:prstGeom prst="roundRect">
            <a:avLst>
              <a:gd name="adj" fmla="val 3660"/>
            </a:avLst>
          </a:prstGeom>
          <a:solidFill>
            <a:srgbClr val="0C2350"/>
          </a:solidFill>
          <a:ln/>
        </p:spPr>
      </p:sp>
      <p:sp>
        <p:nvSpPr>
          <p:cNvPr id="18" name="Text 16"/>
          <p:cNvSpPr/>
          <p:nvPr/>
        </p:nvSpPr>
        <p:spPr>
          <a:xfrm>
            <a:off x="12522160" y="4833938"/>
            <a:ext cx="4833664" cy="571500"/>
          </a:xfrm>
          <a:prstGeom prst="rect">
            <a:avLst/>
          </a:prstGeom>
          <a:noFill/>
          <a:ln/>
        </p:spPr>
        <p:txBody>
          <a:bodyPr wrap="square" lIns="25400" tIns="25400" rIns="25400" bIns="25400" rtlCol="0" anchor="t">
            <a:normAutofit/>
          </a:bodyPr>
          <a:lstStyle/>
          <a:p>
            <a:pPr algn="l" indent="0" marL="0">
              <a:lnSpc>
                <a:spcPct val="70707"/>
              </a:lnSpc>
              <a:buNone/>
            </a:pPr>
            <a:r>
              <a:rPr lang="en-US" sz="4200" b="1" dirty="0">
                <a:solidFill>
                  <a:srgbClr val="009EE0"/>
                </a:solidFill>
                <a:latin typeface="Arial" pitchFamily="34" charset="0"/>
                <a:ea typeface="Arial" pitchFamily="34" charset="-122"/>
                <a:cs typeface="Arial" pitchFamily="34" charset="-120"/>
              </a:rPr>
              <a:t>"</a:t>
            </a:r>
            <a:endParaRPr lang="en-US" sz="4200" dirty="0"/>
          </a:p>
        </p:txBody>
      </p:sp>
      <p:sp>
        <p:nvSpPr>
          <p:cNvPr id="19" name="Text 17"/>
          <p:cNvSpPr/>
          <p:nvPr/>
        </p:nvSpPr>
        <p:spPr>
          <a:xfrm>
            <a:off x="12522160" y="5443538"/>
            <a:ext cx="4526067"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Un cas concret : le doute qui ne se lève jamais</a:t>
            </a:r>
            <a:endParaRPr lang="en-US" sz="1800" dirty="0"/>
          </a:p>
        </p:txBody>
      </p:sp>
      <p:sp>
        <p:nvSpPr>
          <p:cNvPr id="20" name="Text 18"/>
          <p:cNvSpPr/>
          <p:nvPr/>
        </p:nvSpPr>
        <p:spPr>
          <a:xfrm>
            <a:off x="12522160" y="6152198"/>
            <a:ext cx="4526067" cy="1866900"/>
          </a:xfrm>
          <a:prstGeom prst="rect">
            <a:avLst/>
          </a:prstGeom>
          <a:noFill/>
          <a:ln/>
        </p:spPr>
        <p:txBody>
          <a:bodyPr wrap="square" lIns="25400" tIns="25400" rIns="25400" bIns="25400" rtlCol="0" anchor="t">
            <a:normAutofit/>
          </a:bodyPr>
          <a:lstStyle/>
          <a:p>
            <a:pPr algn="l" indent="0" marL="0">
              <a:lnSpc>
                <a:spcPct val="141176"/>
              </a:lnSpc>
              <a:buNone/>
            </a:pPr>
            <a:r>
              <a:rPr lang="en-US" sz="1800" dirty="0">
                <a:solidFill>
                  <a:srgbClr val="C2D6E8"/>
                </a:solidFill>
                <a:latin typeface="Arial" pitchFamily="34" charset="0"/>
                <a:ea typeface="Arial" pitchFamily="34" charset="-122"/>
                <a:cs typeface="Arial" pitchFamily="34" charset="-120"/>
              </a:rPr>
              <a:t>Un distributeur isolé en montagne voit son taux de cartes JCB grimper. Tourisme japonais ponctuel, ou signal à surveiller ? Sans dispositif, la question reste sans réponse pendant des mois.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8FC"/>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NOTRE RÉPONSE</a:t>
            </a:r>
            <a:endParaRPr lang="en-US" sz="1800" dirty="0"/>
          </a:p>
        </p:txBody>
      </p:sp>
      <p:sp>
        <p:nvSpPr>
          <p:cNvPr id="3" name="Text 1"/>
          <p:cNvSpPr/>
          <p:nvPr/>
        </p:nvSpPr>
        <p:spPr>
          <a:xfrm>
            <a:off x="952500" y="1306830"/>
            <a:ext cx="14716125" cy="127254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Une IA qui détecte les comportements atypiques, automatiquement</a:t>
            </a:r>
            <a:endParaRPr lang="en-US" sz="4050" dirty="0"/>
          </a:p>
        </p:txBody>
      </p:sp>
      <p:sp>
        <p:nvSpPr>
          <p:cNvPr id="4" name="Text 2"/>
          <p:cNvSpPr/>
          <p:nvPr/>
        </p:nvSpPr>
        <p:spPr>
          <a:xfrm>
            <a:off x="952500" y="2693670"/>
            <a:ext cx="1275397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Nous proposons un dispositif qui analyse en continu le comportement de chaque distributeur, pour automatiser ce que l'équipe métier fait aujourd'hui manuellement.</a:t>
            </a:r>
            <a:endParaRPr lang="en-US" sz="1800" dirty="0"/>
          </a:p>
        </p:txBody>
      </p:sp>
      <p:sp>
        <p:nvSpPr>
          <p:cNvPr id="5" name="Shape 3"/>
          <p:cNvSpPr/>
          <p:nvPr/>
        </p:nvSpPr>
        <p:spPr>
          <a:xfrm>
            <a:off x="952500" y="3760470"/>
            <a:ext cx="4475321" cy="838200"/>
          </a:xfrm>
          <a:prstGeom prst="roundRect">
            <a:avLst>
              <a:gd name="adj" fmla="val 13636"/>
            </a:avLst>
          </a:prstGeom>
          <a:solidFill>
            <a:srgbClr val="FFFFFF"/>
          </a:solidFill>
          <a:ln w="7620">
            <a:solidFill>
              <a:srgbClr val="C2D6E8"/>
            </a:solidFill>
            <a:prstDash val="solid"/>
          </a:ln>
        </p:spPr>
      </p:sp>
      <p:sp>
        <p:nvSpPr>
          <p:cNvPr id="6" name="Text 4"/>
          <p:cNvSpPr/>
          <p:nvPr/>
        </p:nvSpPr>
        <p:spPr>
          <a:xfrm>
            <a:off x="1207770" y="3920490"/>
            <a:ext cx="4099041"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Hausse soudaine de retraits en carte étrangère</a:t>
            </a:r>
            <a:endParaRPr lang="en-US" sz="1800" dirty="0"/>
          </a:p>
        </p:txBody>
      </p:sp>
      <p:sp>
        <p:nvSpPr>
          <p:cNvPr id="7" name="Shape 5"/>
          <p:cNvSpPr/>
          <p:nvPr/>
        </p:nvSpPr>
        <p:spPr>
          <a:xfrm>
            <a:off x="5656422" y="3760470"/>
            <a:ext cx="3041571" cy="838200"/>
          </a:xfrm>
          <a:prstGeom prst="roundRect">
            <a:avLst>
              <a:gd name="adj" fmla="val 13636"/>
            </a:avLst>
          </a:prstGeom>
          <a:solidFill>
            <a:srgbClr val="FFFFFF"/>
          </a:solidFill>
          <a:ln w="7620">
            <a:solidFill>
              <a:srgbClr val="C2D6E8"/>
            </a:solidFill>
            <a:prstDash val="solid"/>
          </a:ln>
        </p:spPr>
      </p:sp>
      <p:sp>
        <p:nvSpPr>
          <p:cNvPr id="8" name="Text 6"/>
          <p:cNvSpPr/>
          <p:nvPr/>
        </p:nvSpPr>
        <p:spPr>
          <a:xfrm>
            <a:off x="5911692" y="3920490"/>
            <a:ext cx="2622278"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Tentative de fraude potentielle</a:t>
            </a:r>
            <a:endParaRPr lang="en-US" sz="1800" dirty="0"/>
          </a:p>
        </p:txBody>
      </p:sp>
      <p:sp>
        <p:nvSpPr>
          <p:cNvPr id="9" name="Shape 7"/>
          <p:cNvSpPr/>
          <p:nvPr/>
        </p:nvSpPr>
        <p:spPr>
          <a:xfrm>
            <a:off x="8926592" y="3760470"/>
            <a:ext cx="3820954" cy="838200"/>
          </a:xfrm>
          <a:prstGeom prst="roundRect">
            <a:avLst>
              <a:gd name="adj" fmla="val 13636"/>
            </a:avLst>
          </a:prstGeom>
          <a:solidFill>
            <a:srgbClr val="FFFFFF"/>
          </a:solidFill>
          <a:ln w="7620">
            <a:solidFill>
              <a:srgbClr val="C2D6E8"/>
            </a:solidFill>
            <a:prstDash val="solid"/>
          </a:ln>
        </p:spPr>
      </p:sp>
      <p:sp>
        <p:nvSpPr>
          <p:cNvPr id="10" name="Text 8"/>
          <p:cNvSpPr/>
          <p:nvPr/>
        </p:nvSpPr>
        <p:spPr>
          <a:xfrm>
            <a:off x="9181862" y="3920490"/>
            <a:ext cx="3425042"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Distributeurs les moins actifs du réseau</a:t>
            </a:r>
            <a:endParaRPr lang="en-US" sz="1800" dirty="0"/>
          </a:p>
        </p:txBody>
      </p:sp>
      <p:sp>
        <p:nvSpPr>
          <p:cNvPr id="11" name="Shape 9"/>
          <p:cNvSpPr/>
          <p:nvPr/>
        </p:nvSpPr>
        <p:spPr>
          <a:xfrm>
            <a:off x="12976146" y="3760470"/>
            <a:ext cx="4359355" cy="838200"/>
          </a:xfrm>
          <a:prstGeom prst="roundRect">
            <a:avLst>
              <a:gd name="adj" fmla="val 13636"/>
            </a:avLst>
          </a:prstGeom>
          <a:solidFill>
            <a:srgbClr val="FFFFFF"/>
          </a:solidFill>
          <a:ln w="7620">
            <a:solidFill>
              <a:srgbClr val="C2D6E8"/>
            </a:solidFill>
            <a:prstDash val="solid"/>
          </a:ln>
        </p:spPr>
      </p:sp>
      <p:sp>
        <p:nvSpPr>
          <p:cNvPr id="12" name="Text 10"/>
          <p:cNvSpPr/>
          <p:nvPr/>
        </p:nvSpPr>
        <p:spPr>
          <a:xfrm>
            <a:off x="13231416" y="3920490"/>
            <a:ext cx="3979595"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Tout changement de comportement inhabituel</a:t>
            </a:r>
            <a:endParaRPr lang="en-US" sz="1800" dirty="0"/>
          </a:p>
        </p:txBody>
      </p:sp>
      <p:sp>
        <p:nvSpPr>
          <p:cNvPr id="13" name="Text 11"/>
          <p:cNvSpPr/>
          <p:nvPr/>
        </p:nvSpPr>
        <p:spPr>
          <a:xfrm>
            <a:off x="133350" y="4655820"/>
            <a:ext cx="18021300" cy="419100"/>
          </a:xfrm>
          <a:prstGeom prst="rect">
            <a:avLst/>
          </a:prstGeom>
          <a:noFill/>
          <a:ln/>
        </p:spPr>
        <p:txBody>
          <a:bodyPr wrap="square" lIns="25400" tIns="25400" rIns="25400" bIns="25400" rtlCol="0" anchor="t">
            <a:normAutofit/>
          </a:bodyPr>
          <a:lstStyle/>
          <a:p>
            <a:pPr algn="ctr" indent="0" marL="0">
              <a:buNone/>
            </a:pPr>
            <a:r>
              <a:rPr lang="en-US" sz="2550" dirty="0">
                <a:solidFill>
                  <a:srgbClr val="0086C9"/>
                </a:solidFill>
                <a:latin typeface="Arial" pitchFamily="34" charset="0"/>
                <a:ea typeface="Arial" pitchFamily="34" charset="-122"/>
                <a:cs typeface="Arial" pitchFamily="34" charset="-120"/>
              </a:rPr>
              <a:t>↓</a:t>
            </a:r>
            <a:endParaRPr lang="en-US" sz="2550" dirty="0"/>
          </a:p>
        </p:txBody>
      </p:sp>
      <p:sp>
        <p:nvSpPr>
          <p:cNvPr id="14" name="Shape 12"/>
          <p:cNvSpPr/>
          <p:nvPr/>
        </p:nvSpPr>
        <p:spPr>
          <a:xfrm>
            <a:off x="6707624" y="5093970"/>
            <a:ext cx="4872752" cy="777240"/>
          </a:xfrm>
          <a:prstGeom prst="roundRect">
            <a:avLst>
              <a:gd name="adj" fmla="val 19608"/>
            </a:avLst>
          </a:prstGeom>
          <a:solidFill>
            <a:srgbClr val="0C2350"/>
          </a:solidFill>
          <a:ln/>
        </p:spPr>
      </p:sp>
      <p:sp>
        <p:nvSpPr>
          <p:cNvPr id="15" name="Text 13"/>
          <p:cNvSpPr/>
          <p:nvPr/>
        </p:nvSpPr>
        <p:spPr>
          <a:xfrm>
            <a:off x="7202924" y="5341620"/>
            <a:ext cx="4028335" cy="32004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Analyse continue du comportement</a:t>
            </a:r>
            <a:endParaRPr lang="en-US" sz="1950" dirty="0"/>
          </a:p>
        </p:txBody>
      </p:sp>
      <p:sp>
        <p:nvSpPr>
          <p:cNvPr id="16" name="Text 14"/>
          <p:cNvSpPr/>
          <p:nvPr/>
        </p:nvSpPr>
        <p:spPr>
          <a:xfrm>
            <a:off x="133350" y="5928360"/>
            <a:ext cx="18021300" cy="419100"/>
          </a:xfrm>
          <a:prstGeom prst="rect">
            <a:avLst/>
          </a:prstGeom>
          <a:noFill/>
          <a:ln/>
        </p:spPr>
        <p:txBody>
          <a:bodyPr wrap="square" lIns="25400" tIns="25400" rIns="25400" bIns="25400" rtlCol="0" anchor="t">
            <a:normAutofit/>
          </a:bodyPr>
          <a:lstStyle/>
          <a:p>
            <a:pPr algn="ctr" indent="0" marL="0">
              <a:buNone/>
            </a:pPr>
            <a:r>
              <a:rPr lang="en-US" sz="2550" dirty="0">
                <a:solidFill>
                  <a:srgbClr val="0086C9"/>
                </a:solidFill>
                <a:latin typeface="Arial" pitchFamily="34" charset="0"/>
                <a:ea typeface="Arial" pitchFamily="34" charset="-122"/>
                <a:cs typeface="Arial" pitchFamily="34" charset="-120"/>
              </a:rPr>
              <a:t>↓</a:t>
            </a:r>
            <a:endParaRPr lang="en-US" sz="2550" dirty="0"/>
          </a:p>
        </p:txBody>
      </p:sp>
      <p:sp>
        <p:nvSpPr>
          <p:cNvPr id="17" name="Shape 15"/>
          <p:cNvSpPr/>
          <p:nvPr/>
        </p:nvSpPr>
        <p:spPr>
          <a:xfrm>
            <a:off x="4591407" y="6366510"/>
            <a:ext cx="4030980" cy="708660"/>
          </a:xfrm>
          <a:prstGeom prst="roundRect">
            <a:avLst>
              <a:gd name="adj" fmla="val 21505"/>
            </a:avLst>
          </a:prstGeom>
          <a:solidFill>
            <a:srgbClr val="FFFFFF"/>
          </a:solidFill>
          <a:ln w="15240">
            <a:solidFill>
              <a:srgbClr val="C2D6E8"/>
            </a:solidFill>
            <a:prstDash val="solid"/>
          </a:ln>
        </p:spPr>
      </p:sp>
      <p:sp>
        <p:nvSpPr>
          <p:cNvPr id="18" name="Text 16"/>
          <p:cNvSpPr/>
          <p:nvPr/>
        </p:nvSpPr>
        <p:spPr>
          <a:xfrm>
            <a:off x="4927183" y="6591300"/>
            <a:ext cx="3359430"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64758F"/>
                </a:solidFill>
                <a:latin typeface="Arial" pitchFamily="34" charset="0"/>
                <a:ea typeface="Arial" pitchFamily="34" charset="-122"/>
                <a:cs typeface="Arial" pitchFamily="34" charset="-120"/>
              </a:rPr>
              <a:t>La variation s'explique</a:t>
            </a:r>
            <a:endParaRPr lang="en-US" sz="1800" dirty="0"/>
          </a:p>
        </p:txBody>
      </p:sp>
      <p:sp>
        <p:nvSpPr>
          <p:cNvPr id="19" name="Shape 17"/>
          <p:cNvSpPr/>
          <p:nvPr/>
        </p:nvSpPr>
        <p:spPr>
          <a:xfrm>
            <a:off x="9003387" y="6366510"/>
            <a:ext cx="4693206" cy="708660"/>
          </a:xfrm>
          <a:prstGeom prst="roundRect">
            <a:avLst>
              <a:gd name="adj" fmla="val 21505"/>
            </a:avLst>
          </a:prstGeom>
          <a:solidFill>
            <a:srgbClr val="FFFFFF"/>
          </a:solidFill>
          <a:ln w="15240">
            <a:solidFill>
              <a:srgbClr val="009EE0"/>
            </a:solidFill>
            <a:prstDash val="solid"/>
          </a:ln>
        </p:spPr>
      </p:sp>
      <p:sp>
        <p:nvSpPr>
          <p:cNvPr id="20" name="Text 18"/>
          <p:cNvSpPr/>
          <p:nvPr/>
        </p:nvSpPr>
        <p:spPr>
          <a:xfrm>
            <a:off x="9329229" y="6591300"/>
            <a:ext cx="404152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09EE0"/>
                </a:solidFill>
                <a:latin typeface="Arial" pitchFamily="34" charset="0"/>
                <a:ea typeface="Arial" pitchFamily="34" charset="-122"/>
                <a:cs typeface="Arial" pitchFamily="34" charset="-120"/>
              </a:rPr>
              <a:t>Elle reste atypique → remontée métier</a:t>
            </a:r>
            <a:endParaRPr lang="en-US" sz="1800" dirty="0"/>
          </a:p>
        </p:txBody>
      </p:sp>
      <p:sp>
        <p:nvSpPr>
          <p:cNvPr id="21" name="Text 19"/>
          <p:cNvSpPr/>
          <p:nvPr/>
        </p:nvSpPr>
        <p:spPr>
          <a:xfrm>
            <a:off x="952500" y="8934450"/>
            <a:ext cx="1275397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i="1" dirty="0">
                <a:solidFill>
                  <a:srgbClr val="64758F"/>
                </a:solidFill>
                <a:latin typeface="Arial" pitchFamily="34" charset="0"/>
                <a:ea typeface="Arial" pitchFamily="34" charset="-122"/>
                <a:cs typeface="Arial" pitchFamily="34" charset="-120"/>
              </a:rPr>
              <a:t>L'objectif n'est pas de dire qu'un distributeur est anormal dans l'absolu — mais qu'il s'écarte de son propre comportement habituel. Nous allégeons l'analyse des équipes métier, nous ne la remplaçons pas.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VUE D'ENSEMBLE</a:t>
            </a:r>
            <a:endParaRPr lang="en-US" sz="1800" dirty="0"/>
          </a:p>
        </p:txBody>
      </p:sp>
      <p:sp>
        <p:nvSpPr>
          <p:cNvPr id="3" name="Text 1"/>
          <p:cNvSpPr/>
          <p:nvPr/>
        </p:nvSpPr>
        <p:spPr>
          <a:xfrm>
            <a:off x="952500" y="1306830"/>
            <a:ext cx="18021300" cy="65532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Comment ça marche, en une image</a:t>
            </a:r>
            <a:endParaRPr lang="en-US" sz="4050" dirty="0"/>
          </a:p>
        </p:txBody>
      </p:sp>
      <p:sp>
        <p:nvSpPr>
          <p:cNvPr id="4" name="Text 2"/>
          <p:cNvSpPr/>
          <p:nvPr/>
        </p:nvSpPr>
        <p:spPr>
          <a:xfrm>
            <a:off x="952500" y="2076450"/>
            <a:ext cx="13620750"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 détail de chaque étape suit dans les pages suivantes. Voici d'abord la logique d'ensemble, du début à la fin.</a:t>
            </a:r>
            <a:endParaRPr lang="en-US" sz="1800" dirty="0"/>
          </a:p>
        </p:txBody>
      </p:sp>
      <p:sp>
        <p:nvSpPr>
          <p:cNvPr id="5" name="Shape 3"/>
          <p:cNvSpPr/>
          <p:nvPr/>
        </p:nvSpPr>
        <p:spPr>
          <a:xfrm>
            <a:off x="952500" y="2952750"/>
            <a:ext cx="3667125" cy="6103620"/>
          </a:xfrm>
          <a:prstGeom prst="roundRect">
            <a:avLst>
              <a:gd name="adj" fmla="val 5195"/>
            </a:avLst>
          </a:prstGeom>
          <a:solidFill>
            <a:srgbClr val="F2F8FC"/>
          </a:solidFill>
          <a:ln/>
        </p:spPr>
      </p:sp>
      <p:sp>
        <p:nvSpPr>
          <p:cNvPr id="6" name="Shape 4"/>
          <p:cNvSpPr/>
          <p:nvPr/>
        </p:nvSpPr>
        <p:spPr>
          <a:xfrm>
            <a:off x="1238250" y="3295650"/>
            <a:ext cx="533400" cy="533400"/>
          </a:xfrm>
          <a:prstGeom prst="ellipse">
            <a:avLst/>
          </a:prstGeom>
          <a:solidFill>
            <a:srgbClr val="0C2350"/>
          </a:solidFill>
          <a:ln/>
        </p:spPr>
      </p:sp>
      <p:sp>
        <p:nvSpPr>
          <p:cNvPr id="7" name="Text 5"/>
          <p:cNvSpPr/>
          <p:nvPr/>
        </p:nvSpPr>
        <p:spPr>
          <a:xfrm>
            <a:off x="1200150"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1</a:t>
            </a:r>
            <a:endParaRPr lang="en-US" sz="1950" dirty="0"/>
          </a:p>
        </p:txBody>
      </p:sp>
      <p:sp>
        <p:nvSpPr>
          <p:cNvPr id="8" name="Text 6"/>
          <p:cNvSpPr/>
          <p:nvPr/>
        </p:nvSpPr>
        <p:spPr>
          <a:xfrm>
            <a:off x="1238250" y="4057650"/>
            <a:ext cx="340518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Données brutes</a:t>
            </a:r>
            <a:endParaRPr lang="en-US" sz="1800" dirty="0"/>
          </a:p>
        </p:txBody>
      </p:sp>
      <p:sp>
        <p:nvSpPr>
          <p:cNvPr id="9" name="Text 7"/>
          <p:cNvSpPr/>
          <p:nvPr/>
        </p:nvSpPr>
        <p:spPr>
          <a:xfrm>
            <a:off x="1238250" y="4450080"/>
            <a:ext cx="3188494"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opérations enregistrées chaque jour sur nos distributeurs, telles quelles.</a:t>
            </a:r>
            <a:endParaRPr lang="en-US" sz="1800" dirty="0"/>
          </a:p>
        </p:txBody>
      </p:sp>
      <p:sp>
        <p:nvSpPr>
          <p:cNvPr id="10" name="Text 8"/>
          <p:cNvSpPr/>
          <p:nvPr/>
        </p:nvSpPr>
        <p:spPr>
          <a:xfrm>
            <a:off x="4581525" y="2952750"/>
            <a:ext cx="647700" cy="6141720"/>
          </a:xfrm>
          <a:prstGeom prst="rect">
            <a:avLst/>
          </a:prstGeom>
          <a:noFill/>
          <a:ln/>
        </p:spPr>
        <p:txBody>
          <a:bodyPr wrap="square" lIns="25400" tIns="25400" rIns="25400" bIns="25400" rtlCol="0" anchor="ctr">
            <a:normAutofit/>
          </a:bodyPr>
          <a:lstStyle/>
          <a:p>
            <a:pPr algn="ctr" indent="0" marL="0">
              <a:buNone/>
            </a:pPr>
            <a:r>
              <a:rPr lang="en-US" sz="2400" dirty="0">
                <a:solidFill>
                  <a:srgbClr val="0086C9"/>
                </a:solidFill>
                <a:latin typeface="Arial" pitchFamily="34" charset="0"/>
                <a:ea typeface="Arial" pitchFamily="34" charset="-122"/>
                <a:cs typeface="Arial" pitchFamily="34" charset="-120"/>
              </a:rPr>
              <a:t>→</a:t>
            </a:r>
            <a:endParaRPr lang="en-US" sz="2400" dirty="0"/>
          </a:p>
        </p:txBody>
      </p:sp>
      <p:sp>
        <p:nvSpPr>
          <p:cNvPr id="11" name="Shape 9"/>
          <p:cNvSpPr/>
          <p:nvPr/>
        </p:nvSpPr>
        <p:spPr>
          <a:xfrm>
            <a:off x="5191125" y="2952750"/>
            <a:ext cx="3667125" cy="6103620"/>
          </a:xfrm>
          <a:prstGeom prst="roundRect">
            <a:avLst>
              <a:gd name="adj" fmla="val 5195"/>
            </a:avLst>
          </a:prstGeom>
          <a:solidFill>
            <a:srgbClr val="F2F8FC"/>
          </a:solidFill>
          <a:ln/>
        </p:spPr>
      </p:sp>
      <p:sp>
        <p:nvSpPr>
          <p:cNvPr id="12" name="Shape 10"/>
          <p:cNvSpPr/>
          <p:nvPr/>
        </p:nvSpPr>
        <p:spPr>
          <a:xfrm>
            <a:off x="5476875" y="3295650"/>
            <a:ext cx="533400" cy="533400"/>
          </a:xfrm>
          <a:prstGeom prst="ellipse">
            <a:avLst/>
          </a:prstGeom>
          <a:solidFill>
            <a:srgbClr val="0C2350"/>
          </a:solidFill>
          <a:ln/>
        </p:spPr>
      </p:sp>
      <p:sp>
        <p:nvSpPr>
          <p:cNvPr id="13" name="Text 11"/>
          <p:cNvSpPr/>
          <p:nvPr/>
        </p:nvSpPr>
        <p:spPr>
          <a:xfrm>
            <a:off x="5438775"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2</a:t>
            </a:r>
            <a:endParaRPr lang="en-US" sz="1950" dirty="0"/>
          </a:p>
        </p:txBody>
      </p:sp>
      <p:sp>
        <p:nvSpPr>
          <p:cNvPr id="14" name="Text 12"/>
          <p:cNvSpPr/>
          <p:nvPr/>
        </p:nvSpPr>
        <p:spPr>
          <a:xfrm>
            <a:off x="5476875" y="4057650"/>
            <a:ext cx="340518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Critères calculés</a:t>
            </a:r>
            <a:endParaRPr lang="en-US" sz="1800" dirty="0"/>
          </a:p>
        </p:txBody>
      </p:sp>
      <p:sp>
        <p:nvSpPr>
          <p:cNvPr id="15" name="Text 13"/>
          <p:cNvSpPr/>
          <p:nvPr/>
        </p:nvSpPr>
        <p:spPr>
          <a:xfrm>
            <a:off x="5476875" y="4450080"/>
            <a:ext cx="3188494"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Des chiffres clairs, calculés à partir de ces données (ex. : part de retraits la nuit).</a:t>
            </a:r>
            <a:endParaRPr lang="en-US" sz="1800" dirty="0"/>
          </a:p>
        </p:txBody>
      </p:sp>
      <p:sp>
        <p:nvSpPr>
          <p:cNvPr id="16" name="Text 14"/>
          <p:cNvSpPr/>
          <p:nvPr/>
        </p:nvSpPr>
        <p:spPr>
          <a:xfrm>
            <a:off x="8820150" y="2952750"/>
            <a:ext cx="647700" cy="6141720"/>
          </a:xfrm>
          <a:prstGeom prst="rect">
            <a:avLst/>
          </a:prstGeom>
          <a:noFill/>
          <a:ln/>
        </p:spPr>
        <p:txBody>
          <a:bodyPr wrap="square" lIns="25400" tIns="25400" rIns="25400" bIns="25400" rtlCol="0" anchor="ctr">
            <a:normAutofit/>
          </a:bodyPr>
          <a:lstStyle/>
          <a:p>
            <a:pPr algn="ctr" indent="0" marL="0">
              <a:buNone/>
            </a:pPr>
            <a:r>
              <a:rPr lang="en-US" sz="2400" dirty="0">
                <a:solidFill>
                  <a:srgbClr val="0086C9"/>
                </a:solidFill>
                <a:latin typeface="Arial" pitchFamily="34" charset="0"/>
                <a:ea typeface="Arial" pitchFamily="34" charset="-122"/>
                <a:cs typeface="Arial" pitchFamily="34" charset="-120"/>
              </a:rPr>
              <a:t>→</a:t>
            </a:r>
            <a:endParaRPr lang="en-US" sz="2400" dirty="0"/>
          </a:p>
        </p:txBody>
      </p:sp>
      <p:sp>
        <p:nvSpPr>
          <p:cNvPr id="17" name="Shape 15"/>
          <p:cNvSpPr/>
          <p:nvPr/>
        </p:nvSpPr>
        <p:spPr>
          <a:xfrm>
            <a:off x="9429750" y="2952750"/>
            <a:ext cx="3667125" cy="6103620"/>
          </a:xfrm>
          <a:prstGeom prst="roundRect">
            <a:avLst>
              <a:gd name="adj" fmla="val 5195"/>
            </a:avLst>
          </a:prstGeom>
          <a:solidFill>
            <a:srgbClr val="F2F8FC"/>
          </a:solidFill>
          <a:ln/>
        </p:spPr>
      </p:sp>
      <p:sp>
        <p:nvSpPr>
          <p:cNvPr id="18" name="Shape 16"/>
          <p:cNvSpPr/>
          <p:nvPr/>
        </p:nvSpPr>
        <p:spPr>
          <a:xfrm>
            <a:off x="9715500" y="3295650"/>
            <a:ext cx="533400" cy="533400"/>
          </a:xfrm>
          <a:prstGeom prst="ellipse">
            <a:avLst/>
          </a:prstGeom>
          <a:solidFill>
            <a:srgbClr val="0086C9"/>
          </a:solidFill>
          <a:ln/>
        </p:spPr>
      </p:sp>
      <p:sp>
        <p:nvSpPr>
          <p:cNvPr id="19" name="Text 17"/>
          <p:cNvSpPr/>
          <p:nvPr/>
        </p:nvSpPr>
        <p:spPr>
          <a:xfrm>
            <a:off x="9677400"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3</a:t>
            </a:r>
            <a:endParaRPr lang="en-US" sz="1950" dirty="0"/>
          </a:p>
        </p:txBody>
      </p:sp>
      <p:sp>
        <p:nvSpPr>
          <p:cNvPr id="20" name="Text 18"/>
          <p:cNvSpPr/>
          <p:nvPr/>
        </p:nvSpPr>
        <p:spPr>
          <a:xfrm>
            <a:off x="9715500" y="4057650"/>
            <a:ext cx="340518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Notre modèle</a:t>
            </a:r>
            <a:endParaRPr lang="en-US" sz="1800" dirty="0"/>
          </a:p>
        </p:txBody>
      </p:sp>
      <p:sp>
        <p:nvSpPr>
          <p:cNvPr id="21" name="Text 19"/>
          <p:cNvSpPr/>
          <p:nvPr/>
        </p:nvSpPr>
        <p:spPr>
          <a:xfrm>
            <a:off x="9715500" y="4450080"/>
            <a:ext cx="3188494" cy="14097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Trois façons complémentaires d'analyser ces chiffres pour repérer l'inhabituel.</a:t>
            </a:r>
            <a:endParaRPr lang="en-US" sz="1800" dirty="0"/>
          </a:p>
        </p:txBody>
      </p:sp>
      <p:sp>
        <p:nvSpPr>
          <p:cNvPr id="22" name="Text 20"/>
          <p:cNvSpPr/>
          <p:nvPr/>
        </p:nvSpPr>
        <p:spPr>
          <a:xfrm>
            <a:off x="13058775" y="2952750"/>
            <a:ext cx="647700" cy="6141720"/>
          </a:xfrm>
          <a:prstGeom prst="rect">
            <a:avLst/>
          </a:prstGeom>
          <a:noFill/>
          <a:ln/>
        </p:spPr>
        <p:txBody>
          <a:bodyPr wrap="square" lIns="25400" tIns="25400" rIns="25400" bIns="25400" rtlCol="0" anchor="ctr">
            <a:normAutofit/>
          </a:bodyPr>
          <a:lstStyle/>
          <a:p>
            <a:pPr algn="ctr" indent="0" marL="0">
              <a:buNone/>
            </a:pPr>
            <a:r>
              <a:rPr lang="en-US" sz="2400" dirty="0">
                <a:solidFill>
                  <a:srgbClr val="0086C9"/>
                </a:solidFill>
                <a:latin typeface="Arial" pitchFamily="34" charset="0"/>
                <a:ea typeface="Arial" pitchFamily="34" charset="-122"/>
                <a:cs typeface="Arial" pitchFamily="34" charset="-120"/>
              </a:rPr>
              <a:t>→</a:t>
            </a:r>
            <a:endParaRPr lang="en-US" sz="2400" dirty="0"/>
          </a:p>
        </p:txBody>
      </p:sp>
      <p:sp>
        <p:nvSpPr>
          <p:cNvPr id="23" name="Shape 21"/>
          <p:cNvSpPr/>
          <p:nvPr/>
        </p:nvSpPr>
        <p:spPr>
          <a:xfrm>
            <a:off x="13668375" y="2952750"/>
            <a:ext cx="3667125" cy="6103620"/>
          </a:xfrm>
          <a:prstGeom prst="roundRect">
            <a:avLst>
              <a:gd name="adj" fmla="val 5195"/>
            </a:avLst>
          </a:prstGeom>
          <a:solidFill>
            <a:srgbClr val="009EE0"/>
          </a:solidFill>
          <a:ln/>
        </p:spPr>
      </p:sp>
      <p:sp>
        <p:nvSpPr>
          <p:cNvPr id="24" name="Shape 22"/>
          <p:cNvSpPr/>
          <p:nvPr/>
        </p:nvSpPr>
        <p:spPr>
          <a:xfrm>
            <a:off x="13954125" y="3295650"/>
            <a:ext cx="533400" cy="533400"/>
          </a:xfrm>
          <a:prstGeom prst="ellipse">
            <a:avLst/>
          </a:prstGeom>
          <a:solidFill>
            <a:srgbClr val="FFFFFF"/>
          </a:solidFill>
          <a:ln/>
        </p:spPr>
      </p:sp>
      <p:sp>
        <p:nvSpPr>
          <p:cNvPr id="25" name="Text 23"/>
          <p:cNvSpPr/>
          <p:nvPr/>
        </p:nvSpPr>
        <p:spPr>
          <a:xfrm>
            <a:off x="13916025" y="3295650"/>
            <a:ext cx="609600" cy="571500"/>
          </a:xfrm>
          <a:prstGeom prst="rect">
            <a:avLst/>
          </a:prstGeom>
          <a:noFill/>
          <a:ln/>
        </p:spPr>
        <p:txBody>
          <a:bodyPr wrap="square" lIns="25400" tIns="25400" rIns="25400" bIns="25400" rtlCol="0" anchor="ctr">
            <a:normAutofit/>
          </a:bodyPr>
          <a:lstStyle/>
          <a:p>
            <a:pPr algn="ctr" indent="0" marL="0">
              <a:buNone/>
            </a:pPr>
            <a:r>
              <a:rPr lang="en-US" sz="1950" b="1" dirty="0">
                <a:solidFill>
                  <a:srgbClr val="0086C9"/>
                </a:solidFill>
                <a:latin typeface="Arial" pitchFamily="34" charset="0"/>
                <a:ea typeface="Arial" pitchFamily="34" charset="-122"/>
                <a:cs typeface="Arial" pitchFamily="34" charset="-120"/>
              </a:rPr>
              <a:t>4</a:t>
            </a:r>
            <a:endParaRPr lang="en-US" sz="1950" dirty="0"/>
          </a:p>
        </p:txBody>
      </p:sp>
      <p:sp>
        <p:nvSpPr>
          <p:cNvPr id="26" name="Text 24"/>
          <p:cNvSpPr/>
          <p:nvPr/>
        </p:nvSpPr>
        <p:spPr>
          <a:xfrm>
            <a:off x="13954125" y="4057650"/>
            <a:ext cx="340518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Résultat métier</a:t>
            </a:r>
            <a:endParaRPr lang="en-US" sz="1800" dirty="0"/>
          </a:p>
        </p:txBody>
      </p:sp>
      <p:sp>
        <p:nvSpPr>
          <p:cNvPr id="27" name="Text 25"/>
          <p:cNvSpPr/>
          <p:nvPr/>
        </p:nvSpPr>
        <p:spPr>
          <a:xfrm>
            <a:off x="13954125" y="4450080"/>
            <a:ext cx="3188494" cy="14097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E7F2FB"/>
                </a:solidFill>
                <a:latin typeface="Arial" pitchFamily="34" charset="0"/>
                <a:ea typeface="Arial" pitchFamily="34" charset="-122"/>
                <a:cs typeface="Arial" pitchFamily="34" charset="-120"/>
              </a:rPr>
              <a:t>Une liste courte de distributeurs à regarder en priorité, avec le contexte utile.</a:t>
            </a:r>
            <a:endParaRPr lang="en-US" sz="1800" dirty="0"/>
          </a:p>
        </p:txBody>
      </p:sp>
      <p:sp>
        <p:nvSpPr>
          <p:cNvPr id="28" name="Text 26"/>
          <p:cNvSpPr/>
          <p:nvPr/>
        </p:nvSpPr>
        <p:spPr>
          <a:xfrm>
            <a:off x="952500" y="9361170"/>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8A99B3"/>
                </a:solidFill>
                <a:latin typeface="Arial" pitchFamily="34" charset="0"/>
                <a:ea typeface="Arial" pitchFamily="34" charset="-122"/>
                <a:cs typeface="Arial" pitchFamily="34" charset="-120"/>
              </a:rPr>
              <a:t>Peu importe l'approche utilisée à l'étape 3 : ce schéma reste le même — c'est ce qui compte le plus.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8FC"/>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LA DONNÉE</a:t>
            </a:r>
            <a:endParaRPr lang="en-US" sz="1800" dirty="0"/>
          </a:p>
        </p:txBody>
      </p:sp>
      <p:sp>
        <p:nvSpPr>
          <p:cNvPr id="3" name="Text 1"/>
          <p:cNvSpPr/>
          <p:nvPr/>
        </p:nvSpPr>
        <p:spPr>
          <a:xfrm>
            <a:off x="952500" y="1306830"/>
            <a:ext cx="18021300" cy="65532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De la fiche GAB journalière à l'analyse mensuelle</a:t>
            </a:r>
            <a:endParaRPr lang="en-US" sz="4050" dirty="0"/>
          </a:p>
        </p:txBody>
      </p:sp>
      <p:sp>
        <p:nvSpPr>
          <p:cNvPr id="4" name="Text 2"/>
          <p:cNvSpPr/>
          <p:nvPr/>
        </p:nvSpPr>
        <p:spPr>
          <a:xfrm>
            <a:off x="952500" y="2076450"/>
            <a:ext cx="1275397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Chaque distributeur dispose d'une fiche d'identité alimentée quotidiennement par ses opérations. Voici comment cette donnée brute devient la base de notre analyse.</a:t>
            </a:r>
            <a:endParaRPr lang="en-US" sz="1800" dirty="0"/>
          </a:p>
        </p:txBody>
      </p:sp>
      <p:sp>
        <p:nvSpPr>
          <p:cNvPr id="5" name="Shape 3"/>
          <p:cNvSpPr/>
          <p:nvPr/>
        </p:nvSpPr>
        <p:spPr>
          <a:xfrm>
            <a:off x="952500" y="3143250"/>
            <a:ext cx="16383000" cy="3569970"/>
          </a:xfrm>
          <a:prstGeom prst="roundRect">
            <a:avLst>
              <a:gd name="adj" fmla="val 5336"/>
            </a:avLst>
          </a:prstGeom>
          <a:solidFill>
            <a:srgbClr val="FFFFFF"/>
          </a:solidFill>
          <a:ln/>
        </p:spPr>
      </p:sp>
      <p:sp>
        <p:nvSpPr>
          <p:cNvPr id="6" name="Text 4"/>
          <p:cNvSpPr/>
          <p:nvPr/>
        </p:nvSpPr>
        <p:spPr>
          <a:xfrm>
            <a:off x="1371600" y="3941445"/>
            <a:ext cx="1719096"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Grain journalier</a:t>
            </a:r>
            <a:endParaRPr lang="en-US" sz="1800" dirty="0"/>
          </a:p>
        </p:txBody>
      </p:sp>
      <p:sp>
        <p:nvSpPr>
          <p:cNvPr id="7" name="Text 5"/>
          <p:cNvSpPr/>
          <p:nvPr/>
        </p:nvSpPr>
        <p:spPr>
          <a:xfrm>
            <a:off x="1371600" y="4276725"/>
            <a:ext cx="4617552"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Chaque opération (retrait, capture, réseau de carte) est enregistrée jour par jour sur la fiche du distributeur.</a:t>
            </a:r>
            <a:endParaRPr lang="en-US" sz="1800" dirty="0"/>
          </a:p>
        </p:txBody>
      </p:sp>
      <p:sp>
        <p:nvSpPr>
          <p:cNvPr id="8" name="Shape 6"/>
          <p:cNvSpPr/>
          <p:nvPr/>
        </p:nvSpPr>
        <p:spPr>
          <a:xfrm>
            <a:off x="1371600" y="5476875"/>
            <a:ext cx="190500" cy="190500"/>
          </a:xfrm>
          <a:prstGeom prst="roundRect">
            <a:avLst>
              <a:gd name="adj" fmla="val 25000"/>
            </a:avLst>
          </a:prstGeom>
          <a:solidFill>
            <a:srgbClr val="C2D6E8"/>
          </a:solidFill>
          <a:ln/>
        </p:spPr>
      </p:sp>
      <p:sp>
        <p:nvSpPr>
          <p:cNvPr id="9" name="Shape 7"/>
          <p:cNvSpPr/>
          <p:nvPr/>
        </p:nvSpPr>
        <p:spPr>
          <a:xfrm>
            <a:off x="1619250" y="5476875"/>
            <a:ext cx="190500" cy="190500"/>
          </a:xfrm>
          <a:prstGeom prst="roundRect">
            <a:avLst>
              <a:gd name="adj" fmla="val 25000"/>
            </a:avLst>
          </a:prstGeom>
          <a:solidFill>
            <a:srgbClr val="C2D6E8"/>
          </a:solidFill>
          <a:ln/>
        </p:spPr>
      </p:sp>
      <p:sp>
        <p:nvSpPr>
          <p:cNvPr id="10" name="Shape 8"/>
          <p:cNvSpPr/>
          <p:nvPr/>
        </p:nvSpPr>
        <p:spPr>
          <a:xfrm>
            <a:off x="1866900" y="5476875"/>
            <a:ext cx="190500" cy="190500"/>
          </a:xfrm>
          <a:prstGeom prst="roundRect">
            <a:avLst>
              <a:gd name="adj" fmla="val 25000"/>
            </a:avLst>
          </a:prstGeom>
          <a:solidFill>
            <a:srgbClr val="C2D6E8"/>
          </a:solidFill>
          <a:ln/>
        </p:spPr>
      </p:sp>
      <p:sp>
        <p:nvSpPr>
          <p:cNvPr id="11" name="Shape 9"/>
          <p:cNvSpPr/>
          <p:nvPr/>
        </p:nvSpPr>
        <p:spPr>
          <a:xfrm>
            <a:off x="2114550" y="5476875"/>
            <a:ext cx="190500" cy="190500"/>
          </a:xfrm>
          <a:prstGeom prst="roundRect">
            <a:avLst>
              <a:gd name="adj" fmla="val 25000"/>
            </a:avLst>
          </a:prstGeom>
          <a:solidFill>
            <a:srgbClr val="C2D6E8"/>
          </a:solidFill>
          <a:ln/>
        </p:spPr>
      </p:sp>
      <p:sp>
        <p:nvSpPr>
          <p:cNvPr id="12" name="Shape 10"/>
          <p:cNvSpPr/>
          <p:nvPr/>
        </p:nvSpPr>
        <p:spPr>
          <a:xfrm>
            <a:off x="2362200" y="5476875"/>
            <a:ext cx="190500" cy="190500"/>
          </a:xfrm>
          <a:prstGeom prst="roundRect">
            <a:avLst>
              <a:gd name="adj" fmla="val 25000"/>
            </a:avLst>
          </a:prstGeom>
          <a:solidFill>
            <a:srgbClr val="C2D6E8"/>
          </a:solidFill>
          <a:ln/>
        </p:spPr>
      </p:sp>
      <p:sp>
        <p:nvSpPr>
          <p:cNvPr id="13" name="Shape 11"/>
          <p:cNvSpPr/>
          <p:nvPr/>
        </p:nvSpPr>
        <p:spPr>
          <a:xfrm>
            <a:off x="2609850" y="5476875"/>
            <a:ext cx="190500" cy="190500"/>
          </a:xfrm>
          <a:prstGeom prst="roundRect">
            <a:avLst>
              <a:gd name="adj" fmla="val 25000"/>
            </a:avLst>
          </a:prstGeom>
          <a:solidFill>
            <a:srgbClr val="C2D6E8"/>
          </a:solidFill>
          <a:ln/>
        </p:spPr>
      </p:sp>
      <p:sp>
        <p:nvSpPr>
          <p:cNvPr id="14" name="Shape 12"/>
          <p:cNvSpPr/>
          <p:nvPr/>
        </p:nvSpPr>
        <p:spPr>
          <a:xfrm>
            <a:off x="2857500" y="5476875"/>
            <a:ext cx="190500" cy="190500"/>
          </a:xfrm>
          <a:prstGeom prst="roundRect">
            <a:avLst>
              <a:gd name="adj" fmla="val 25000"/>
            </a:avLst>
          </a:prstGeom>
          <a:solidFill>
            <a:srgbClr val="C2D6E8"/>
          </a:solidFill>
          <a:ln/>
        </p:spPr>
      </p:sp>
      <p:sp>
        <p:nvSpPr>
          <p:cNvPr id="15" name="Shape 13"/>
          <p:cNvSpPr/>
          <p:nvPr/>
        </p:nvSpPr>
        <p:spPr>
          <a:xfrm>
            <a:off x="3105150" y="5476875"/>
            <a:ext cx="190500" cy="190500"/>
          </a:xfrm>
          <a:prstGeom prst="roundRect">
            <a:avLst>
              <a:gd name="adj" fmla="val 25000"/>
            </a:avLst>
          </a:prstGeom>
          <a:solidFill>
            <a:srgbClr val="C2D6E8"/>
          </a:solidFill>
          <a:ln/>
        </p:spPr>
      </p:sp>
      <p:sp>
        <p:nvSpPr>
          <p:cNvPr id="16" name="Shape 14"/>
          <p:cNvSpPr/>
          <p:nvPr/>
        </p:nvSpPr>
        <p:spPr>
          <a:xfrm>
            <a:off x="3352800" y="5476875"/>
            <a:ext cx="190500" cy="190500"/>
          </a:xfrm>
          <a:prstGeom prst="roundRect">
            <a:avLst>
              <a:gd name="adj" fmla="val 25000"/>
            </a:avLst>
          </a:prstGeom>
          <a:solidFill>
            <a:srgbClr val="C2D6E8"/>
          </a:solidFill>
          <a:ln/>
        </p:spPr>
      </p:sp>
      <p:sp>
        <p:nvSpPr>
          <p:cNvPr id="17" name="Shape 15"/>
          <p:cNvSpPr/>
          <p:nvPr/>
        </p:nvSpPr>
        <p:spPr>
          <a:xfrm>
            <a:off x="3600450" y="5476875"/>
            <a:ext cx="190500" cy="190500"/>
          </a:xfrm>
          <a:prstGeom prst="roundRect">
            <a:avLst>
              <a:gd name="adj" fmla="val 25000"/>
            </a:avLst>
          </a:prstGeom>
          <a:solidFill>
            <a:srgbClr val="C2D6E8"/>
          </a:solidFill>
          <a:ln/>
        </p:spPr>
      </p:sp>
      <p:sp>
        <p:nvSpPr>
          <p:cNvPr id="18" name="Shape 16"/>
          <p:cNvSpPr/>
          <p:nvPr/>
        </p:nvSpPr>
        <p:spPr>
          <a:xfrm>
            <a:off x="3848100" y="5476875"/>
            <a:ext cx="190500" cy="190500"/>
          </a:xfrm>
          <a:prstGeom prst="roundRect">
            <a:avLst>
              <a:gd name="adj" fmla="val 25000"/>
            </a:avLst>
          </a:prstGeom>
          <a:solidFill>
            <a:srgbClr val="C2D6E8"/>
          </a:solidFill>
          <a:ln/>
        </p:spPr>
      </p:sp>
      <p:sp>
        <p:nvSpPr>
          <p:cNvPr id="19" name="Shape 17"/>
          <p:cNvSpPr/>
          <p:nvPr/>
        </p:nvSpPr>
        <p:spPr>
          <a:xfrm>
            <a:off x="4095750" y="5476875"/>
            <a:ext cx="190500" cy="190500"/>
          </a:xfrm>
          <a:prstGeom prst="roundRect">
            <a:avLst>
              <a:gd name="adj" fmla="val 25000"/>
            </a:avLst>
          </a:prstGeom>
          <a:solidFill>
            <a:srgbClr val="C2D6E8"/>
          </a:solidFill>
          <a:ln/>
        </p:spPr>
      </p:sp>
      <p:sp>
        <p:nvSpPr>
          <p:cNvPr id="20" name="Shape 18"/>
          <p:cNvSpPr/>
          <p:nvPr/>
        </p:nvSpPr>
        <p:spPr>
          <a:xfrm>
            <a:off x="4343400" y="5476875"/>
            <a:ext cx="190500" cy="190500"/>
          </a:xfrm>
          <a:prstGeom prst="roundRect">
            <a:avLst>
              <a:gd name="adj" fmla="val 25000"/>
            </a:avLst>
          </a:prstGeom>
          <a:solidFill>
            <a:srgbClr val="C2D6E8"/>
          </a:solidFill>
          <a:ln/>
        </p:spPr>
      </p:sp>
      <p:sp>
        <p:nvSpPr>
          <p:cNvPr id="21" name="Shape 19"/>
          <p:cNvSpPr/>
          <p:nvPr/>
        </p:nvSpPr>
        <p:spPr>
          <a:xfrm>
            <a:off x="4591050" y="5476875"/>
            <a:ext cx="190500" cy="190500"/>
          </a:xfrm>
          <a:prstGeom prst="roundRect">
            <a:avLst>
              <a:gd name="adj" fmla="val 25000"/>
            </a:avLst>
          </a:prstGeom>
          <a:solidFill>
            <a:srgbClr val="C2D6E8"/>
          </a:solidFill>
          <a:ln/>
        </p:spPr>
      </p:sp>
      <p:sp>
        <p:nvSpPr>
          <p:cNvPr id="22" name="Shape 20"/>
          <p:cNvSpPr/>
          <p:nvPr/>
        </p:nvSpPr>
        <p:spPr>
          <a:xfrm>
            <a:off x="4838700" y="5476875"/>
            <a:ext cx="190500" cy="190500"/>
          </a:xfrm>
          <a:prstGeom prst="roundRect">
            <a:avLst>
              <a:gd name="adj" fmla="val 25000"/>
            </a:avLst>
          </a:prstGeom>
          <a:solidFill>
            <a:srgbClr val="C2D6E8"/>
          </a:solidFill>
          <a:ln/>
        </p:spPr>
      </p:sp>
      <p:sp>
        <p:nvSpPr>
          <p:cNvPr id="23" name="Shape 21"/>
          <p:cNvSpPr/>
          <p:nvPr/>
        </p:nvSpPr>
        <p:spPr>
          <a:xfrm>
            <a:off x="5086350" y="5476875"/>
            <a:ext cx="190500" cy="190500"/>
          </a:xfrm>
          <a:prstGeom prst="roundRect">
            <a:avLst>
              <a:gd name="adj" fmla="val 25000"/>
            </a:avLst>
          </a:prstGeom>
          <a:solidFill>
            <a:srgbClr val="C2D6E8"/>
          </a:solidFill>
          <a:ln/>
        </p:spPr>
      </p:sp>
      <p:sp>
        <p:nvSpPr>
          <p:cNvPr id="24" name="Shape 22"/>
          <p:cNvSpPr/>
          <p:nvPr/>
        </p:nvSpPr>
        <p:spPr>
          <a:xfrm>
            <a:off x="1371600" y="5724525"/>
            <a:ext cx="190500" cy="190500"/>
          </a:xfrm>
          <a:prstGeom prst="roundRect">
            <a:avLst>
              <a:gd name="adj" fmla="val 25000"/>
            </a:avLst>
          </a:prstGeom>
          <a:solidFill>
            <a:srgbClr val="C2D6E8"/>
          </a:solidFill>
          <a:ln/>
        </p:spPr>
      </p:sp>
      <p:sp>
        <p:nvSpPr>
          <p:cNvPr id="25" name="Shape 23"/>
          <p:cNvSpPr/>
          <p:nvPr/>
        </p:nvSpPr>
        <p:spPr>
          <a:xfrm>
            <a:off x="1619250" y="5724525"/>
            <a:ext cx="190500" cy="190500"/>
          </a:xfrm>
          <a:prstGeom prst="roundRect">
            <a:avLst>
              <a:gd name="adj" fmla="val 25000"/>
            </a:avLst>
          </a:prstGeom>
          <a:solidFill>
            <a:srgbClr val="C2D6E8"/>
          </a:solidFill>
          <a:ln/>
        </p:spPr>
      </p:sp>
      <p:sp>
        <p:nvSpPr>
          <p:cNvPr id="26" name="Shape 24"/>
          <p:cNvSpPr/>
          <p:nvPr/>
        </p:nvSpPr>
        <p:spPr>
          <a:xfrm>
            <a:off x="1866900" y="5724525"/>
            <a:ext cx="190500" cy="190500"/>
          </a:xfrm>
          <a:prstGeom prst="roundRect">
            <a:avLst>
              <a:gd name="adj" fmla="val 25000"/>
            </a:avLst>
          </a:prstGeom>
          <a:solidFill>
            <a:srgbClr val="C2D6E8"/>
          </a:solidFill>
          <a:ln/>
        </p:spPr>
      </p:sp>
      <p:sp>
        <p:nvSpPr>
          <p:cNvPr id="27" name="Shape 25"/>
          <p:cNvSpPr/>
          <p:nvPr/>
        </p:nvSpPr>
        <p:spPr>
          <a:xfrm>
            <a:off x="2114550" y="5724525"/>
            <a:ext cx="190500" cy="190500"/>
          </a:xfrm>
          <a:prstGeom prst="roundRect">
            <a:avLst>
              <a:gd name="adj" fmla="val 25000"/>
            </a:avLst>
          </a:prstGeom>
          <a:solidFill>
            <a:srgbClr val="C2D6E8"/>
          </a:solidFill>
          <a:ln/>
        </p:spPr>
      </p:sp>
      <p:sp>
        <p:nvSpPr>
          <p:cNvPr id="28" name="Shape 26"/>
          <p:cNvSpPr/>
          <p:nvPr/>
        </p:nvSpPr>
        <p:spPr>
          <a:xfrm>
            <a:off x="2362200" y="5724525"/>
            <a:ext cx="190500" cy="190500"/>
          </a:xfrm>
          <a:prstGeom prst="roundRect">
            <a:avLst>
              <a:gd name="adj" fmla="val 25000"/>
            </a:avLst>
          </a:prstGeom>
          <a:solidFill>
            <a:srgbClr val="C2D6E8"/>
          </a:solidFill>
          <a:ln/>
        </p:spPr>
      </p:sp>
      <p:sp>
        <p:nvSpPr>
          <p:cNvPr id="29" name="Shape 27"/>
          <p:cNvSpPr/>
          <p:nvPr/>
        </p:nvSpPr>
        <p:spPr>
          <a:xfrm>
            <a:off x="2609850" y="5724525"/>
            <a:ext cx="190500" cy="190500"/>
          </a:xfrm>
          <a:prstGeom prst="roundRect">
            <a:avLst>
              <a:gd name="adj" fmla="val 25000"/>
            </a:avLst>
          </a:prstGeom>
          <a:solidFill>
            <a:srgbClr val="C2D6E8"/>
          </a:solidFill>
          <a:ln/>
        </p:spPr>
      </p:sp>
      <p:sp>
        <p:nvSpPr>
          <p:cNvPr id="30" name="Shape 28"/>
          <p:cNvSpPr/>
          <p:nvPr/>
        </p:nvSpPr>
        <p:spPr>
          <a:xfrm>
            <a:off x="2857500" y="5724525"/>
            <a:ext cx="190500" cy="190500"/>
          </a:xfrm>
          <a:prstGeom prst="roundRect">
            <a:avLst>
              <a:gd name="adj" fmla="val 25000"/>
            </a:avLst>
          </a:prstGeom>
          <a:solidFill>
            <a:srgbClr val="C2D6E8"/>
          </a:solidFill>
          <a:ln/>
        </p:spPr>
      </p:sp>
      <p:sp>
        <p:nvSpPr>
          <p:cNvPr id="31" name="Shape 29"/>
          <p:cNvSpPr/>
          <p:nvPr/>
        </p:nvSpPr>
        <p:spPr>
          <a:xfrm>
            <a:off x="3105150" y="5724525"/>
            <a:ext cx="190500" cy="190500"/>
          </a:xfrm>
          <a:prstGeom prst="roundRect">
            <a:avLst>
              <a:gd name="adj" fmla="val 25000"/>
            </a:avLst>
          </a:prstGeom>
          <a:solidFill>
            <a:srgbClr val="C2D6E8"/>
          </a:solidFill>
          <a:ln/>
        </p:spPr>
      </p:sp>
      <p:sp>
        <p:nvSpPr>
          <p:cNvPr id="32" name="Shape 30"/>
          <p:cNvSpPr/>
          <p:nvPr/>
        </p:nvSpPr>
        <p:spPr>
          <a:xfrm>
            <a:off x="3352800" y="5724525"/>
            <a:ext cx="190500" cy="190500"/>
          </a:xfrm>
          <a:prstGeom prst="roundRect">
            <a:avLst>
              <a:gd name="adj" fmla="val 25000"/>
            </a:avLst>
          </a:prstGeom>
          <a:solidFill>
            <a:srgbClr val="C2D6E8"/>
          </a:solidFill>
          <a:ln/>
        </p:spPr>
      </p:sp>
      <p:sp>
        <p:nvSpPr>
          <p:cNvPr id="33" name="Shape 31"/>
          <p:cNvSpPr/>
          <p:nvPr/>
        </p:nvSpPr>
        <p:spPr>
          <a:xfrm>
            <a:off x="3600450" y="5724525"/>
            <a:ext cx="190500" cy="190500"/>
          </a:xfrm>
          <a:prstGeom prst="roundRect">
            <a:avLst>
              <a:gd name="adj" fmla="val 25000"/>
            </a:avLst>
          </a:prstGeom>
          <a:solidFill>
            <a:srgbClr val="C2D6E8"/>
          </a:solidFill>
          <a:ln/>
        </p:spPr>
      </p:sp>
      <p:sp>
        <p:nvSpPr>
          <p:cNvPr id="34" name="Shape 32"/>
          <p:cNvSpPr/>
          <p:nvPr/>
        </p:nvSpPr>
        <p:spPr>
          <a:xfrm>
            <a:off x="3848100" y="5724525"/>
            <a:ext cx="190500" cy="190500"/>
          </a:xfrm>
          <a:prstGeom prst="roundRect">
            <a:avLst>
              <a:gd name="adj" fmla="val 25000"/>
            </a:avLst>
          </a:prstGeom>
          <a:solidFill>
            <a:srgbClr val="C2D6E8"/>
          </a:solidFill>
          <a:ln/>
        </p:spPr>
      </p:sp>
      <p:sp>
        <p:nvSpPr>
          <p:cNvPr id="35" name="Shape 33"/>
          <p:cNvSpPr/>
          <p:nvPr/>
        </p:nvSpPr>
        <p:spPr>
          <a:xfrm>
            <a:off x="4095750" y="5724525"/>
            <a:ext cx="190500" cy="190500"/>
          </a:xfrm>
          <a:prstGeom prst="roundRect">
            <a:avLst>
              <a:gd name="adj" fmla="val 25000"/>
            </a:avLst>
          </a:prstGeom>
          <a:solidFill>
            <a:srgbClr val="C2D6E8"/>
          </a:solidFill>
          <a:ln/>
        </p:spPr>
      </p:sp>
      <p:sp>
        <p:nvSpPr>
          <p:cNvPr id="36" name="Shape 34"/>
          <p:cNvSpPr/>
          <p:nvPr/>
        </p:nvSpPr>
        <p:spPr>
          <a:xfrm>
            <a:off x="4343400" y="5724525"/>
            <a:ext cx="190500" cy="190500"/>
          </a:xfrm>
          <a:prstGeom prst="roundRect">
            <a:avLst>
              <a:gd name="adj" fmla="val 25000"/>
            </a:avLst>
          </a:prstGeom>
          <a:solidFill>
            <a:srgbClr val="C2D6E8"/>
          </a:solidFill>
          <a:ln/>
        </p:spPr>
      </p:sp>
      <p:sp>
        <p:nvSpPr>
          <p:cNvPr id="37" name="Shape 35"/>
          <p:cNvSpPr/>
          <p:nvPr/>
        </p:nvSpPr>
        <p:spPr>
          <a:xfrm>
            <a:off x="4591050" y="5724525"/>
            <a:ext cx="190500" cy="190500"/>
          </a:xfrm>
          <a:prstGeom prst="roundRect">
            <a:avLst>
              <a:gd name="adj" fmla="val 25000"/>
            </a:avLst>
          </a:prstGeom>
          <a:solidFill>
            <a:srgbClr val="C2D6E8"/>
          </a:solidFill>
          <a:ln/>
        </p:spPr>
      </p:sp>
      <p:sp>
        <p:nvSpPr>
          <p:cNvPr id="38" name="Text 36"/>
          <p:cNvSpPr/>
          <p:nvPr/>
        </p:nvSpPr>
        <p:spPr>
          <a:xfrm>
            <a:off x="6197561" y="4714875"/>
            <a:ext cx="438150" cy="464820"/>
          </a:xfrm>
          <a:prstGeom prst="rect">
            <a:avLst/>
          </a:prstGeom>
          <a:noFill/>
          <a:ln/>
        </p:spPr>
        <p:txBody>
          <a:bodyPr wrap="square" lIns="25400" tIns="25400" rIns="25400" bIns="25400" rtlCol="0" anchor="t">
            <a:normAutofit/>
          </a:bodyPr>
          <a:lstStyle/>
          <a:p>
            <a:pPr algn="l" indent="0" marL="0">
              <a:buNone/>
            </a:pPr>
            <a:r>
              <a:rPr lang="en-US" sz="2850" dirty="0">
                <a:solidFill>
                  <a:srgbClr val="0086C9"/>
                </a:solidFill>
                <a:latin typeface="Arial" pitchFamily="34" charset="0"/>
                <a:ea typeface="Arial" pitchFamily="34" charset="-122"/>
                <a:cs typeface="Arial" pitchFamily="34" charset="-120"/>
              </a:rPr>
              <a:t>→</a:t>
            </a:r>
            <a:endParaRPr lang="en-US" sz="2850" dirty="0"/>
          </a:p>
        </p:txBody>
      </p:sp>
      <p:sp>
        <p:nvSpPr>
          <p:cNvPr id="39" name="Text 37"/>
          <p:cNvSpPr/>
          <p:nvPr/>
        </p:nvSpPr>
        <p:spPr>
          <a:xfrm>
            <a:off x="6902411" y="3840480"/>
            <a:ext cx="2432352"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Agrégation mensuelle</a:t>
            </a:r>
            <a:endParaRPr lang="en-US" sz="1800" dirty="0"/>
          </a:p>
        </p:txBody>
      </p:sp>
      <p:sp>
        <p:nvSpPr>
          <p:cNvPr id="40" name="Text 38"/>
          <p:cNvSpPr/>
          <p:nvPr/>
        </p:nvSpPr>
        <p:spPr>
          <a:xfrm>
            <a:off x="6902411" y="4175760"/>
            <a:ext cx="4617675"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Pour l'analyse comportementale, ces journées sont regroupées en une ligne par distributeur et par mois.</a:t>
            </a:r>
            <a:endParaRPr lang="en-US" sz="1800" dirty="0"/>
          </a:p>
        </p:txBody>
      </p:sp>
      <p:sp>
        <p:nvSpPr>
          <p:cNvPr id="41" name="Shape 39"/>
          <p:cNvSpPr/>
          <p:nvPr/>
        </p:nvSpPr>
        <p:spPr>
          <a:xfrm>
            <a:off x="6902411" y="5375910"/>
            <a:ext cx="4483180" cy="640080"/>
          </a:xfrm>
          <a:prstGeom prst="roundRect">
            <a:avLst>
              <a:gd name="adj" fmla="val 14881"/>
            </a:avLst>
          </a:prstGeom>
          <a:solidFill>
            <a:srgbClr val="009EE0"/>
          </a:solidFill>
          <a:ln/>
        </p:spPr>
      </p:sp>
      <p:sp>
        <p:nvSpPr>
          <p:cNvPr id="42" name="Text 40"/>
          <p:cNvSpPr/>
          <p:nvPr/>
        </p:nvSpPr>
        <p:spPr>
          <a:xfrm>
            <a:off x="7101863" y="5566410"/>
            <a:ext cx="4084275"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1 ligne / distributeur / mois</a:t>
            </a:r>
            <a:endParaRPr lang="en-US" sz="1800" dirty="0"/>
          </a:p>
        </p:txBody>
      </p:sp>
      <p:sp>
        <p:nvSpPr>
          <p:cNvPr id="43" name="Text 41"/>
          <p:cNvSpPr/>
          <p:nvPr/>
        </p:nvSpPr>
        <p:spPr>
          <a:xfrm>
            <a:off x="11728490" y="4714875"/>
            <a:ext cx="438150" cy="464820"/>
          </a:xfrm>
          <a:prstGeom prst="rect">
            <a:avLst/>
          </a:prstGeom>
          <a:noFill/>
          <a:ln/>
        </p:spPr>
        <p:txBody>
          <a:bodyPr wrap="square" lIns="25400" tIns="25400" rIns="25400" bIns="25400" rtlCol="0" anchor="t">
            <a:normAutofit/>
          </a:bodyPr>
          <a:lstStyle/>
          <a:p>
            <a:pPr algn="l" indent="0" marL="0">
              <a:buNone/>
            </a:pPr>
            <a:r>
              <a:rPr lang="en-US" sz="2850" dirty="0">
                <a:solidFill>
                  <a:srgbClr val="0086C9"/>
                </a:solidFill>
                <a:latin typeface="Arial" pitchFamily="34" charset="0"/>
                <a:ea typeface="Arial" pitchFamily="34" charset="-122"/>
                <a:cs typeface="Arial" pitchFamily="34" charset="-120"/>
              </a:rPr>
              <a:t>→</a:t>
            </a:r>
            <a:endParaRPr lang="en-US" sz="2850" dirty="0"/>
          </a:p>
        </p:txBody>
      </p:sp>
      <p:sp>
        <p:nvSpPr>
          <p:cNvPr id="44" name="Text 42"/>
          <p:cNvSpPr/>
          <p:nvPr/>
        </p:nvSpPr>
        <p:spPr>
          <a:xfrm>
            <a:off x="12433340" y="3562350"/>
            <a:ext cx="2278070"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Périmètre métropole</a:t>
            </a:r>
            <a:endParaRPr lang="en-US" sz="1800" dirty="0"/>
          </a:p>
        </p:txBody>
      </p:sp>
      <p:sp>
        <p:nvSpPr>
          <p:cNvPr id="45" name="Text 43"/>
          <p:cNvSpPr/>
          <p:nvPr/>
        </p:nvSpPr>
        <p:spPr>
          <a:xfrm>
            <a:off x="12433340" y="3897630"/>
            <a:ext cx="4617552" cy="14097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DOM-TOM sont exclus de cette première version : changes, réseaux étrangers, fuseaux horaires trop différents.</a:t>
            </a:r>
            <a:endParaRPr lang="en-US" sz="1800" dirty="0"/>
          </a:p>
        </p:txBody>
      </p:sp>
      <p:sp>
        <p:nvSpPr>
          <p:cNvPr id="46" name="Shape 44"/>
          <p:cNvSpPr/>
          <p:nvPr/>
        </p:nvSpPr>
        <p:spPr>
          <a:xfrm>
            <a:off x="12433340" y="5440680"/>
            <a:ext cx="4411980" cy="853440"/>
          </a:xfrm>
          <a:prstGeom prst="roundRect">
            <a:avLst>
              <a:gd name="adj" fmla="val 11161"/>
            </a:avLst>
          </a:prstGeom>
          <a:ln w="15240">
            <a:solidFill>
              <a:srgbClr val="C2D6E8"/>
            </a:solidFill>
            <a:prstDash val="dash"/>
          </a:ln>
        </p:spPr>
      </p:sp>
      <p:sp>
        <p:nvSpPr>
          <p:cNvPr id="47" name="Text 45"/>
          <p:cNvSpPr/>
          <p:nvPr/>
        </p:nvSpPr>
        <p:spPr>
          <a:xfrm>
            <a:off x="12639080" y="5608320"/>
            <a:ext cx="4132860"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Élargissement prévu en phase ultérieure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LA BASE DE NOS ANALYSES</a:t>
            </a:r>
            <a:endParaRPr lang="en-US" sz="1800" dirty="0"/>
          </a:p>
        </p:txBody>
      </p:sp>
      <p:sp>
        <p:nvSpPr>
          <p:cNvPr id="3" name="Text 1"/>
          <p:cNvSpPr/>
          <p:nvPr/>
        </p:nvSpPr>
        <p:spPr>
          <a:xfrm>
            <a:off x="952500" y="1306830"/>
            <a:ext cx="18021300" cy="609600"/>
          </a:xfrm>
          <a:prstGeom prst="rect">
            <a:avLst/>
          </a:prstGeom>
          <a:noFill/>
          <a:ln/>
        </p:spPr>
        <p:txBody>
          <a:bodyPr wrap="square" lIns="25400" tIns="25400" rIns="25400" bIns="25400" rtlCol="0" anchor="t">
            <a:normAutofit/>
          </a:bodyPr>
          <a:lstStyle/>
          <a:p>
            <a:pPr algn="l" indent="0" marL="0">
              <a:lnSpc>
                <a:spcPct val="85227"/>
              </a:lnSpc>
              <a:buNone/>
            </a:pPr>
            <a:r>
              <a:rPr lang="en-US" sz="3750" b="1" dirty="0">
                <a:solidFill>
                  <a:srgbClr val="0C2350"/>
                </a:solidFill>
                <a:latin typeface="Arial" pitchFamily="34" charset="0"/>
                <a:ea typeface="Arial" pitchFamily="34" charset="-122"/>
                <a:cs typeface="Arial" pitchFamily="34" charset="-120"/>
              </a:rPr>
              <a:t>Avant les 3 approches : les indicateurs qu'elles utilisent</a:t>
            </a:r>
            <a:endParaRPr lang="en-US" sz="3750" dirty="0"/>
          </a:p>
        </p:txBody>
      </p:sp>
      <p:sp>
        <p:nvSpPr>
          <p:cNvPr id="4" name="Text 2"/>
          <p:cNvSpPr/>
          <p:nvPr/>
        </p:nvSpPr>
        <p:spPr>
          <a:xfrm>
            <a:off x="952500" y="2030730"/>
            <a:ext cx="1471612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Chaque distributeur est décrit chaque mois par une série d'indicateurs. Exemple : </a:t>
            </a:r>
            <a:pPr algn="l" indent="0" marL="0">
              <a:lnSpc>
                <a:spcPct val="132353"/>
              </a:lnSpc>
              <a:buNone/>
            </a:pPr>
            <a:r>
              <a:rPr lang="en-US" sz="1800" b="1" dirty="0">
                <a:solidFill>
                  <a:srgbClr val="0C2350"/>
                </a:solidFill>
                <a:latin typeface="Arial" pitchFamily="34" charset="0"/>
                <a:ea typeface="Arial" pitchFamily="34" charset="-122"/>
                <a:cs typeface="Arial" pitchFamily="34" charset="-120"/>
              </a:rPr>
              <a:t>Distributeur A, 620 retraits ce mois-ci </a:t>
            </a:r>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 repris pour chaque approche.</a:t>
            </a:r>
            <a:endParaRPr lang="en-US" sz="1800" dirty="0"/>
          </a:p>
        </p:txBody>
      </p:sp>
      <p:sp>
        <p:nvSpPr>
          <p:cNvPr id="5" name="Shape 3"/>
          <p:cNvSpPr/>
          <p:nvPr/>
        </p:nvSpPr>
        <p:spPr>
          <a:xfrm>
            <a:off x="952500" y="3002280"/>
            <a:ext cx="5295900" cy="3185160"/>
          </a:xfrm>
          <a:prstGeom prst="roundRect">
            <a:avLst>
              <a:gd name="adj" fmla="val 4785"/>
            </a:avLst>
          </a:prstGeom>
          <a:solidFill>
            <a:srgbClr val="F2F8FC"/>
          </a:solidFill>
          <a:ln/>
        </p:spPr>
      </p:sp>
      <p:sp>
        <p:nvSpPr>
          <p:cNvPr id="6" name="Text 4"/>
          <p:cNvSpPr/>
          <p:nvPr/>
        </p:nvSpPr>
        <p:spPr>
          <a:xfrm>
            <a:off x="1238250" y="3249930"/>
            <a:ext cx="2599730"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Part des retraits de nuit</a:t>
            </a:r>
            <a:endParaRPr lang="en-US" sz="1800" dirty="0"/>
          </a:p>
        </p:txBody>
      </p:sp>
      <p:sp>
        <p:nvSpPr>
          <p:cNvPr id="7" name="Text 5"/>
          <p:cNvSpPr/>
          <p:nvPr/>
        </p:nvSpPr>
        <p:spPr>
          <a:xfrm>
            <a:off x="1238250" y="358521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50 ÷ 620 = 8,1 %</a:t>
            </a:r>
            <a:endParaRPr lang="en-US" sz="1800" dirty="0"/>
          </a:p>
        </p:txBody>
      </p:sp>
      <p:sp>
        <p:nvSpPr>
          <p:cNvPr id="8" name="Text 6"/>
          <p:cNvSpPr/>
          <p:nvPr/>
        </p:nvSpPr>
        <p:spPr>
          <a:xfrm>
            <a:off x="1238250" y="3920490"/>
            <a:ext cx="486613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Un usage nocturne qui augmente peut signaler un changement de fréquentation.</a:t>
            </a:r>
            <a:endParaRPr lang="en-US" sz="1800" dirty="0"/>
          </a:p>
        </p:txBody>
      </p:sp>
      <p:sp>
        <p:nvSpPr>
          <p:cNvPr id="9" name="Shape 7"/>
          <p:cNvSpPr/>
          <p:nvPr/>
        </p:nvSpPr>
        <p:spPr>
          <a:xfrm>
            <a:off x="6496050" y="3002280"/>
            <a:ext cx="5295900" cy="3185160"/>
          </a:xfrm>
          <a:prstGeom prst="roundRect">
            <a:avLst>
              <a:gd name="adj" fmla="val 4785"/>
            </a:avLst>
          </a:prstGeom>
          <a:solidFill>
            <a:srgbClr val="F2F8FC"/>
          </a:solidFill>
          <a:ln/>
        </p:spPr>
      </p:sp>
      <p:sp>
        <p:nvSpPr>
          <p:cNvPr id="10" name="Text 8"/>
          <p:cNvSpPr/>
          <p:nvPr/>
        </p:nvSpPr>
        <p:spPr>
          <a:xfrm>
            <a:off x="6781800" y="3249930"/>
            <a:ext cx="320061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Part des retraits le week-end</a:t>
            </a:r>
            <a:endParaRPr lang="en-US" sz="1800" dirty="0"/>
          </a:p>
        </p:txBody>
      </p:sp>
      <p:sp>
        <p:nvSpPr>
          <p:cNvPr id="11" name="Text 9"/>
          <p:cNvSpPr/>
          <p:nvPr/>
        </p:nvSpPr>
        <p:spPr>
          <a:xfrm>
            <a:off x="6781800" y="358521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140 ÷ 620 = 22,6 %</a:t>
            </a:r>
            <a:endParaRPr lang="en-US" sz="1800" dirty="0"/>
          </a:p>
        </p:txBody>
      </p:sp>
      <p:sp>
        <p:nvSpPr>
          <p:cNvPr id="12" name="Text 10"/>
          <p:cNvSpPr/>
          <p:nvPr/>
        </p:nvSpPr>
        <p:spPr>
          <a:xfrm>
            <a:off x="6781800" y="3920490"/>
            <a:ext cx="486613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Trahit un profil plutôt résidentiel, professionnel ou touristique.</a:t>
            </a:r>
            <a:endParaRPr lang="en-US" sz="1800" dirty="0"/>
          </a:p>
        </p:txBody>
      </p:sp>
      <p:sp>
        <p:nvSpPr>
          <p:cNvPr id="13" name="Shape 11"/>
          <p:cNvSpPr/>
          <p:nvPr/>
        </p:nvSpPr>
        <p:spPr>
          <a:xfrm>
            <a:off x="12039600" y="3002280"/>
            <a:ext cx="5295900" cy="3185160"/>
          </a:xfrm>
          <a:prstGeom prst="roundRect">
            <a:avLst>
              <a:gd name="adj" fmla="val 4785"/>
            </a:avLst>
          </a:prstGeom>
          <a:solidFill>
            <a:srgbClr val="F2F8FC"/>
          </a:solidFill>
          <a:ln/>
        </p:spPr>
      </p:sp>
      <p:sp>
        <p:nvSpPr>
          <p:cNvPr id="14" name="Text 12"/>
          <p:cNvSpPr/>
          <p:nvPr/>
        </p:nvSpPr>
        <p:spPr>
          <a:xfrm>
            <a:off x="12325350" y="3249930"/>
            <a:ext cx="257196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Taux de cartes avalées</a:t>
            </a:r>
            <a:endParaRPr lang="en-US" sz="1800" dirty="0"/>
          </a:p>
        </p:txBody>
      </p:sp>
      <p:sp>
        <p:nvSpPr>
          <p:cNvPr id="15" name="Text 13"/>
          <p:cNvSpPr/>
          <p:nvPr/>
        </p:nvSpPr>
        <p:spPr>
          <a:xfrm>
            <a:off x="12325350" y="358521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4 ÷ 620 = 0,6 %</a:t>
            </a:r>
            <a:endParaRPr lang="en-US" sz="1800" dirty="0"/>
          </a:p>
        </p:txBody>
      </p:sp>
      <p:sp>
        <p:nvSpPr>
          <p:cNvPr id="16" name="Text 14"/>
          <p:cNvSpPr/>
          <p:nvPr/>
        </p:nvSpPr>
        <p:spPr>
          <a:xfrm>
            <a:off x="12325350" y="3920490"/>
            <a:ext cx="486613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Indicateur direct d'incident technique ou d'usage anormal.</a:t>
            </a:r>
            <a:endParaRPr lang="en-US" sz="1800" dirty="0"/>
          </a:p>
        </p:txBody>
      </p:sp>
      <p:sp>
        <p:nvSpPr>
          <p:cNvPr id="17" name="Shape 15"/>
          <p:cNvSpPr/>
          <p:nvPr/>
        </p:nvSpPr>
        <p:spPr>
          <a:xfrm>
            <a:off x="952500" y="6435090"/>
            <a:ext cx="5295900" cy="3185160"/>
          </a:xfrm>
          <a:prstGeom prst="roundRect">
            <a:avLst>
              <a:gd name="adj" fmla="val 4785"/>
            </a:avLst>
          </a:prstGeom>
          <a:solidFill>
            <a:srgbClr val="F2F8FC"/>
          </a:solidFill>
          <a:ln/>
        </p:spPr>
      </p:sp>
      <p:sp>
        <p:nvSpPr>
          <p:cNvPr id="18" name="Text 16"/>
          <p:cNvSpPr/>
          <p:nvPr/>
        </p:nvSpPr>
        <p:spPr>
          <a:xfrm>
            <a:off x="1238250" y="6682740"/>
            <a:ext cx="2026741"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Volume de retraits</a:t>
            </a:r>
            <a:endParaRPr lang="en-US" sz="1800" dirty="0"/>
          </a:p>
        </p:txBody>
      </p:sp>
      <p:sp>
        <p:nvSpPr>
          <p:cNvPr id="19" name="Text 17"/>
          <p:cNvSpPr/>
          <p:nvPr/>
        </p:nvSpPr>
        <p:spPr>
          <a:xfrm>
            <a:off x="1238250" y="701802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620 retraits ce mois-ci</a:t>
            </a:r>
            <a:endParaRPr lang="en-US" sz="1800" dirty="0"/>
          </a:p>
        </p:txBody>
      </p:sp>
      <p:sp>
        <p:nvSpPr>
          <p:cNvPr id="20" name="Text 18"/>
          <p:cNvSpPr/>
          <p:nvPr/>
        </p:nvSpPr>
        <p:spPr>
          <a:xfrm>
            <a:off x="1238250" y="7353300"/>
            <a:ext cx="519684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Mesure l'intensité d'usage du distributeur.</a:t>
            </a:r>
            <a:endParaRPr lang="en-US" sz="1800" dirty="0"/>
          </a:p>
        </p:txBody>
      </p:sp>
      <p:sp>
        <p:nvSpPr>
          <p:cNvPr id="21" name="Shape 19"/>
          <p:cNvSpPr/>
          <p:nvPr/>
        </p:nvSpPr>
        <p:spPr>
          <a:xfrm>
            <a:off x="6496050" y="6435090"/>
            <a:ext cx="5295900" cy="3185160"/>
          </a:xfrm>
          <a:prstGeom prst="roundRect">
            <a:avLst>
              <a:gd name="adj" fmla="val 4785"/>
            </a:avLst>
          </a:prstGeom>
          <a:solidFill>
            <a:srgbClr val="F2F8FC"/>
          </a:solidFill>
          <a:ln/>
        </p:spPr>
      </p:sp>
      <p:sp>
        <p:nvSpPr>
          <p:cNvPr id="22" name="Text 20"/>
          <p:cNvSpPr/>
          <p:nvPr/>
        </p:nvSpPr>
        <p:spPr>
          <a:xfrm>
            <a:off x="6781800" y="6682740"/>
            <a:ext cx="3941636"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Composition des réseaux de cartes</a:t>
            </a:r>
            <a:endParaRPr lang="en-US" sz="1800" dirty="0"/>
          </a:p>
        </p:txBody>
      </p:sp>
      <p:sp>
        <p:nvSpPr>
          <p:cNvPr id="23" name="Text 21"/>
          <p:cNvSpPr/>
          <p:nvPr/>
        </p:nvSpPr>
        <p:spPr>
          <a:xfrm>
            <a:off x="6781800" y="701802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35 ÷ 620 = 5,6 %</a:t>
            </a:r>
            <a:endParaRPr lang="en-US" sz="1800" dirty="0"/>
          </a:p>
        </p:txBody>
      </p:sp>
      <p:sp>
        <p:nvSpPr>
          <p:cNvPr id="24" name="Text 22"/>
          <p:cNvSpPr/>
          <p:nvPr/>
        </p:nvSpPr>
        <p:spPr>
          <a:xfrm>
            <a:off x="6781800" y="7353300"/>
            <a:ext cx="486613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Révèle un profil de clientèle locale ou touristique.</a:t>
            </a:r>
            <a:endParaRPr lang="en-US" sz="1800" dirty="0"/>
          </a:p>
        </p:txBody>
      </p:sp>
      <p:sp>
        <p:nvSpPr>
          <p:cNvPr id="25" name="Shape 23"/>
          <p:cNvSpPr/>
          <p:nvPr/>
        </p:nvSpPr>
        <p:spPr>
          <a:xfrm>
            <a:off x="12039600" y="6435090"/>
            <a:ext cx="5295900" cy="3185160"/>
          </a:xfrm>
          <a:prstGeom prst="roundRect">
            <a:avLst>
              <a:gd name="adj" fmla="val 4785"/>
            </a:avLst>
          </a:prstGeom>
          <a:solidFill>
            <a:srgbClr val="F2F8FC"/>
          </a:solidFill>
          <a:ln/>
        </p:spPr>
      </p:sp>
      <p:sp>
        <p:nvSpPr>
          <p:cNvPr id="26" name="Text 24"/>
          <p:cNvSpPr/>
          <p:nvPr/>
        </p:nvSpPr>
        <p:spPr>
          <a:xfrm>
            <a:off x="12325350" y="6682740"/>
            <a:ext cx="2376035"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Montant moyen retiré</a:t>
            </a:r>
            <a:endParaRPr lang="en-US" sz="1800" dirty="0"/>
          </a:p>
        </p:txBody>
      </p:sp>
      <p:sp>
        <p:nvSpPr>
          <p:cNvPr id="27" name="Text 25"/>
          <p:cNvSpPr/>
          <p:nvPr/>
        </p:nvSpPr>
        <p:spPr>
          <a:xfrm>
            <a:off x="12325350" y="7018020"/>
            <a:ext cx="51968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38 440 € ÷ 620 = 62 €</a:t>
            </a:r>
            <a:endParaRPr lang="en-US" sz="1800" dirty="0"/>
          </a:p>
        </p:txBody>
      </p:sp>
      <p:sp>
        <p:nvSpPr>
          <p:cNvPr id="28" name="Text 26"/>
          <p:cNvSpPr/>
          <p:nvPr/>
        </p:nvSpPr>
        <p:spPr>
          <a:xfrm>
            <a:off x="12325350" y="7353300"/>
            <a:ext cx="4866132" cy="70104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Un changement peut signaler un usage détourné ou une clientèle différente.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8FC"/>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CONCRÈTEMENT</a:t>
            </a:r>
            <a:endParaRPr lang="en-US" sz="1800" dirty="0"/>
          </a:p>
        </p:txBody>
      </p:sp>
      <p:sp>
        <p:nvSpPr>
          <p:cNvPr id="3" name="Text 1"/>
          <p:cNvSpPr/>
          <p:nvPr/>
        </p:nvSpPr>
        <p:spPr>
          <a:xfrm>
            <a:off x="952500" y="1306830"/>
            <a:ext cx="18021300" cy="65532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De l'opération brute à l'indicateur</a:t>
            </a:r>
            <a:endParaRPr lang="en-US" sz="4050" dirty="0"/>
          </a:p>
        </p:txBody>
      </p:sp>
      <p:sp>
        <p:nvSpPr>
          <p:cNvPr id="4" name="Text 2"/>
          <p:cNvSpPr/>
          <p:nvPr/>
        </p:nvSpPr>
        <p:spPr>
          <a:xfrm>
            <a:off x="952500" y="4334828"/>
            <a:ext cx="8299036" cy="54864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100 opérations représentées (échelle proportionnelle à 620) — 8 en bleu ont eu lieu la nuit</a:t>
            </a:r>
            <a:endParaRPr lang="en-US" sz="1800" dirty="0"/>
          </a:p>
        </p:txBody>
      </p:sp>
      <p:sp>
        <p:nvSpPr>
          <p:cNvPr id="5" name="Shape 3"/>
          <p:cNvSpPr/>
          <p:nvPr/>
        </p:nvSpPr>
        <p:spPr>
          <a:xfrm>
            <a:off x="952500" y="5043488"/>
            <a:ext cx="350877" cy="350877"/>
          </a:xfrm>
          <a:prstGeom prst="roundRect">
            <a:avLst>
              <a:gd name="adj" fmla="val 10859"/>
            </a:avLst>
          </a:prstGeom>
          <a:solidFill>
            <a:srgbClr val="DCE8F5"/>
          </a:solidFill>
          <a:ln/>
        </p:spPr>
      </p:sp>
      <p:sp>
        <p:nvSpPr>
          <p:cNvPr id="6" name="Shape 4"/>
          <p:cNvSpPr/>
          <p:nvPr/>
        </p:nvSpPr>
        <p:spPr>
          <a:xfrm>
            <a:off x="1370052" y="5043488"/>
            <a:ext cx="350877" cy="350877"/>
          </a:xfrm>
          <a:prstGeom prst="roundRect">
            <a:avLst>
              <a:gd name="adj" fmla="val 10859"/>
            </a:avLst>
          </a:prstGeom>
          <a:solidFill>
            <a:srgbClr val="DCE8F5"/>
          </a:solidFill>
          <a:ln/>
        </p:spPr>
      </p:sp>
      <p:sp>
        <p:nvSpPr>
          <p:cNvPr id="7" name="Shape 5"/>
          <p:cNvSpPr/>
          <p:nvPr/>
        </p:nvSpPr>
        <p:spPr>
          <a:xfrm>
            <a:off x="1787604" y="5043488"/>
            <a:ext cx="350877" cy="350877"/>
          </a:xfrm>
          <a:prstGeom prst="roundRect">
            <a:avLst>
              <a:gd name="adj" fmla="val 10859"/>
            </a:avLst>
          </a:prstGeom>
          <a:solidFill>
            <a:srgbClr val="DCE8F5"/>
          </a:solidFill>
          <a:ln/>
        </p:spPr>
      </p:sp>
      <p:sp>
        <p:nvSpPr>
          <p:cNvPr id="8" name="Shape 6"/>
          <p:cNvSpPr/>
          <p:nvPr/>
        </p:nvSpPr>
        <p:spPr>
          <a:xfrm>
            <a:off x="2205157" y="5043488"/>
            <a:ext cx="350877" cy="350877"/>
          </a:xfrm>
          <a:prstGeom prst="roundRect">
            <a:avLst>
              <a:gd name="adj" fmla="val 10859"/>
            </a:avLst>
          </a:prstGeom>
          <a:solidFill>
            <a:srgbClr val="0086C9"/>
          </a:solidFill>
          <a:ln/>
        </p:spPr>
      </p:sp>
      <p:sp>
        <p:nvSpPr>
          <p:cNvPr id="9" name="Shape 7"/>
          <p:cNvSpPr/>
          <p:nvPr/>
        </p:nvSpPr>
        <p:spPr>
          <a:xfrm>
            <a:off x="2622709" y="5043488"/>
            <a:ext cx="350877" cy="350877"/>
          </a:xfrm>
          <a:prstGeom prst="roundRect">
            <a:avLst>
              <a:gd name="adj" fmla="val 10859"/>
            </a:avLst>
          </a:prstGeom>
          <a:solidFill>
            <a:srgbClr val="DCE8F5"/>
          </a:solidFill>
          <a:ln/>
        </p:spPr>
      </p:sp>
      <p:sp>
        <p:nvSpPr>
          <p:cNvPr id="10" name="Shape 8"/>
          <p:cNvSpPr/>
          <p:nvPr/>
        </p:nvSpPr>
        <p:spPr>
          <a:xfrm>
            <a:off x="3040261" y="5043488"/>
            <a:ext cx="350877" cy="350877"/>
          </a:xfrm>
          <a:prstGeom prst="roundRect">
            <a:avLst>
              <a:gd name="adj" fmla="val 10859"/>
            </a:avLst>
          </a:prstGeom>
          <a:solidFill>
            <a:srgbClr val="DCE8F5"/>
          </a:solidFill>
          <a:ln/>
        </p:spPr>
      </p:sp>
      <p:sp>
        <p:nvSpPr>
          <p:cNvPr id="11" name="Shape 9"/>
          <p:cNvSpPr/>
          <p:nvPr/>
        </p:nvSpPr>
        <p:spPr>
          <a:xfrm>
            <a:off x="3457813" y="5043488"/>
            <a:ext cx="350877" cy="350877"/>
          </a:xfrm>
          <a:prstGeom prst="roundRect">
            <a:avLst>
              <a:gd name="adj" fmla="val 10859"/>
            </a:avLst>
          </a:prstGeom>
          <a:solidFill>
            <a:srgbClr val="DCE8F5"/>
          </a:solidFill>
          <a:ln/>
        </p:spPr>
      </p:sp>
      <p:sp>
        <p:nvSpPr>
          <p:cNvPr id="12" name="Shape 10"/>
          <p:cNvSpPr/>
          <p:nvPr/>
        </p:nvSpPr>
        <p:spPr>
          <a:xfrm>
            <a:off x="3875365" y="5043488"/>
            <a:ext cx="350877" cy="350877"/>
          </a:xfrm>
          <a:prstGeom prst="roundRect">
            <a:avLst>
              <a:gd name="adj" fmla="val 10859"/>
            </a:avLst>
          </a:prstGeom>
          <a:solidFill>
            <a:srgbClr val="DCE8F5"/>
          </a:solidFill>
          <a:ln/>
        </p:spPr>
      </p:sp>
      <p:sp>
        <p:nvSpPr>
          <p:cNvPr id="13" name="Shape 11"/>
          <p:cNvSpPr/>
          <p:nvPr/>
        </p:nvSpPr>
        <p:spPr>
          <a:xfrm>
            <a:off x="4292918" y="5043488"/>
            <a:ext cx="350877" cy="350877"/>
          </a:xfrm>
          <a:prstGeom prst="roundRect">
            <a:avLst>
              <a:gd name="adj" fmla="val 10859"/>
            </a:avLst>
          </a:prstGeom>
          <a:solidFill>
            <a:srgbClr val="DCE8F5"/>
          </a:solidFill>
          <a:ln/>
        </p:spPr>
      </p:sp>
      <p:sp>
        <p:nvSpPr>
          <p:cNvPr id="14" name="Shape 12"/>
          <p:cNvSpPr/>
          <p:nvPr/>
        </p:nvSpPr>
        <p:spPr>
          <a:xfrm>
            <a:off x="4710470" y="5043488"/>
            <a:ext cx="350877" cy="350877"/>
          </a:xfrm>
          <a:prstGeom prst="roundRect">
            <a:avLst>
              <a:gd name="adj" fmla="val 10859"/>
            </a:avLst>
          </a:prstGeom>
          <a:solidFill>
            <a:srgbClr val="DCE8F5"/>
          </a:solidFill>
          <a:ln/>
        </p:spPr>
      </p:sp>
      <p:sp>
        <p:nvSpPr>
          <p:cNvPr id="15" name="Shape 13"/>
          <p:cNvSpPr/>
          <p:nvPr/>
        </p:nvSpPr>
        <p:spPr>
          <a:xfrm>
            <a:off x="5128022" y="5043488"/>
            <a:ext cx="350877" cy="350877"/>
          </a:xfrm>
          <a:prstGeom prst="roundRect">
            <a:avLst>
              <a:gd name="adj" fmla="val 10859"/>
            </a:avLst>
          </a:prstGeom>
          <a:solidFill>
            <a:srgbClr val="DCE8F5"/>
          </a:solidFill>
          <a:ln/>
        </p:spPr>
      </p:sp>
      <p:sp>
        <p:nvSpPr>
          <p:cNvPr id="16" name="Shape 14"/>
          <p:cNvSpPr/>
          <p:nvPr/>
        </p:nvSpPr>
        <p:spPr>
          <a:xfrm>
            <a:off x="5545574" y="5043488"/>
            <a:ext cx="350877" cy="350877"/>
          </a:xfrm>
          <a:prstGeom prst="roundRect">
            <a:avLst>
              <a:gd name="adj" fmla="val 10859"/>
            </a:avLst>
          </a:prstGeom>
          <a:solidFill>
            <a:srgbClr val="DCE8F5"/>
          </a:solidFill>
          <a:ln/>
        </p:spPr>
      </p:sp>
      <p:sp>
        <p:nvSpPr>
          <p:cNvPr id="17" name="Shape 15"/>
          <p:cNvSpPr/>
          <p:nvPr/>
        </p:nvSpPr>
        <p:spPr>
          <a:xfrm>
            <a:off x="5963126" y="5043488"/>
            <a:ext cx="350877" cy="350877"/>
          </a:xfrm>
          <a:prstGeom prst="roundRect">
            <a:avLst>
              <a:gd name="adj" fmla="val 10859"/>
            </a:avLst>
          </a:prstGeom>
          <a:solidFill>
            <a:srgbClr val="DCE8F5"/>
          </a:solidFill>
          <a:ln/>
        </p:spPr>
      </p:sp>
      <p:sp>
        <p:nvSpPr>
          <p:cNvPr id="18" name="Shape 16"/>
          <p:cNvSpPr/>
          <p:nvPr/>
        </p:nvSpPr>
        <p:spPr>
          <a:xfrm>
            <a:off x="6380679" y="5043488"/>
            <a:ext cx="350877" cy="350877"/>
          </a:xfrm>
          <a:prstGeom prst="roundRect">
            <a:avLst>
              <a:gd name="adj" fmla="val 10859"/>
            </a:avLst>
          </a:prstGeom>
          <a:solidFill>
            <a:srgbClr val="DCE8F5"/>
          </a:solidFill>
          <a:ln/>
        </p:spPr>
      </p:sp>
      <p:sp>
        <p:nvSpPr>
          <p:cNvPr id="19" name="Shape 17"/>
          <p:cNvSpPr/>
          <p:nvPr/>
        </p:nvSpPr>
        <p:spPr>
          <a:xfrm>
            <a:off x="6798231" y="5043488"/>
            <a:ext cx="350877" cy="350877"/>
          </a:xfrm>
          <a:prstGeom prst="roundRect">
            <a:avLst>
              <a:gd name="adj" fmla="val 10859"/>
            </a:avLst>
          </a:prstGeom>
          <a:solidFill>
            <a:srgbClr val="DCE8F5"/>
          </a:solidFill>
          <a:ln/>
        </p:spPr>
      </p:sp>
      <p:sp>
        <p:nvSpPr>
          <p:cNvPr id="20" name="Shape 18"/>
          <p:cNvSpPr/>
          <p:nvPr/>
        </p:nvSpPr>
        <p:spPr>
          <a:xfrm>
            <a:off x="7215783" y="5043488"/>
            <a:ext cx="350877" cy="350877"/>
          </a:xfrm>
          <a:prstGeom prst="roundRect">
            <a:avLst>
              <a:gd name="adj" fmla="val 10859"/>
            </a:avLst>
          </a:prstGeom>
          <a:solidFill>
            <a:srgbClr val="DCE8F5"/>
          </a:solidFill>
          <a:ln/>
        </p:spPr>
      </p:sp>
      <p:sp>
        <p:nvSpPr>
          <p:cNvPr id="21" name="Shape 19"/>
          <p:cNvSpPr/>
          <p:nvPr/>
        </p:nvSpPr>
        <p:spPr>
          <a:xfrm>
            <a:off x="7633335" y="5043488"/>
            <a:ext cx="350877" cy="350877"/>
          </a:xfrm>
          <a:prstGeom prst="roundRect">
            <a:avLst>
              <a:gd name="adj" fmla="val 10859"/>
            </a:avLst>
          </a:prstGeom>
          <a:solidFill>
            <a:srgbClr val="DCE8F5"/>
          </a:solidFill>
          <a:ln/>
        </p:spPr>
      </p:sp>
      <p:sp>
        <p:nvSpPr>
          <p:cNvPr id="22" name="Shape 20"/>
          <p:cNvSpPr/>
          <p:nvPr/>
        </p:nvSpPr>
        <p:spPr>
          <a:xfrm>
            <a:off x="8050887" y="5043488"/>
            <a:ext cx="350877" cy="350877"/>
          </a:xfrm>
          <a:prstGeom prst="roundRect">
            <a:avLst>
              <a:gd name="adj" fmla="val 10859"/>
            </a:avLst>
          </a:prstGeom>
          <a:solidFill>
            <a:srgbClr val="0086C9"/>
          </a:solidFill>
          <a:ln/>
        </p:spPr>
      </p:sp>
      <p:sp>
        <p:nvSpPr>
          <p:cNvPr id="23" name="Shape 21"/>
          <p:cNvSpPr/>
          <p:nvPr/>
        </p:nvSpPr>
        <p:spPr>
          <a:xfrm>
            <a:off x="8468439" y="5043488"/>
            <a:ext cx="350877" cy="350877"/>
          </a:xfrm>
          <a:prstGeom prst="roundRect">
            <a:avLst>
              <a:gd name="adj" fmla="val 10859"/>
            </a:avLst>
          </a:prstGeom>
          <a:solidFill>
            <a:srgbClr val="DCE8F5"/>
          </a:solidFill>
          <a:ln/>
        </p:spPr>
      </p:sp>
      <p:sp>
        <p:nvSpPr>
          <p:cNvPr id="24" name="Shape 22"/>
          <p:cNvSpPr/>
          <p:nvPr/>
        </p:nvSpPr>
        <p:spPr>
          <a:xfrm>
            <a:off x="8885992" y="5043488"/>
            <a:ext cx="350877" cy="350877"/>
          </a:xfrm>
          <a:prstGeom prst="roundRect">
            <a:avLst>
              <a:gd name="adj" fmla="val 10859"/>
            </a:avLst>
          </a:prstGeom>
          <a:solidFill>
            <a:srgbClr val="DCE8F5"/>
          </a:solidFill>
          <a:ln/>
        </p:spPr>
      </p:sp>
      <p:sp>
        <p:nvSpPr>
          <p:cNvPr id="25" name="Shape 23"/>
          <p:cNvSpPr/>
          <p:nvPr/>
        </p:nvSpPr>
        <p:spPr>
          <a:xfrm>
            <a:off x="952500" y="5461040"/>
            <a:ext cx="350877" cy="350877"/>
          </a:xfrm>
          <a:prstGeom prst="roundRect">
            <a:avLst>
              <a:gd name="adj" fmla="val 10859"/>
            </a:avLst>
          </a:prstGeom>
          <a:solidFill>
            <a:srgbClr val="DCE8F5"/>
          </a:solidFill>
          <a:ln/>
        </p:spPr>
      </p:sp>
      <p:sp>
        <p:nvSpPr>
          <p:cNvPr id="26" name="Shape 24"/>
          <p:cNvSpPr/>
          <p:nvPr/>
        </p:nvSpPr>
        <p:spPr>
          <a:xfrm>
            <a:off x="1370052" y="5461040"/>
            <a:ext cx="350877" cy="350877"/>
          </a:xfrm>
          <a:prstGeom prst="roundRect">
            <a:avLst>
              <a:gd name="adj" fmla="val 10859"/>
            </a:avLst>
          </a:prstGeom>
          <a:solidFill>
            <a:srgbClr val="DCE8F5"/>
          </a:solidFill>
          <a:ln/>
        </p:spPr>
      </p:sp>
      <p:sp>
        <p:nvSpPr>
          <p:cNvPr id="27" name="Shape 25"/>
          <p:cNvSpPr/>
          <p:nvPr/>
        </p:nvSpPr>
        <p:spPr>
          <a:xfrm>
            <a:off x="1787604" y="5461040"/>
            <a:ext cx="350877" cy="350877"/>
          </a:xfrm>
          <a:prstGeom prst="roundRect">
            <a:avLst>
              <a:gd name="adj" fmla="val 10859"/>
            </a:avLst>
          </a:prstGeom>
          <a:solidFill>
            <a:srgbClr val="0086C9"/>
          </a:solidFill>
          <a:ln/>
        </p:spPr>
      </p:sp>
      <p:sp>
        <p:nvSpPr>
          <p:cNvPr id="28" name="Shape 26"/>
          <p:cNvSpPr/>
          <p:nvPr/>
        </p:nvSpPr>
        <p:spPr>
          <a:xfrm>
            <a:off x="2205157" y="5461040"/>
            <a:ext cx="350877" cy="350877"/>
          </a:xfrm>
          <a:prstGeom prst="roundRect">
            <a:avLst>
              <a:gd name="adj" fmla="val 10859"/>
            </a:avLst>
          </a:prstGeom>
          <a:solidFill>
            <a:srgbClr val="DCE8F5"/>
          </a:solidFill>
          <a:ln/>
        </p:spPr>
      </p:sp>
      <p:sp>
        <p:nvSpPr>
          <p:cNvPr id="29" name="Shape 27"/>
          <p:cNvSpPr/>
          <p:nvPr/>
        </p:nvSpPr>
        <p:spPr>
          <a:xfrm>
            <a:off x="2622709" y="5461040"/>
            <a:ext cx="350877" cy="350877"/>
          </a:xfrm>
          <a:prstGeom prst="roundRect">
            <a:avLst>
              <a:gd name="adj" fmla="val 10859"/>
            </a:avLst>
          </a:prstGeom>
          <a:solidFill>
            <a:srgbClr val="DCE8F5"/>
          </a:solidFill>
          <a:ln/>
        </p:spPr>
      </p:sp>
      <p:sp>
        <p:nvSpPr>
          <p:cNvPr id="30" name="Shape 28"/>
          <p:cNvSpPr/>
          <p:nvPr/>
        </p:nvSpPr>
        <p:spPr>
          <a:xfrm>
            <a:off x="3040261" y="5461040"/>
            <a:ext cx="350877" cy="350877"/>
          </a:xfrm>
          <a:prstGeom prst="roundRect">
            <a:avLst>
              <a:gd name="adj" fmla="val 10859"/>
            </a:avLst>
          </a:prstGeom>
          <a:solidFill>
            <a:srgbClr val="DCE8F5"/>
          </a:solidFill>
          <a:ln/>
        </p:spPr>
      </p:sp>
      <p:sp>
        <p:nvSpPr>
          <p:cNvPr id="31" name="Shape 29"/>
          <p:cNvSpPr/>
          <p:nvPr/>
        </p:nvSpPr>
        <p:spPr>
          <a:xfrm>
            <a:off x="3457813" y="5461040"/>
            <a:ext cx="350877" cy="350877"/>
          </a:xfrm>
          <a:prstGeom prst="roundRect">
            <a:avLst>
              <a:gd name="adj" fmla="val 10859"/>
            </a:avLst>
          </a:prstGeom>
          <a:solidFill>
            <a:srgbClr val="DCE8F5"/>
          </a:solidFill>
          <a:ln/>
        </p:spPr>
      </p:sp>
      <p:sp>
        <p:nvSpPr>
          <p:cNvPr id="32" name="Shape 30"/>
          <p:cNvSpPr/>
          <p:nvPr/>
        </p:nvSpPr>
        <p:spPr>
          <a:xfrm>
            <a:off x="3875365" y="5461040"/>
            <a:ext cx="350877" cy="350877"/>
          </a:xfrm>
          <a:prstGeom prst="roundRect">
            <a:avLst>
              <a:gd name="adj" fmla="val 10859"/>
            </a:avLst>
          </a:prstGeom>
          <a:solidFill>
            <a:srgbClr val="DCE8F5"/>
          </a:solidFill>
          <a:ln/>
        </p:spPr>
      </p:sp>
      <p:sp>
        <p:nvSpPr>
          <p:cNvPr id="33" name="Shape 31"/>
          <p:cNvSpPr/>
          <p:nvPr/>
        </p:nvSpPr>
        <p:spPr>
          <a:xfrm>
            <a:off x="4292918" y="5461040"/>
            <a:ext cx="350877" cy="350877"/>
          </a:xfrm>
          <a:prstGeom prst="roundRect">
            <a:avLst>
              <a:gd name="adj" fmla="val 10859"/>
            </a:avLst>
          </a:prstGeom>
          <a:solidFill>
            <a:srgbClr val="DCE8F5"/>
          </a:solidFill>
          <a:ln/>
        </p:spPr>
      </p:sp>
      <p:sp>
        <p:nvSpPr>
          <p:cNvPr id="34" name="Shape 32"/>
          <p:cNvSpPr/>
          <p:nvPr/>
        </p:nvSpPr>
        <p:spPr>
          <a:xfrm>
            <a:off x="4710470" y="5461040"/>
            <a:ext cx="350877" cy="350877"/>
          </a:xfrm>
          <a:prstGeom prst="roundRect">
            <a:avLst>
              <a:gd name="adj" fmla="val 10859"/>
            </a:avLst>
          </a:prstGeom>
          <a:solidFill>
            <a:srgbClr val="0086C9"/>
          </a:solidFill>
          <a:ln/>
        </p:spPr>
      </p:sp>
      <p:sp>
        <p:nvSpPr>
          <p:cNvPr id="35" name="Shape 33"/>
          <p:cNvSpPr/>
          <p:nvPr/>
        </p:nvSpPr>
        <p:spPr>
          <a:xfrm>
            <a:off x="5128022" y="5461040"/>
            <a:ext cx="350877" cy="350877"/>
          </a:xfrm>
          <a:prstGeom prst="roundRect">
            <a:avLst>
              <a:gd name="adj" fmla="val 10859"/>
            </a:avLst>
          </a:prstGeom>
          <a:solidFill>
            <a:srgbClr val="DCE8F5"/>
          </a:solidFill>
          <a:ln/>
        </p:spPr>
      </p:sp>
      <p:sp>
        <p:nvSpPr>
          <p:cNvPr id="36" name="Shape 34"/>
          <p:cNvSpPr/>
          <p:nvPr/>
        </p:nvSpPr>
        <p:spPr>
          <a:xfrm>
            <a:off x="5545574" y="5461040"/>
            <a:ext cx="350877" cy="350877"/>
          </a:xfrm>
          <a:prstGeom prst="roundRect">
            <a:avLst>
              <a:gd name="adj" fmla="val 10859"/>
            </a:avLst>
          </a:prstGeom>
          <a:solidFill>
            <a:srgbClr val="DCE8F5"/>
          </a:solidFill>
          <a:ln/>
        </p:spPr>
      </p:sp>
      <p:sp>
        <p:nvSpPr>
          <p:cNvPr id="37" name="Shape 35"/>
          <p:cNvSpPr/>
          <p:nvPr/>
        </p:nvSpPr>
        <p:spPr>
          <a:xfrm>
            <a:off x="5963126" y="5461040"/>
            <a:ext cx="350877" cy="350877"/>
          </a:xfrm>
          <a:prstGeom prst="roundRect">
            <a:avLst>
              <a:gd name="adj" fmla="val 10859"/>
            </a:avLst>
          </a:prstGeom>
          <a:solidFill>
            <a:srgbClr val="DCE8F5"/>
          </a:solidFill>
          <a:ln/>
        </p:spPr>
      </p:sp>
      <p:sp>
        <p:nvSpPr>
          <p:cNvPr id="38" name="Shape 36"/>
          <p:cNvSpPr/>
          <p:nvPr/>
        </p:nvSpPr>
        <p:spPr>
          <a:xfrm>
            <a:off x="6380679" y="5461040"/>
            <a:ext cx="350877" cy="350877"/>
          </a:xfrm>
          <a:prstGeom prst="roundRect">
            <a:avLst>
              <a:gd name="adj" fmla="val 10859"/>
            </a:avLst>
          </a:prstGeom>
          <a:solidFill>
            <a:srgbClr val="DCE8F5"/>
          </a:solidFill>
          <a:ln/>
        </p:spPr>
      </p:sp>
      <p:sp>
        <p:nvSpPr>
          <p:cNvPr id="39" name="Shape 37"/>
          <p:cNvSpPr/>
          <p:nvPr/>
        </p:nvSpPr>
        <p:spPr>
          <a:xfrm>
            <a:off x="6798231" y="5461040"/>
            <a:ext cx="350877" cy="350877"/>
          </a:xfrm>
          <a:prstGeom prst="roundRect">
            <a:avLst>
              <a:gd name="adj" fmla="val 10859"/>
            </a:avLst>
          </a:prstGeom>
          <a:solidFill>
            <a:srgbClr val="DCE8F5"/>
          </a:solidFill>
          <a:ln/>
        </p:spPr>
      </p:sp>
      <p:sp>
        <p:nvSpPr>
          <p:cNvPr id="40" name="Shape 38"/>
          <p:cNvSpPr/>
          <p:nvPr/>
        </p:nvSpPr>
        <p:spPr>
          <a:xfrm>
            <a:off x="7215783" y="5461040"/>
            <a:ext cx="350877" cy="350877"/>
          </a:xfrm>
          <a:prstGeom prst="roundRect">
            <a:avLst>
              <a:gd name="adj" fmla="val 10859"/>
            </a:avLst>
          </a:prstGeom>
          <a:solidFill>
            <a:srgbClr val="DCE8F5"/>
          </a:solidFill>
          <a:ln/>
        </p:spPr>
      </p:sp>
      <p:sp>
        <p:nvSpPr>
          <p:cNvPr id="41" name="Shape 39"/>
          <p:cNvSpPr/>
          <p:nvPr/>
        </p:nvSpPr>
        <p:spPr>
          <a:xfrm>
            <a:off x="7633335" y="5461040"/>
            <a:ext cx="350877" cy="350877"/>
          </a:xfrm>
          <a:prstGeom prst="roundRect">
            <a:avLst>
              <a:gd name="adj" fmla="val 10859"/>
            </a:avLst>
          </a:prstGeom>
          <a:solidFill>
            <a:srgbClr val="DCE8F5"/>
          </a:solidFill>
          <a:ln/>
        </p:spPr>
      </p:sp>
      <p:sp>
        <p:nvSpPr>
          <p:cNvPr id="42" name="Shape 40"/>
          <p:cNvSpPr/>
          <p:nvPr/>
        </p:nvSpPr>
        <p:spPr>
          <a:xfrm>
            <a:off x="8050887" y="5461040"/>
            <a:ext cx="350877" cy="350877"/>
          </a:xfrm>
          <a:prstGeom prst="roundRect">
            <a:avLst>
              <a:gd name="adj" fmla="val 10859"/>
            </a:avLst>
          </a:prstGeom>
          <a:solidFill>
            <a:srgbClr val="DCE8F5"/>
          </a:solidFill>
          <a:ln/>
        </p:spPr>
      </p:sp>
      <p:sp>
        <p:nvSpPr>
          <p:cNvPr id="43" name="Shape 41"/>
          <p:cNvSpPr/>
          <p:nvPr/>
        </p:nvSpPr>
        <p:spPr>
          <a:xfrm>
            <a:off x="8468439" y="5461040"/>
            <a:ext cx="350877" cy="350877"/>
          </a:xfrm>
          <a:prstGeom prst="roundRect">
            <a:avLst>
              <a:gd name="adj" fmla="val 10859"/>
            </a:avLst>
          </a:prstGeom>
          <a:solidFill>
            <a:srgbClr val="0086C9"/>
          </a:solidFill>
          <a:ln/>
        </p:spPr>
      </p:sp>
      <p:sp>
        <p:nvSpPr>
          <p:cNvPr id="44" name="Shape 42"/>
          <p:cNvSpPr/>
          <p:nvPr/>
        </p:nvSpPr>
        <p:spPr>
          <a:xfrm>
            <a:off x="8885992" y="5461040"/>
            <a:ext cx="350877" cy="350877"/>
          </a:xfrm>
          <a:prstGeom prst="roundRect">
            <a:avLst>
              <a:gd name="adj" fmla="val 10859"/>
            </a:avLst>
          </a:prstGeom>
          <a:solidFill>
            <a:srgbClr val="DCE8F5"/>
          </a:solidFill>
          <a:ln/>
        </p:spPr>
      </p:sp>
      <p:sp>
        <p:nvSpPr>
          <p:cNvPr id="45" name="Shape 43"/>
          <p:cNvSpPr/>
          <p:nvPr/>
        </p:nvSpPr>
        <p:spPr>
          <a:xfrm>
            <a:off x="952500" y="5878592"/>
            <a:ext cx="350877" cy="350877"/>
          </a:xfrm>
          <a:prstGeom prst="roundRect">
            <a:avLst>
              <a:gd name="adj" fmla="val 10859"/>
            </a:avLst>
          </a:prstGeom>
          <a:solidFill>
            <a:srgbClr val="DCE8F5"/>
          </a:solidFill>
          <a:ln/>
        </p:spPr>
      </p:sp>
      <p:sp>
        <p:nvSpPr>
          <p:cNvPr id="46" name="Shape 44"/>
          <p:cNvSpPr/>
          <p:nvPr/>
        </p:nvSpPr>
        <p:spPr>
          <a:xfrm>
            <a:off x="1370052" y="5878592"/>
            <a:ext cx="350877" cy="350877"/>
          </a:xfrm>
          <a:prstGeom prst="roundRect">
            <a:avLst>
              <a:gd name="adj" fmla="val 10859"/>
            </a:avLst>
          </a:prstGeom>
          <a:solidFill>
            <a:srgbClr val="DCE8F5"/>
          </a:solidFill>
          <a:ln/>
        </p:spPr>
      </p:sp>
      <p:sp>
        <p:nvSpPr>
          <p:cNvPr id="47" name="Shape 45"/>
          <p:cNvSpPr/>
          <p:nvPr/>
        </p:nvSpPr>
        <p:spPr>
          <a:xfrm>
            <a:off x="1787604" y="5878592"/>
            <a:ext cx="350877" cy="350877"/>
          </a:xfrm>
          <a:prstGeom prst="roundRect">
            <a:avLst>
              <a:gd name="adj" fmla="val 10859"/>
            </a:avLst>
          </a:prstGeom>
          <a:solidFill>
            <a:srgbClr val="DCE8F5"/>
          </a:solidFill>
          <a:ln/>
        </p:spPr>
      </p:sp>
      <p:sp>
        <p:nvSpPr>
          <p:cNvPr id="48" name="Shape 46"/>
          <p:cNvSpPr/>
          <p:nvPr/>
        </p:nvSpPr>
        <p:spPr>
          <a:xfrm>
            <a:off x="2205157" y="5878592"/>
            <a:ext cx="350877" cy="350877"/>
          </a:xfrm>
          <a:prstGeom prst="roundRect">
            <a:avLst>
              <a:gd name="adj" fmla="val 10859"/>
            </a:avLst>
          </a:prstGeom>
          <a:solidFill>
            <a:srgbClr val="DCE8F5"/>
          </a:solidFill>
          <a:ln/>
        </p:spPr>
      </p:sp>
      <p:sp>
        <p:nvSpPr>
          <p:cNvPr id="49" name="Shape 47"/>
          <p:cNvSpPr/>
          <p:nvPr/>
        </p:nvSpPr>
        <p:spPr>
          <a:xfrm>
            <a:off x="2622709" y="5878592"/>
            <a:ext cx="350877" cy="350877"/>
          </a:xfrm>
          <a:prstGeom prst="roundRect">
            <a:avLst>
              <a:gd name="adj" fmla="val 10859"/>
            </a:avLst>
          </a:prstGeom>
          <a:solidFill>
            <a:srgbClr val="DCE8F5"/>
          </a:solidFill>
          <a:ln/>
        </p:spPr>
      </p:sp>
      <p:sp>
        <p:nvSpPr>
          <p:cNvPr id="50" name="Shape 48"/>
          <p:cNvSpPr/>
          <p:nvPr/>
        </p:nvSpPr>
        <p:spPr>
          <a:xfrm>
            <a:off x="3040261" y="5878592"/>
            <a:ext cx="350877" cy="350877"/>
          </a:xfrm>
          <a:prstGeom prst="roundRect">
            <a:avLst>
              <a:gd name="adj" fmla="val 10859"/>
            </a:avLst>
          </a:prstGeom>
          <a:solidFill>
            <a:srgbClr val="0086C9"/>
          </a:solidFill>
          <a:ln/>
        </p:spPr>
      </p:sp>
      <p:sp>
        <p:nvSpPr>
          <p:cNvPr id="51" name="Shape 49"/>
          <p:cNvSpPr/>
          <p:nvPr/>
        </p:nvSpPr>
        <p:spPr>
          <a:xfrm>
            <a:off x="3457813" y="5878592"/>
            <a:ext cx="350877" cy="350877"/>
          </a:xfrm>
          <a:prstGeom prst="roundRect">
            <a:avLst>
              <a:gd name="adj" fmla="val 10859"/>
            </a:avLst>
          </a:prstGeom>
          <a:solidFill>
            <a:srgbClr val="DCE8F5"/>
          </a:solidFill>
          <a:ln/>
        </p:spPr>
      </p:sp>
      <p:sp>
        <p:nvSpPr>
          <p:cNvPr id="52" name="Shape 50"/>
          <p:cNvSpPr/>
          <p:nvPr/>
        </p:nvSpPr>
        <p:spPr>
          <a:xfrm>
            <a:off x="3875365" y="5878592"/>
            <a:ext cx="350877" cy="350877"/>
          </a:xfrm>
          <a:prstGeom prst="roundRect">
            <a:avLst>
              <a:gd name="adj" fmla="val 10859"/>
            </a:avLst>
          </a:prstGeom>
          <a:solidFill>
            <a:srgbClr val="DCE8F5"/>
          </a:solidFill>
          <a:ln/>
        </p:spPr>
      </p:sp>
      <p:sp>
        <p:nvSpPr>
          <p:cNvPr id="53" name="Shape 51"/>
          <p:cNvSpPr/>
          <p:nvPr/>
        </p:nvSpPr>
        <p:spPr>
          <a:xfrm>
            <a:off x="4292918" y="5878592"/>
            <a:ext cx="350877" cy="350877"/>
          </a:xfrm>
          <a:prstGeom prst="roundRect">
            <a:avLst>
              <a:gd name="adj" fmla="val 10859"/>
            </a:avLst>
          </a:prstGeom>
          <a:solidFill>
            <a:srgbClr val="DCE8F5"/>
          </a:solidFill>
          <a:ln/>
        </p:spPr>
      </p:sp>
      <p:sp>
        <p:nvSpPr>
          <p:cNvPr id="54" name="Shape 52"/>
          <p:cNvSpPr/>
          <p:nvPr/>
        </p:nvSpPr>
        <p:spPr>
          <a:xfrm>
            <a:off x="4710470" y="5878592"/>
            <a:ext cx="350877" cy="350877"/>
          </a:xfrm>
          <a:prstGeom prst="roundRect">
            <a:avLst>
              <a:gd name="adj" fmla="val 10859"/>
            </a:avLst>
          </a:prstGeom>
          <a:solidFill>
            <a:srgbClr val="DCE8F5"/>
          </a:solidFill>
          <a:ln/>
        </p:spPr>
      </p:sp>
      <p:sp>
        <p:nvSpPr>
          <p:cNvPr id="55" name="Shape 53"/>
          <p:cNvSpPr/>
          <p:nvPr/>
        </p:nvSpPr>
        <p:spPr>
          <a:xfrm>
            <a:off x="5128022" y="5878592"/>
            <a:ext cx="350877" cy="350877"/>
          </a:xfrm>
          <a:prstGeom prst="roundRect">
            <a:avLst>
              <a:gd name="adj" fmla="val 10859"/>
            </a:avLst>
          </a:prstGeom>
          <a:solidFill>
            <a:srgbClr val="DCE8F5"/>
          </a:solidFill>
          <a:ln/>
        </p:spPr>
      </p:sp>
      <p:sp>
        <p:nvSpPr>
          <p:cNvPr id="56" name="Shape 54"/>
          <p:cNvSpPr/>
          <p:nvPr/>
        </p:nvSpPr>
        <p:spPr>
          <a:xfrm>
            <a:off x="5545574" y="5878592"/>
            <a:ext cx="350877" cy="350877"/>
          </a:xfrm>
          <a:prstGeom prst="roundRect">
            <a:avLst>
              <a:gd name="adj" fmla="val 10859"/>
            </a:avLst>
          </a:prstGeom>
          <a:solidFill>
            <a:srgbClr val="DCE8F5"/>
          </a:solidFill>
          <a:ln/>
        </p:spPr>
      </p:sp>
      <p:sp>
        <p:nvSpPr>
          <p:cNvPr id="57" name="Shape 55"/>
          <p:cNvSpPr/>
          <p:nvPr/>
        </p:nvSpPr>
        <p:spPr>
          <a:xfrm>
            <a:off x="5963126" y="5878592"/>
            <a:ext cx="350877" cy="350877"/>
          </a:xfrm>
          <a:prstGeom prst="roundRect">
            <a:avLst>
              <a:gd name="adj" fmla="val 10859"/>
            </a:avLst>
          </a:prstGeom>
          <a:solidFill>
            <a:srgbClr val="DCE8F5"/>
          </a:solidFill>
          <a:ln/>
        </p:spPr>
      </p:sp>
      <p:sp>
        <p:nvSpPr>
          <p:cNvPr id="58" name="Shape 56"/>
          <p:cNvSpPr/>
          <p:nvPr/>
        </p:nvSpPr>
        <p:spPr>
          <a:xfrm>
            <a:off x="6380679" y="5878592"/>
            <a:ext cx="350877" cy="350877"/>
          </a:xfrm>
          <a:prstGeom prst="roundRect">
            <a:avLst>
              <a:gd name="adj" fmla="val 10859"/>
            </a:avLst>
          </a:prstGeom>
          <a:solidFill>
            <a:srgbClr val="DCE8F5"/>
          </a:solidFill>
          <a:ln/>
        </p:spPr>
      </p:sp>
      <p:sp>
        <p:nvSpPr>
          <p:cNvPr id="59" name="Shape 57"/>
          <p:cNvSpPr/>
          <p:nvPr/>
        </p:nvSpPr>
        <p:spPr>
          <a:xfrm>
            <a:off x="6798231" y="5878592"/>
            <a:ext cx="350877" cy="350877"/>
          </a:xfrm>
          <a:prstGeom prst="roundRect">
            <a:avLst>
              <a:gd name="adj" fmla="val 10859"/>
            </a:avLst>
          </a:prstGeom>
          <a:solidFill>
            <a:srgbClr val="DCE8F5"/>
          </a:solidFill>
          <a:ln/>
        </p:spPr>
      </p:sp>
      <p:sp>
        <p:nvSpPr>
          <p:cNvPr id="60" name="Shape 58"/>
          <p:cNvSpPr/>
          <p:nvPr/>
        </p:nvSpPr>
        <p:spPr>
          <a:xfrm>
            <a:off x="7215783" y="5878592"/>
            <a:ext cx="350877" cy="350877"/>
          </a:xfrm>
          <a:prstGeom prst="roundRect">
            <a:avLst>
              <a:gd name="adj" fmla="val 10859"/>
            </a:avLst>
          </a:prstGeom>
          <a:solidFill>
            <a:srgbClr val="DCE8F5"/>
          </a:solidFill>
          <a:ln/>
        </p:spPr>
      </p:sp>
      <p:sp>
        <p:nvSpPr>
          <p:cNvPr id="61" name="Shape 59"/>
          <p:cNvSpPr/>
          <p:nvPr/>
        </p:nvSpPr>
        <p:spPr>
          <a:xfrm>
            <a:off x="7633335" y="5878592"/>
            <a:ext cx="350877" cy="350877"/>
          </a:xfrm>
          <a:prstGeom prst="roundRect">
            <a:avLst>
              <a:gd name="adj" fmla="val 10859"/>
            </a:avLst>
          </a:prstGeom>
          <a:solidFill>
            <a:srgbClr val="DCE8F5"/>
          </a:solidFill>
          <a:ln/>
        </p:spPr>
      </p:sp>
      <p:sp>
        <p:nvSpPr>
          <p:cNvPr id="62" name="Shape 60"/>
          <p:cNvSpPr/>
          <p:nvPr/>
        </p:nvSpPr>
        <p:spPr>
          <a:xfrm>
            <a:off x="8050887" y="5878592"/>
            <a:ext cx="350877" cy="350877"/>
          </a:xfrm>
          <a:prstGeom prst="roundRect">
            <a:avLst>
              <a:gd name="adj" fmla="val 10859"/>
            </a:avLst>
          </a:prstGeom>
          <a:solidFill>
            <a:srgbClr val="DCE8F5"/>
          </a:solidFill>
          <a:ln/>
        </p:spPr>
      </p:sp>
      <p:sp>
        <p:nvSpPr>
          <p:cNvPr id="63" name="Shape 61"/>
          <p:cNvSpPr/>
          <p:nvPr/>
        </p:nvSpPr>
        <p:spPr>
          <a:xfrm>
            <a:off x="8468439" y="5878592"/>
            <a:ext cx="350877" cy="350877"/>
          </a:xfrm>
          <a:prstGeom prst="roundRect">
            <a:avLst>
              <a:gd name="adj" fmla="val 10859"/>
            </a:avLst>
          </a:prstGeom>
          <a:solidFill>
            <a:srgbClr val="DCE8F5"/>
          </a:solidFill>
          <a:ln/>
        </p:spPr>
      </p:sp>
      <p:sp>
        <p:nvSpPr>
          <p:cNvPr id="64" name="Shape 62"/>
          <p:cNvSpPr/>
          <p:nvPr/>
        </p:nvSpPr>
        <p:spPr>
          <a:xfrm>
            <a:off x="8885992" y="5878592"/>
            <a:ext cx="350877" cy="350877"/>
          </a:xfrm>
          <a:prstGeom prst="roundRect">
            <a:avLst>
              <a:gd name="adj" fmla="val 10859"/>
            </a:avLst>
          </a:prstGeom>
          <a:solidFill>
            <a:srgbClr val="DCE8F5"/>
          </a:solidFill>
          <a:ln/>
        </p:spPr>
      </p:sp>
      <p:sp>
        <p:nvSpPr>
          <p:cNvPr id="65" name="Shape 63"/>
          <p:cNvSpPr/>
          <p:nvPr/>
        </p:nvSpPr>
        <p:spPr>
          <a:xfrm>
            <a:off x="952500" y="6296144"/>
            <a:ext cx="350877" cy="350877"/>
          </a:xfrm>
          <a:prstGeom prst="roundRect">
            <a:avLst>
              <a:gd name="adj" fmla="val 10859"/>
            </a:avLst>
          </a:prstGeom>
          <a:solidFill>
            <a:srgbClr val="DCE8F5"/>
          </a:solidFill>
          <a:ln/>
        </p:spPr>
      </p:sp>
      <p:sp>
        <p:nvSpPr>
          <p:cNvPr id="66" name="Shape 64"/>
          <p:cNvSpPr/>
          <p:nvPr/>
        </p:nvSpPr>
        <p:spPr>
          <a:xfrm>
            <a:off x="1370052" y="6296144"/>
            <a:ext cx="350877" cy="350877"/>
          </a:xfrm>
          <a:prstGeom prst="roundRect">
            <a:avLst>
              <a:gd name="adj" fmla="val 10859"/>
            </a:avLst>
          </a:prstGeom>
          <a:solidFill>
            <a:srgbClr val="0086C9"/>
          </a:solidFill>
          <a:ln/>
        </p:spPr>
      </p:sp>
      <p:sp>
        <p:nvSpPr>
          <p:cNvPr id="67" name="Shape 65"/>
          <p:cNvSpPr/>
          <p:nvPr/>
        </p:nvSpPr>
        <p:spPr>
          <a:xfrm>
            <a:off x="1787604" y="6296144"/>
            <a:ext cx="350877" cy="350877"/>
          </a:xfrm>
          <a:prstGeom prst="roundRect">
            <a:avLst>
              <a:gd name="adj" fmla="val 10859"/>
            </a:avLst>
          </a:prstGeom>
          <a:solidFill>
            <a:srgbClr val="DCE8F5"/>
          </a:solidFill>
          <a:ln/>
        </p:spPr>
      </p:sp>
      <p:sp>
        <p:nvSpPr>
          <p:cNvPr id="68" name="Shape 66"/>
          <p:cNvSpPr/>
          <p:nvPr/>
        </p:nvSpPr>
        <p:spPr>
          <a:xfrm>
            <a:off x="2205157" y="6296144"/>
            <a:ext cx="350877" cy="350877"/>
          </a:xfrm>
          <a:prstGeom prst="roundRect">
            <a:avLst>
              <a:gd name="adj" fmla="val 10859"/>
            </a:avLst>
          </a:prstGeom>
          <a:solidFill>
            <a:srgbClr val="DCE8F5"/>
          </a:solidFill>
          <a:ln/>
        </p:spPr>
      </p:sp>
      <p:sp>
        <p:nvSpPr>
          <p:cNvPr id="69" name="Shape 67"/>
          <p:cNvSpPr/>
          <p:nvPr/>
        </p:nvSpPr>
        <p:spPr>
          <a:xfrm>
            <a:off x="2622709" y="6296144"/>
            <a:ext cx="350877" cy="350877"/>
          </a:xfrm>
          <a:prstGeom prst="roundRect">
            <a:avLst>
              <a:gd name="adj" fmla="val 10859"/>
            </a:avLst>
          </a:prstGeom>
          <a:solidFill>
            <a:srgbClr val="DCE8F5"/>
          </a:solidFill>
          <a:ln/>
        </p:spPr>
      </p:sp>
      <p:sp>
        <p:nvSpPr>
          <p:cNvPr id="70" name="Shape 68"/>
          <p:cNvSpPr/>
          <p:nvPr/>
        </p:nvSpPr>
        <p:spPr>
          <a:xfrm>
            <a:off x="3040261" y="6296144"/>
            <a:ext cx="350877" cy="350877"/>
          </a:xfrm>
          <a:prstGeom prst="roundRect">
            <a:avLst>
              <a:gd name="adj" fmla="val 10859"/>
            </a:avLst>
          </a:prstGeom>
          <a:solidFill>
            <a:srgbClr val="DCE8F5"/>
          </a:solidFill>
          <a:ln/>
        </p:spPr>
      </p:sp>
      <p:sp>
        <p:nvSpPr>
          <p:cNvPr id="71" name="Shape 69"/>
          <p:cNvSpPr/>
          <p:nvPr/>
        </p:nvSpPr>
        <p:spPr>
          <a:xfrm>
            <a:off x="3457813" y="6296144"/>
            <a:ext cx="350877" cy="350877"/>
          </a:xfrm>
          <a:prstGeom prst="roundRect">
            <a:avLst>
              <a:gd name="adj" fmla="val 10859"/>
            </a:avLst>
          </a:prstGeom>
          <a:solidFill>
            <a:srgbClr val="DCE8F5"/>
          </a:solidFill>
          <a:ln/>
        </p:spPr>
      </p:sp>
      <p:sp>
        <p:nvSpPr>
          <p:cNvPr id="72" name="Shape 70"/>
          <p:cNvSpPr/>
          <p:nvPr/>
        </p:nvSpPr>
        <p:spPr>
          <a:xfrm>
            <a:off x="3875365" y="6296144"/>
            <a:ext cx="350877" cy="350877"/>
          </a:xfrm>
          <a:prstGeom prst="roundRect">
            <a:avLst>
              <a:gd name="adj" fmla="val 10859"/>
            </a:avLst>
          </a:prstGeom>
          <a:solidFill>
            <a:srgbClr val="DCE8F5"/>
          </a:solidFill>
          <a:ln/>
        </p:spPr>
      </p:sp>
      <p:sp>
        <p:nvSpPr>
          <p:cNvPr id="73" name="Shape 71"/>
          <p:cNvSpPr/>
          <p:nvPr/>
        </p:nvSpPr>
        <p:spPr>
          <a:xfrm>
            <a:off x="4292918" y="6296144"/>
            <a:ext cx="350877" cy="350877"/>
          </a:xfrm>
          <a:prstGeom prst="roundRect">
            <a:avLst>
              <a:gd name="adj" fmla="val 10859"/>
            </a:avLst>
          </a:prstGeom>
          <a:solidFill>
            <a:srgbClr val="DCE8F5"/>
          </a:solidFill>
          <a:ln/>
        </p:spPr>
      </p:sp>
      <p:sp>
        <p:nvSpPr>
          <p:cNvPr id="74" name="Shape 72"/>
          <p:cNvSpPr/>
          <p:nvPr/>
        </p:nvSpPr>
        <p:spPr>
          <a:xfrm>
            <a:off x="4710470" y="6296144"/>
            <a:ext cx="350877" cy="350877"/>
          </a:xfrm>
          <a:prstGeom prst="roundRect">
            <a:avLst>
              <a:gd name="adj" fmla="val 10859"/>
            </a:avLst>
          </a:prstGeom>
          <a:solidFill>
            <a:srgbClr val="DCE8F5"/>
          </a:solidFill>
          <a:ln/>
        </p:spPr>
      </p:sp>
      <p:sp>
        <p:nvSpPr>
          <p:cNvPr id="75" name="Shape 73"/>
          <p:cNvSpPr/>
          <p:nvPr/>
        </p:nvSpPr>
        <p:spPr>
          <a:xfrm>
            <a:off x="5128022" y="6296144"/>
            <a:ext cx="350877" cy="350877"/>
          </a:xfrm>
          <a:prstGeom prst="roundRect">
            <a:avLst>
              <a:gd name="adj" fmla="val 10859"/>
            </a:avLst>
          </a:prstGeom>
          <a:solidFill>
            <a:srgbClr val="DCE8F5"/>
          </a:solidFill>
          <a:ln/>
        </p:spPr>
      </p:sp>
      <p:sp>
        <p:nvSpPr>
          <p:cNvPr id="76" name="Shape 74"/>
          <p:cNvSpPr/>
          <p:nvPr/>
        </p:nvSpPr>
        <p:spPr>
          <a:xfrm>
            <a:off x="5545574" y="6296144"/>
            <a:ext cx="350877" cy="350877"/>
          </a:xfrm>
          <a:prstGeom prst="roundRect">
            <a:avLst>
              <a:gd name="adj" fmla="val 10859"/>
            </a:avLst>
          </a:prstGeom>
          <a:solidFill>
            <a:srgbClr val="DCE8F5"/>
          </a:solidFill>
          <a:ln/>
        </p:spPr>
      </p:sp>
      <p:sp>
        <p:nvSpPr>
          <p:cNvPr id="77" name="Shape 75"/>
          <p:cNvSpPr/>
          <p:nvPr/>
        </p:nvSpPr>
        <p:spPr>
          <a:xfrm>
            <a:off x="5963126" y="6296144"/>
            <a:ext cx="350877" cy="350877"/>
          </a:xfrm>
          <a:prstGeom prst="roundRect">
            <a:avLst>
              <a:gd name="adj" fmla="val 10859"/>
            </a:avLst>
          </a:prstGeom>
          <a:solidFill>
            <a:srgbClr val="DCE8F5"/>
          </a:solidFill>
          <a:ln/>
        </p:spPr>
      </p:sp>
      <p:sp>
        <p:nvSpPr>
          <p:cNvPr id="78" name="Shape 76"/>
          <p:cNvSpPr/>
          <p:nvPr/>
        </p:nvSpPr>
        <p:spPr>
          <a:xfrm>
            <a:off x="6380679" y="6296144"/>
            <a:ext cx="350877" cy="350877"/>
          </a:xfrm>
          <a:prstGeom prst="roundRect">
            <a:avLst>
              <a:gd name="adj" fmla="val 10859"/>
            </a:avLst>
          </a:prstGeom>
          <a:solidFill>
            <a:srgbClr val="DCE8F5"/>
          </a:solidFill>
          <a:ln/>
        </p:spPr>
      </p:sp>
      <p:sp>
        <p:nvSpPr>
          <p:cNvPr id="79" name="Shape 77"/>
          <p:cNvSpPr/>
          <p:nvPr/>
        </p:nvSpPr>
        <p:spPr>
          <a:xfrm>
            <a:off x="6798231" y="6296144"/>
            <a:ext cx="350877" cy="350877"/>
          </a:xfrm>
          <a:prstGeom prst="roundRect">
            <a:avLst>
              <a:gd name="adj" fmla="val 10859"/>
            </a:avLst>
          </a:prstGeom>
          <a:solidFill>
            <a:srgbClr val="0086C9"/>
          </a:solidFill>
          <a:ln/>
        </p:spPr>
      </p:sp>
      <p:sp>
        <p:nvSpPr>
          <p:cNvPr id="80" name="Shape 78"/>
          <p:cNvSpPr/>
          <p:nvPr/>
        </p:nvSpPr>
        <p:spPr>
          <a:xfrm>
            <a:off x="7215783" y="6296144"/>
            <a:ext cx="350877" cy="350877"/>
          </a:xfrm>
          <a:prstGeom prst="roundRect">
            <a:avLst>
              <a:gd name="adj" fmla="val 10859"/>
            </a:avLst>
          </a:prstGeom>
          <a:solidFill>
            <a:srgbClr val="DCE8F5"/>
          </a:solidFill>
          <a:ln/>
        </p:spPr>
      </p:sp>
      <p:sp>
        <p:nvSpPr>
          <p:cNvPr id="81" name="Shape 79"/>
          <p:cNvSpPr/>
          <p:nvPr/>
        </p:nvSpPr>
        <p:spPr>
          <a:xfrm>
            <a:off x="7633335" y="6296144"/>
            <a:ext cx="350877" cy="350877"/>
          </a:xfrm>
          <a:prstGeom prst="roundRect">
            <a:avLst>
              <a:gd name="adj" fmla="val 10859"/>
            </a:avLst>
          </a:prstGeom>
          <a:solidFill>
            <a:srgbClr val="DCE8F5"/>
          </a:solidFill>
          <a:ln/>
        </p:spPr>
      </p:sp>
      <p:sp>
        <p:nvSpPr>
          <p:cNvPr id="82" name="Shape 80"/>
          <p:cNvSpPr/>
          <p:nvPr/>
        </p:nvSpPr>
        <p:spPr>
          <a:xfrm>
            <a:off x="8050887" y="6296144"/>
            <a:ext cx="350877" cy="350877"/>
          </a:xfrm>
          <a:prstGeom prst="roundRect">
            <a:avLst>
              <a:gd name="adj" fmla="val 10859"/>
            </a:avLst>
          </a:prstGeom>
          <a:solidFill>
            <a:srgbClr val="DCE8F5"/>
          </a:solidFill>
          <a:ln/>
        </p:spPr>
      </p:sp>
      <p:sp>
        <p:nvSpPr>
          <p:cNvPr id="83" name="Shape 81"/>
          <p:cNvSpPr/>
          <p:nvPr/>
        </p:nvSpPr>
        <p:spPr>
          <a:xfrm>
            <a:off x="8468439" y="6296144"/>
            <a:ext cx="350877" cy="350877"/>
          </a:xfrm>
          <a:prstGeom prst="roundRect">
            <a:avLst>
              <a:gd name="adj" fmla="val 10859"/>
            </a:avLst>
          </a:prstGeom>
          <a:solidFill>
            <a:srgbClr val="DCE8F5"/>
          </a:solidFill>
          <a:ln/>
        </p:spPr>
      </p:sp>
      <p:sp>
        <p:nvSpPr>
          <p:cNvPr id="84" name="Shape 82"/>
          <p:cNvSpPr/>
          <p:nvPr/>
        </p:nvSpPr>
        <p:spPr>
          <a:xfrm>
            <a:off x="8885992" y="6296144"/>
            <a:ext cx="350877" cy="350877"/>
          </a:xfrm>
          <a:prstGeom prst="roundRect">
            <a:avLst>
              <a:gd name="adj" fmla="val 10859"/>
            </a:avLst>
          </a:prstGeom>
          <a:solidFill>
            <a:srgbClr val="DCE8F5"/>
          </a:solidFill>
          <a:ln/>
        </p:spPr>
      </p:sp>
      <p:sp>
        <p:nvSpPr>
          <p:cNvPr id="85" name="Shape 83"/>
          <p:cNvSpPr/>
          <p:nvPr/>
        </p:nvSpPr>
        <p:spPr>
          <a:xfrm>
            <a:off x="952500" y="6713697"/>
            <a:ext cx="350877" cy="350877"/>
          </a:xfrm>
          <a:prstGeom prst="roundRect">
            <a:avLst>
              <a:gd name="adj" fmla="val 10859"/>
            </a:avLst>
          </a:prstGeom>
          <a:solidFill>
            <a:srgbClr val="DCE8F5"/>
          </a:solidFill>
          <a:ln/>
        </p:spPr>
      </p:sp>
      <p:sp>
        <p:nvSpPr>
          <p:cNvPr id="86" name="Shape 84"/>
          <p:cNvSpPr/>
          <p:nvPr/>
        </p:nvSpPr>
        <p:spPr>
          <a:xfrm>
            <a:off x="1370052" y="6713697"/>
            <a:ext cx="350877" cy="350877"/>
          </a:xfrm>
          <a:prstGeom prst="roundRect">
            <a:avLst>
              <a:gd name="adj" fmla="val 10859"/>
            </a:avLst>
          </a:prstGeom>
          <a:solidFill>
            <a:srgbClr val="DCE8F5"/>
          </a:solidFill>
          <a:ln/>
        </p:spPr>
      </p:sp>
      <p:sp>
        <p:nvSpPr>
          <p:cNvPr id="87" name="Shape 85"/>
          <p:cNvSpPr/>
          <p:nvPr/>
        </p:nvSpPr>
        <p:spPr>
          <a:xfrm>
            <a:off x="1787604" y="6713697"/>
            <a:ext cx="350877" cy="350877"/>
          </a:xfrm>
          <a:prstGeom prst="roundRect">
            <a:avLst>
              <a:gd name="adj" fmla="val 10859"/>
            </a:avLst>
          </a:prstGeom>
          <a:solidFill>
            <a:srgbClr val="DCE8F5"/>
          </a:solidFill>
          <a:ln/>
        </p:spPr>
      </p:sp>
      <p:sp>
        <p:nvSpPr>
          <p:cNvPr id="88" name="Shape 86"/>
          <p:cNvSpPr/>
          <p:nvPr/>
        </p:nvSpPr>
        <p:spPr>
          <a:xfrm>
            <a:off x="2205157" y="6713697"/>
            <a:ext cx="350877" cy="350877"/>
          </a:xfrm>
          <a:prstGeom prst="roundRect">
            <a:avLst>
              <a:gd name="adj" fmla="val 10859"/>
            </a:avLst>
          </a:prstGeom>
          <a:solidFill>
            <a:srgbClr val="DCE8F5"/>
          </a:solidFill>
          <a:ln/>
        </p:spPr>
      </p:sp>
      <p:sp>
        <p:nvSpPr>
          <p:cNvPr id="89" name="Shape 87"/>
          <p:cNvSpPr/>
          <p:nvPr/>
        </p:nvSpPr>
        <p:spPr>
          <a:xfrm>
            <a:off x="2622709" y="6713697"/>
            <a:ext cx="350877" cy="350877"/>
          </a:xfrm>
          <a:prstGeom prst="roundRect">
            <a:avLst>
              <a:gd name="adj" fmla="val 10859"/>
            </a:avLst>
          </a:prstGeom>
          <a:solidFill>
            <a:srgbClr val="DCE8F5"/>
          </a:solidFill>
          <a:ln/>
        </p:spPr>
      </p:sp>
      <p:sp>
        <p:nvSpPr>
          <p:cNvPr id="90" name="Shape 88"/>
          <p:cNvSpPr/>
          <p:nvPr/>
        </p:nvSpPr>
        <p:spPr>
          <a:xfrm>
            <a:off x="3040261" y="6713697"/>
            <a:ext cx="350877" cy="350877"/>
          </a:xfrm>
          <a:prstGeom prst="roundRect">
            <a:avLst>
              <a:gd name="adj" fmla="val 10859"/>
            </a:avLst>
          </a:prstGeom>
          <a:solidFill>
            <a:srgbClr val="DCE8F5"/>
          </a:solidFill>
          <a:ln/>
        </p:spPr>
      </p:sp>
      <p:sp>
        <p:nvSpPr>
          <p:cNvPr id="91" name="Shape 89"/>
          <p:cNvSpPr/>
          <p:nvPr/>
        </p:nvSpPr>
        <p:spPr>
          <a:xfrm>
            <a:off x="3457813" y="6713697"/>
            <a:ext cx="350877" cy="350877"/>
          </a:xfrm>
          <a:prstGeom prst="roundRect">
            <a:avLst>
              <a:gd name="adj" fmla="val 10859"/>
            </a:avLst>
          </a:prstGeom>
          <a:solidFill>
            <a:srgbClr val="DCE8F5"/>
          </a:solidFill>
          <a:ln/>
        </p:spPr>
      </p:sp>
      <p:sp>
        <p:nvSpPr>
          <p:cNvPr id="92" name="Shape 90"/>
          <p:cNvSpPr/>
          <p:nvPr/>
        </p:nvSpPr>
        <p:spPr>
          <a:xfrm>
            <a:off x="3875365" y="6713697"/>
            <a:ext cx="350877" cy="350877"/>
          </a:xfrm>
          <a:prstGeom prst="roundRect">
            <a:avLst>
              <a:gd name="adj" fmla="val 10859"/>
            </a:avLst>
          </a:prstGeom>
          <a:solidFill>
            <a:srgbClr val="DCE8F5"/>
          </a:solidFill>
          <a:ln/>
        </p:spPr>
      </p:sp>
      <p:sp>
        <p:nvSpPr>
          <p:cNvPr id="93" name="Shape 91"/>
          <p:cNvSpPr/>
          <p:nvPr/>
        </p:nvSpPr>
        <p:spPr>
          <a:xfrm>
            <a:off x="4292918" y="6713697"/>
            <a:ext cx="350877" cy="350877"/>
          </a:xfrm>
          <a:prstGeom prst="roundRect">
            <a:avLst>
              <a:gd name="adj" fmla="val 10859"/>
            </a:avLst>
          </a:prstGeom>
          <a:solidFill>
            <a:srgbClr val="DCE8F5"/>
          </a:solidFill>
          <a:ln/>
        </p:spPr>
      </p:sp>
      <p:sp>
        <p:nvSpPr>
          <p:cNvPr id="94" name="Shape 92"/>
          <p:cNvSpPr/>
          <p:nvPr/>
        </p:nvSpPr>
        <p:spPr>
          <a:xfrm>
            <a:off x="4710470" y="6713697"/>
            <a:ext cx="350877" cy="350877"/>
          </a:xfrm>
          <a:prstGeom prst="roundRect">
            <a:avLst>
              <a:gd name="adj" fmla="val 10859"/>
            </a:avLst>
          </a:prstGeom>
          <a:solidFill>
            <a:srgbClr val="DCE8F5"/>
          </a:solidFill>
          <a:ln/>
        </p:spPr>
      </p:sp>
      <p:sp>
        <p:nvSpPr>
          <p:cNvPr id="95" name="Shape 93"/>
          <p:cNvSpPr/>
          <p:nvPr/>
        </p:nvSpPr>
        <p:spPr>
          <a:xfrm>
            <a:off x="5128022" y="6713697"/>
            <a:ext cx="350877" cy="350877"/>
          </a:xfrm>
          <a:prstGeom prst="roundRect">
            <a:avLst>
              <a:gd name="adj" fmla="val 10859"/>
            </a:avLst>
          </a:prstGeom>
          <a:solidFill>
            <a:srgbClr val="DCE8F5"/>
          </a:solidFill>
          <a:ln/>
        </p:spPr>
      </p:sp>
      <p:sp>
        <p:nvSpPr>
          <p:cNvPr id="96" name="Shape 94"/>
          <p:cNvSpPr/>
          <p:nvPr/>
        </p:nvSpPr>
        <p:spPr>
          <a:xfrm>
            <a:off x="5545574" y="6713697"/>
            <a:ext cx="350877" cy="350877"/>
          </a:xfrm>
          <a:prstGeom prst="roundRect">
            <a:avLst>
              <a:gd name="adj" fmla="val 10859"/>
            </a:avLst>
          </a:prstGeom>
          <a:solidFill>
            <a:srgbClr val="DCE8F5"/>
          </a:solidFill>
          <a:ln/>
        </p:spPr>
      </p:sp>
      <p:sp>
        <p:nvSpPr>
          <p:cNvPr id="97" name="Shape 95"/>
          <p:cNvSpPr/>
          <p:nvPr/>
        </p:nvSpPr>
        <p:spPr>
          <a:xfrm>
            <a:off x="5963126" y="6713697"/>
            <a:ext cx="350877" cy="350877"/>
          </a:xfrm>
          <a:prstGeom prst="roundRect">
            <a:avLst>
              <a:gd name="adj" fmla="val 10859"/>
            </a:avLst>
          </a:prstGeom>
          <a:solidFill>
            <a:srgbClr val="DCE8F5"/>
          </a:solidFill>
          <a:ln/>
        </p:spPr>
      </p:sp>
      <p:sp>
        <p:nvSpPr>
          <p:cNvPr id="98" name="Shape 96"/>
          <p:cNvSpPr/>
          <p:nvPr/>
        </p:nvSpPr>
        <p:spPr>
          <a:xfrm>
            <a:off x="6380679" y="6713697"/>
            <a:ext cx="350877" cy="350877"/>
          </a:xfrm>
          <a:prstGeom prst="roundRect">
            <a:avLst>
              <a:gd name="adj" fmla="val 10859"/>
            </a:avLst>
          </a:prstGeom>
          <a:solidFill>
            <a:srgbClr val="DCE8F5"/>
          </a:solidFill>
          <a:ln/>
        </p:spPr>
      </p:sp>
      <p:sp>
        <p:nvSpPr>
          <p:cNvPr id="99" name="Shape 97"/>
          <p:cNvSpPr/>
          <p:nvPr/>
        </p:nvSpPr>
        <p:spPr>
          <a:xfrm>
            <a:off x="6798231" y="6713697"/>
            <a:ext cx="350877" cy="350877"/>
          </a:xfrm>
          <a:prstGeom prst="roundRect">
            <a:avLst>
              <a:gd name="adj" fmla="val 10859"/>
            </a:avLst>
          </a:prstGeom>
          <a:solidFill>
            <a:srgbClr val="DCE8F5"/>
          </a:solidFill>
          <a:ln/>
        </p:spPr>
      </p:sp>
      <p:sp>
        <p:nvSpPr>
          <p:cNvPr id="100" name="Shape 98"/>
          <p:cNvSpPr/>
          <p:nvPr/>
        </p:nvSpPr>
        <p:spPr>
          <a:xfrm>
            <a:off x="7215783" y="6713697"/>
            <a:ext cx="350877" cy="350877"/>
          </a:xfrm>
          <a:prstGeom prst="roundRect">
            <a:avLst>
              <a:gd name="adj" fmla="val 10859"/>
            </a:avLst>
          </a:prstGeom>
          <a:solidFill>
            <a:srgbClr val="DCE8F5"/>
          </a:solidFill>
          <a:ln/>
        </p:spPr>
      </p:sp>
      <p:sp>
        <p:nvSpPr>
          <p:cNvPr id="101" name="Shape 99"/>
          <p:cNvSpPr/>
          <p:nvPr/>
        </p:nvSpPr>
        <p:spPr>
          <a:xfrm>
            <a:off x="7633335" y="6713697"/>
            <a:ext cx="350877" cy="350877"/>
          </a:xfrm>
          <a:prstGeom prst="roundRect">
            <a:avLst>
              <a:gd name="adj" fmla="val 10859"/>
            </a:avLst>
          </a:prstGeom>
          <a:solidFill>
            <a:srgbClr val="DCE8F5"/>
          </a:solidFill>
          <a:ln/>
        </p:spPr>
      </p:sp>
      <p:sp>
        <p:nvSpPr>
          <p:cNvPr id="102" name="Shape 100"/>
          <p:cNvSpPr/>
          <p:nvPr/>
        </p:nvSpPr>
        <p:spPr>
          <a:xfrm>
            <a:off x="8050887" y="6713697"/>
            <a:ext cx="350877" cy="350877"/>
          </a:xfrm>
          <a:prstGeom prst="roundRect">
            <a:avLst>
              <a:gd name="adj" fmla="val 10859"/>
            </a:avLst>
          </a:prstGeom>
          <a:solidFill>
            <a:srgbClr val="DCE8F5"/>
          </a:solidFill>
          <a:ln/>
        </p:spPr>
      </p:sp>
      <p:sp>
        <p:nvSpPr>
          <p:cNvPr id="103" name="Shape 101"/>
          <p:cNvSpPr/>
          <p:nvPr/>
        </p:nvSpPr>
        <p:spPr>
          <a:xfrm>
            <a:off x="8468439" y="6713697"/>
            <a:ext cx="350877" cy="350877"/>
          </a:xfrm>
          <a:prstGeom prst="roundRect">
            <a:avLst>
              <a:gd name="adj" fmla="val 10859"/>
            </a:avLst>
          </a:prstGeom>
          <a:solidFill>
            <a:srgbClr val="DCE8F5"/>
          </a:solidFill>
          <a:ln/>
        </p:spPr>
      </p:sp>
      <p:sp>
        <p:nvSpPr>
          <p:cNvPr id="104" name="Shape 102"/>
          <p:cNvSpPr/>
          <p:nvPr/>
        </p:nvSpPr>
        <p:spPr>
          <a:xfrm>
            <a:off x="8885992" y="6713697"/>
            <a:ext cx="350877" cy="350877"/>
          </a:xfrm>
          <a:prstGeom prst="roundRect">
            <a:avLst>
              <a:gd name="adj" fmla="val 10859"/>
            </a:avLst>
          </a:prstGeom>
          <a:solidFill>
            <a:srgbClr val="DCE8F5"/>
          </a:solidFill>
          <a:ln/>
        </p:spPr>
      </p:sp>
      <p:sp>
        <p:nvSpPr>
          <p:cNvPr id="105" name="Shape 103"/>
          <p:cNvSpPr/>
          <p:nvPr/>
        </p:nvSpPr>
        <p:spPr>
          <a:xfrm>
            <a:off x="9806226" y="3482340"/>
            <a:ext cx="7529275" cy="1459230"/>
          </a:xfrm>
          <a:prstGeom prst="roundRect">
            <a:avLst>
              <a:gd name="adj" fmla="val 9138"/>
            </a:avLst>
          </a:prstGeom>
          <a:solidFill>
            <a:srgbClr val="FFFFFF"/>
          </a:solidFill>
          <a:ln/>
        </p:spPr>
      </p:sp>
      <p:sp>
        <p:nvSpPr>
          <p:cNvPr id="106" name="Text 104"/>
          <p:cNvSpPr/>
          <p:nvPr/>
        </p:nvSpPr>
        <p:spPr>
          <a:xfrm>
            <a:off x="10072926" y="3710940"/>
            <a:ext cx="211134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1. La donnée brute</a:t>
            </a:r>
            <a:endParaRPr lang="en-US" sz="1800" dirty="0"/>
          </a:p>
        </p:txBody>
      </p:sp>
      <p:sp>
        <p:nvSpPr>
          <p:cNvPr id="107" name="Text 105"/>
          <p:cNvSpPr/>
          <p:nvPr/>
        </p:nvSpPr>
        <p:spPr>
          <a:xfrm>
            <a:off x="10072926" y="4027170"/>
            <a:ext cx="7205751"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620 opérations de retrait enregistrées ce mois-ci, chacune horodatée à la minute près.</a:t>
            </a:r>
            <a:endParaRPr lang="en-US" sz="1800" dirty="0"/>
          </a:p>
        </p:txBody>
      </p:sp>
      <p:sp>
        <p:nvSpPr>
          <p:cNvPr id="108" name="Shape 106"/>
          <p:cNvSpPr/>
          <p:nvPr/>
        </p:nvSpPr>
        <p:spPr>
          <a:xfrm>
            <a:off x="9806226" y="5151120"/>
            <a:ext cx="7529275" cy="1459230"/>
          </a:xfrm>
          <a:prstGeom prst="roundRect">
            <a:avLst>
              <a:gd name="adj" fmla="val 9138"/>
            </a:avLst>
          </a:prstGeom>
          <a:solidFill>
            <a:srgbClr val="FFFFFF"/>
          </a:solidFill>
          <a:ln/>
        </p:spPr>
      </p:sp>
      <p:sp>
        <p:nvSpPr>
          <p:cNvPr id="109" name="Text 107"/>
          <p:cNvSpPr/>
          <p:nvPr/>
        </p:nvSpPr>
        <p:spPr>
          <a:xfrm>
            <a:off x="10072926" y="5379720"/>
            <a:ext cx="232050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2. Le comptage ciblé</a:t>
            </a:r>
            <a:endParaRPr lang="en-US" sz="1800" dirty="0"/>
          </a:p>
        </p:txBody>
      </p:sp>
      <p:sp>
        <p:nvSpPr>
          <p:cNvPr id="110" name="Text 108"/>
          <p:cNvSpPr/>
          <p:nvPr/>
        </p:nvSpPr>
        <p:spPr>
          <a:xfrm>
            <a:off x="10072926" y="5695950"/>
            <a:ext cx="7205751"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Parmi ces 620 retraits, 50 ont eu lieu entre 22h00 et 06h00 — un simple filtre horaire.</a:t>
            </a:r>
            <a:endParaRPr lang="en-US" sz="1800" dirty="0"/>
          </a:p>
        </p:txBody>
      </p:sp>
      <p:sp>
        <p:nvSpPr>
          <p:cNvPr id="111" name="Shape 109"/>
          <p:cNvSpPr/>
          <p:nvPr/>
        </p:nvSpPr>
        <p:spPr>
          <a:xfrm>
            <a:off x="9806226" y="6819900"/>
            <a:ext cx="7529275" cy="1097280"/>
          </a:xfrm>
          <a:prstGeom prst="roundRect">
            <a:avLst>
              <a:gd name="adj" fmla="val 12153"/>
            </a:avLst>
          </a:prstGeom>
          <a:solidFill>
            <a:srgbClr val="009EE0"/>
          </a:solidFill>
          <a:ln/>
        </p:spPr>
      </p:sp>
      <p:sp>
        <p:nvSpPr>
          <p:cNvPr id="112" name="Text 110"/>
          <p:cNvSpPr/>
          <p:nvPr/>
        </p:nvSpPr>
        <p:spPr>
          <a:xfrm>
            <a:off x="10072926" y="7048500"/>
            <a:ext cx="2396728"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3. L'indicateur obtenu</a:t>
            </a:r>
            <a:endParaRPr lang="en-US" sz="1800" dirty="0"/>
          </a:p>
        </p:txBody>
      </p:sp>
      <p:sp>
        <p:nvSpPr>
          <p:cNvPr id="113" name="Text 111"/>
          <p:cNvSpPr/>
          <p:nvPr/>
        </p:nvSpPr>
        <p:spPr>
          <a:xfrm>
            <a:off x="10072926" y="7383780"/>
            <a:ext cx="7695462"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FFFFFF"/>
                </a:solidFill>
                <a:latin typeface="Arial" pitchFamily="34" charset="0"/>
                <a:ea typeface="Arial" pitchFamily="34" charset="-122"/>
                <a:cs typeface="Arial" pitchFamily="34" charset="-120"/>
              </a:rPr>
              <a:t>50 ÷ 620 = 8,1 %</a:t>
            </a:r>
            <a:endParaRPr lang="en-US" sz="2100" dirty="0"/>
          </a:p>
        </p:txBody>
      </p:sp>
      <p:sp>
        <p:nvSpPr>
          <p:cNvPr id="114" name="Text 112"/>
          <p:cNvSpPr/>
          <p:nvPr/>
        </p:nvSpPr>
        <p:spPr>
          <a:xfrm>
            <a:off x="952500" y="9361170"/>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8A99B3"/>
                </a:solidFill>
                <a:latin typeface="Arial" pitchFamily="34" charset="0"/>
                <a:ea typeface="Arial" pitchFamily="34" charset="-122"/>
                <a:cs typeface="Arial" pitchFamily="34" charset="-120"/>
              </a:rPr>
              <a:t>Exemple illustratif — même logique pour chacun des 6 indicateurs de la page précédente.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LE MODÈLE</a:t>
            </a:r>
            <a:endParaRPr lang="en-US" sz="1800" dirty="0"/>
          </a:p>
        </p:txBody>
      </p:sp>
      <p:sp>
        <p:nvSpPr>
          <p:cNvPr id="3" name="Text 1"/>
          <p:cNvSpPr/>
          <p:nvPr/>
        </p:nvSpPr>
        <p:spPr>
          <a:xfrm>
            <a:off x="952500" y="1306830"/>
            <a:ext cx="18021300" cy="609600"/>
          </a:xfrm>
          <a:prstGeom prst="rect">
            <a:avLst/>
          </a:prstGeom>
          <a:noFill/>
          <a:ln/>
        </p:spPr>
        <p:txBody>
          <a:bodyPr wrap="square" lIns="25400" tIns="25400" rIns="25400" bIns="25400" rtlCol="0" anchor="t">
            <a:normAutofit/>
          </a:bodyPr>
          <a:lstStyle/>
          <a:p>
            <a:pPr algn="l" indent="0" marL="0">
              <a:lnSpc>
                <a:spcPct val="85227"/>
              </a:lnSpc>
              <a:buNone/>
            </a:pPr>
            <a:r>
              <a:rPr lang="en-US" sz="3750" b="1" dirty="0">
                <a:solidFill>
                  <a:srgbClr val="0C2350"/>
                </a:solidFill>
                <a:latin typeface="Arial" pitchFamily="34" charset="0"/>
                <a:ea typeface="Arial" pitchFamily="34" charset="-122"/>
                <a:cs typeface="Arial" pitchFamily="34" charset="-120"/>
              </a:rPr>
              <a:t>Le cerveau du dispositif : qu'est-ce qu'un modèle de clustering ?</a:t>
            </a:r>
            <a:endParaRPr lang="en-US" sz="3750" dirty="0"/>
          </a:p>
        </p:txBody>
      </p:sp>
      <p:sp>
        <p:nvSpPr>
          <p:cNvPr id="4" name="Text 2"/>
          <p:cNvSpPr/>
          <p:nvPr/>
        </p:nvSpPr>
        <p:spPr>
          <a:xfrm>
            <a:off x="952500" y="2030730"/>
            <a:ext cx="14668500"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données et les indicateurs sont prêts. Voici maintenant ce qui les analyse.</a:t>
            </a:r>
            <a:endParaRPr lang="en-US" sz="1800" dirty="0"/>
          </a:p>
        </p:txBody>
      </p:sp>
      <p:sp>
        <p:nvSpPr>
          <p:cNvPr id="5" name="Shape 3"/>
          <p:cNvSpPr/>
          <p:nvPr/>
        </p:nvSpPr>
        <p:spPr>
          <a:xfrm>
            <a:off x="952500" y="2678430"/>
            <a:ext cx="8048625" cy="3268980"/>
          </a:xfrm>
          <a:prstGeom prst="roundRect">
            <a:avLst>
              <a:gd name="adj" fmla="val 5828"/>
            </a:avLst>
          </a:prstGeom>
          <a:solidFill>
            <a:srgbClr val="F2F8FC"/>
          </a:solidFill>
          <a:ln/>
        </p:spPr>
      </p:sp>
      <p:sp>
        <p:nvSpPr>
          <p:cNvPr id="6" name="Text 4"/>
          <p:cNvSpPr/>
          <p:nvPr/>
        </p:nvSpPr>
        <p:spPr>
          <a:xfrm>
            <a:off x="1257300" y="2983230"/>
            <a:ext cx="2753749"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64758F"/>
                </a:solidFill>
                <a:latin typeface="Arial" pitchFamily="34" charset="0"/>
                <a:ea typeface="Arial" pitchFamily="34" charset="-122"/>
                <a:cs typeface="Arial" pitchFamily="34" charset="-120"/>
              </a:rPr>
              <a:t>Apprentissage supervisé</a:t>
            </a:r>
            <a:endParaRPr lang="en-US" sz="1800" dirty="0"/>
          </a:p>
        </p:txBody>
      </p:sp>
      <p:sp>
        <p:nvSpPr>
          <p:cNvPr id="7" name="Text 5"/>
          <p:cNvSpPr/>
          <p:nvPr/>
        </p:nvSpPr>
        <p:spPr>
          <a:xfrm>
            <a:off x="1257300" y="3337560"/>
            <a:ext cx="7662196"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On montre au modèle des exemples déjà étiquetés (« fraude », « normal ») et il apprend à reconnaître les mêmes schémas.</a:t>
            </a:r>
            <a:endParaRPr lang="en-US" sz="1800" dirty="0"/>
          </a:p>
        </p:txBody>
      </p:sp>
      <p:sp>
        <p:nvSpPr>
          <p:cNvPr id="8" name="Shape 6"/>
          <p:cNvSpPr/>
          <p:nvPr/>
        </p:nvSpPr>
        <p:spPr>
          <a:xfrm>
            <a:off x="1257300" y="4213860"/>
            <a:ext cx="7439025" cy="1428750"/>
          </a:xfrm>
          <a:prstGeom prst="roundRect">
            <a:avLst>
              <a:gd name="adj" fmla="val 8000"/>
            </a:avLst>
          </a:prstGeom>
          <a:solidFill>
            <a:srgbClr val="FFFFFF"/>
          </a:solidFill>
          <a:ln/>
        </p:spPr>
      </p:sp>
      <p:sp>
        <p:nvSpPr>
          <p:cNvPr id="9" name="Shape 7"/>
          <p:cNvSpPr/>
          <p:nvPr/>
        </p:nvSpPr>
        <p:spPr>
          <a:xfrm>
            <a:off x="2745105" y="4642485"/>
            <a:ext cx="152400" cy="152400"/>
          </a:xfrm>
          <a:prstGeom prst="ellipse">
            <a:avLst/>
          </a:prstGeom>
          <a:solidFill>
            <a:srgbClr val="70AD47"/>
          </a:solidFill>
          <a:ln/>
        </p:spPr>
      </p:sp>
      <p:sp>
        <p:nvSpPr>
          <p:cNvPr id="10" name="Shape 8"/>
          <p:cNvSpPr/>
          <p:nvPr/>
        </p:nvSpPr>
        <p:spPr>
          <a:xfrm>
            <a:off x="3860959" y="5071110"/>
            <a:ext cx="152400" cy="152400"/>
          </a:xfrm>
          <a:prstGeom prst="ellipse">
            <a:avLst/>
          </a:prstGeom>
          <a:solidFill>
            <a:srgbClr val="70AD47"/>
          </a:solidFill>
          <a:ln/>
        </p:spPr>
      </p:sp>
      <p:sp>
        <p:nvSpPr>
          <p:cNvPr id="11" name="Shape 9"/>
          <p:cNvSpPr/>
          <p:nvPr/>
        </p:nvSpPr>
        <p:spPr>
          <a:xfrm>
            <a:off x="5348764" y="4571047"/>
            <a:ext cx="182880" cy="182880"/>
          </a:xfrm>
          <a:prstGeom prst="ellipse">
            <a:avLst/>
          </a:prstGeom>
          <a:solidFill>
            <a:srgbClr val="C2D6E8"/>
          </a:solidFill>
          <a:ln w="15240">
            <a:solidFill>
              <a:srgbClr val="ED7D31"/>
            </a:solidFill>
            <a:prstDash val="solid"/>
          </a:ln>
        </p:spPr>
      </p:sp>
      <p:sp>
        <p:nvSpPr>
          <p:cNvPr id="12" name="Shape 10"/>
          <p:cNvSpPr/>
          <p:nvPr/>
        </p:nvSpPr>
        <p:spPr>
          <a:xfrm>
            <a:off x="6464618" y="4999673"/>
            <a:ext cx="182880" cy="182880"/>
          </a:xfrm>
          <a:prstGeom prst="ellipse">
            <a:avLst/>
          </a:prstGeom>
          <a:solidFill>
            <a:srgbClr val="C2D6E8"/>
          </a:solidFill>
          <a:ln w="15240">
            <a:solidFill>
              <a:srgbClr val="ED7D31"/>
            </a:solidFill>
            <a:prstDash val="solid"/>
          </a:ln>
        </p:spPr>
      </p:sp>
      <p:sp>
        <p:nvSpPr>
          <p:cNvPr id="13" name="Text 11"/>
          <p:cNvSpPr/>
          <p:nvPr/>
        </p:nvSpPr>
        <p:spPr>
          <a:xfrm>
            <a:off x="2373154" y="5250180"/>
            <a:ext cx="1733371"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70AD47"/>
                </a:solidFill>
                <a:latin typeface="Arial" pitchFamily="34" charset="0"/>
                <a:ea typeface="Arial" pitchFamily="34" charset="-122"/>
                <a:cs typeface="Arial" pitchFamily="34" charset="-120"/>
              </a:rPr>
              <a:t>étiqueté normal</a:t>
            </a:r>
            <a:endParaRPr lang="en-US" sz="1800" dirty="0"/>
          </a:p>
        </p:txBody>
      </p:sp>
      <p:sp>
        <p:nvSpPr>
          <p:cNvPr id="14" name="Text 12"/>
          <p:cNvSpPr/>
          <p:nvPr/>
        </p:nvSpPr>
        <p:spPr>
          <a:xfrm>
            <a:off x="6427232" y="5250180"/>
            <a:ext cx="167771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ED7D31"/>
                </a:solidFill>
                <a:latin typeface="Arial" pitchFamily="34" charset="0"/>
                <a:ea typeface="Arial" pitchFamily="34" charset="-122"/>
                <a:cs typeface="Arial" pitchFamily="34" charset="-120"/>
              </a:rPr>
              <a:t>étiqueté fraude</a:t>
            </a:r>
            <a:endParaRPr lang="en-US" sz="1800" dirty="0"/>
          </a:p>
        </p:txBody>
      </p:sp>
      <p:sp>
        <p:nvSpPr>
          <p:cNvPr id="15" name="Shape 13"/>
          <p:cNvSpPr/>
          <p:nvPr/>
        </p:nvSpPr>
        <p:spPr>
          <a:xfrm>
            <a:off x="9286875" y="2678430"/>
            <a:ext cx="8048625" cy="3268980"/>
          </a:xfrm>
          <a:prstGeom prst="roundRect">
            <a:avLst>
              <a:gd name="adj" fmla="val 5828"/>
            </a:avLst>
          </a:prstGeom>
          <a:solidFill>
            <a:srgbClr val="0C2350"/>
          </a:solidFill>
          <a:ln/>
        </p:spPr>
      </p:sp>
      <p:sp>
        <p:nvSpPr>
          <p:cNvPr id="16" name="Text 14"/>
          <p:cNvSpPr/>
          <p:nvPr/>
        </p:nvSpPr>
        <p:spPr>
          <a:xfrm>
            <a:off x="9591675" y="2983230"/>
            <a:ext cx="4668643"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Apprentissage non supervisé — notre cas</a:t>
            </a:r>
            <a:endParaRPr lang="en-US" sz="1800" dirty="0"/>
          </a:p>
        </p:txBody>
      </p:sp>
      <p:sp>
        <p:nvSpPr>
          <p:cNvPr id="17" name="Text 15"/>
          <p:cNvSpPr/>
          <p:nvPr/>
        </p:nvSpPr>
        <p:spPr>
          <a:xfrm>
            <a:off x="9591675" y="3337560"/>
            <a:ext cx="7662196"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Aucun exemple déjà validé n'existe. Le modèle regroupe lui-même les distributeurs qui se ressemblent, à partir des seules données brutes.</a:t>
            </a:r>
            <a:endParaRPr lang="en-US" sz="1800" dirty="0"/>
          </a:p>
        </p:txBody>
      </p:sp>
      <p:sp>
        <p:nvSpPr>
          <p:cNvPr id="18" name="Shape 16"/>
          <p:cNvSpPr/>
          <p:nvPr/>
        </p:nvSpPr>
        <p:spPr>
          <a:xfrm>
            <a:off x="9591675" y="4213860"/>
            <a:ext cx="7439025" cy="1428750"/>
          </a:xfrm>
          <a:prstGeom prst="roundRect">
            <a:avLst>
              <a:gd name="adj" fmla="val 8000"/>
            </a:avLst>
          </a:prstGeom>
          <a:solidFill>
            <a:srgbClr val="FFFFFF">
              <a:alpha val="6000"/>
            </a:srgbClr>
          </a:solidFill>
          <a:ln/>
        </p:spPr>
      </p:sp>
      <p:sp>
        <p:nvSpPr>
          <p:cNvPr id="19" name="Shape 17"/>
          <p:cNvSpPr/>
          <p:nvPr/>
        </p:nvSpPr>
        <p:spPr>
          <a:xfrm>
            <a:off x="10930653" y="4642485"/>
            <a:ext cx="152400" cy="152400"/>
          </a:xfrm>
          <a:prstGeom prst="ellipse">
            <a:avLst/>
          </a:prstGeom>
          <a:solidFill>
            <a:srgbClr val="009EE0"/>
          </a:solidFill>
          <a:ln/>
        </p:spPr>
      </p:sp>
      <p:sp>
        <p:nvSpPr>
          <p:cNvPr id="20" name="Shape 18"/>
          <p:cNvSpPr/>
          <p:nvPr/>
        </p:nvSpPr>
        <p:spPr>
          <a:xfrm>
            <a:off x="11377017" y="4999673"/>
            <a:ext cx="152400" cy="152400"/>
          </a:xfrm>
          <a:prstGeom prst="ellipse">
            <a:avLst/>
          </a:prstGeom>
          <a:solidFill>
            <a:srgbClr val="009EE0"/>
          </a:solidFill>
          <a:ln/>
        </p:spPr>
      </p:sp>
      <p:sp>
        <p:nvSpPr>
          <p:cNvPr id="21" name="Shape 19"/>
          <p:cNvSpPr/>
          <p:nvPr/>
        </p:nvSpPr>
        <p:spPr>
          <a:xfrm>
            <a:off x="10633115" y="5071110"/>
            <a:ext cx="152400" cy="152400"/>
          </a:xfrm>
          <a:prstGeom prst="ellipse">
            <a:avLst/>
          </a:prstGeom>
          <a:solidFill>
            <a:srgbClr val="009EE0"/>
          </a:solidFill>
          <a:ln/>
        </p:spPr>
      </p:sp>
      <p:sp>
        <p:nvSpPr>
          <p:cNvPr id="22" name="Shape 20"/>
          <p:cNvSpPr/>
          <p:nvPr/>
        </p:nvSpPr>
        <p:spPr>
          <a:xfrm>
            <a:off x="14352627" y="4571047"/>
            <a:ext cx="152400" cy="152400"/>
          </a:xfrm>
          <a:prstGeom prst="ellipse">
            <a:avLst/>
          </a:prstGeom>
          <a:solidFill>
            <a:srgbClr val="5FC8EE"/>
          </a:solidFill>
          <a:ln/>
        </p:spPr>
      </p:sp>
      <p:sp>
        <p:nvSpPr>
          <p:cNvPr id="23" name="Shape 21"/>
          <p:cNvSpPr/>
          <p:nvPr/>
        </p:nvSpPr>
        <p:spPr>
          <a:xfrm>
            <a:off x="15096530" y="4785360"/>
            <a:ext cx="152400" cy="152400"/>
          </a:xfrm>
          <a:prstGeom prst="ellipse">
            <a:avLst/>
          </a:prstGeom>
          <a:solidFill>
            <a:srgbClr val="5FC8EE"/>
          </a:solidFill>
          <a:ln/>
        </p:spPr>
      </p:sp>
      <p:sp>
        <p:nvSpPr>
          <p:cNvPr id="24" name="Shape 22"/>
          <p:cNvSpPr/>
          <p:nvPr/>
        </p:nvSpPr>
        <p:spPr>
          <a:xfrm>
            <a:off x="14501337" y="5071110"/>
            <a:ext cx="152400" cy="152400"/>
          </a:xfrm>
          <a:prstGeom prst="ellipse">
            <a:avLst/>
          </a:prstGeom>
          <a:solidFill>
            <a:srgbClr val="5FC8EE"/>
          </a:solidFill>
          <a:ln/>
        </p:spPr>
      </p:sp>
      <p:sp>
        <p:nvSpPr>
          <p:cNvPr id="25" name="Text 23"/>
          <p:cNvSpPr/>
          <p:nvPr/>
        </p:nvSpPr>
        <p:spPr>
          <a:xfrm>
            <a:off x="9744075" y="5250180"/>
            <a:ext cx="410953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C2D6E8"/>
                </a:solidFill>
                <a:latin typeface="Arial" pitchFamily="34" charset="0"/>
                <a:ea typeface="Arial" pitchFamily="34" charset="-122"/>
                <a:cs typeface="Arial" pitchFamily="34" charset="-120"/>
              </a:rPr>
              <a:t>groupes formés seuls, sans étiquette</a:t>
            </a:r>
            <a:endParaRPr lang="en-US" sz="1800" dirty="0"/>
          </a:p>
        </p:txBody>
      </p:sp>
      <p:sp>
        <p:nvSpPr>
          <p:cNvPr id="26" name="Shape 24"/>
          <p:cNvSpPr/>
          <p:nvPr/>
        </p:nvSpPr>
        <p:spPr>
          <a:xfrm>
            <a:off x="952500" y="6195060"/>
            <a:ext cx="16383000" cy="1470660"/>
          </a:xfrm>
          <a:prstGeom prst="roundRect">
            <a:avLst>
              <a:gd name="adj" fmla="val 10363"/>
            </a:avLst>
          </a:prstGeom>
          <a:solidFill>
            <a:srgbClr val="F2F8FC"/>
          </a:solidFill>
          <a:ln w="15240">
            <a:solidFill>
              <a:srgbClr val="C2D6E8"/>
            </a:solidFill>
            <a:prstDash val="solid"/>
          </a:ln>
        </p:spPr>
      </p:sp>
      <p:sp>
        <p:nvSpPr>
          <p:cNvPr id="27" name="Text 25"/>
          <p:cNvSpPr/>
          <p:nvPr/>
        </p:nvSpPr>
        <p:spPr>
          <a:xfrm>
            <a:off x="1253490" y="6419850"/>
            <a:ext cx="8692920"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Un point de vigilance, assumé : nous n'avons aujourd'hui aucune vérité terrain</a:t>
            </a:r>
            <a:endParaRPr lang="en-US" sz="1800" dirty="0"/>
          </a:p>
        </p:txBody>
      </p:sp>
      <p:sp>
        <p:nvSpPr>
          <p:cNvPr id="28" name="Text 26"/>
          <p:cNvSpPr/>
          <p:nvPr/>
        </p:nvSpPr>
        <p:spPr>
          <a:xfrm>
            <a:off x="1253490" y="6755130"/>
            <a:ext cx="16254451"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 modèle doit être vu comme un point de départ solide, pas un résultat figé : ses seuils et regroupements seront affinés au fil des retours du terrain — c'est l'objet de ce point d'avancement.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6200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LE MODÈLE</a:t>
            </a:r>
            <a:endParaRPr lang="en-US" sz="1800" dirty="0"/>
          </a:p>
        </p:txBody>
      </p:sp>
      <p:sp>
        <p:nvSpPr>
          <p:cNvPr id="3" name="Text 1"/>
          <p:cNvSpPr/>
          <p:nvPr/>
        </p:nvSpPr>
        <p:spPr>
          <a:xfrm>
            <a:off x="952500" y="1192530"/>
            <a:ext cx="18021300" cy="563880"/>
          </a:xfrm>
          <a:prstGeom prst="rect">
            <a:avLst/>
          </a:prstGeom>
          <a:noFill/>
          <a:ln/>
        </p:spPr>
        <p:txBody>
          <a:bodyPr wrap="square" lIns="25400" tIns="25400" rIns="25400" bIns="25400" rtlCol="0" anchor="t">
            <a:normAutofit/>
          </a:bodyPr>
          <a:lstStyle/>
          <a:p>
            <a:pPr algn="l" indent="0" marL="0">
              <a:lnSpc>
                <a:spcPct val="85185"/>
              </a:lnSpc>
              <a:buNone/>
            </a:pPr>
            <a:r>
              <a:rPr lang="en-US" sz="3450" b="1" dirty="0">
                <a:solidFill>
                  <a:srgbClr val="0C2350"/>
                </a:solidFill>
                <a:latin typeface="Arial" pitchFamily="34" charset="0"/>
                <a:ea typeface="Arial" pitchFamily="34" charset="-122"/>
                <a:cs typeface="Arial" pitchFamily="34" charset="-120"/>
              </a:rPr>
              <a:t>Supervisé, non supervisé : ce qui change vraiment</a:t>
            </a:r>
            <a:endParaRPr lang="en-US" sz="3450" dirty="0"/>
          </a:p>
        </p:txBody>
      </p:sp>
      <p:sp>
        <p:nvSpPr>
          <p:cNvPr id="4" name="Text 2"/>
          <p:cNvSpPr/>
          <p:nvPr/>
        </p:nvSpPr>
        <p:spPr>
          <a:xfrm>
            <a:off x="952500" y="1832610"/>
            <a:ext cx="1471612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 même moteur d'analyse peut apprendre de deux façons différentes. Voici ce qu'on lui donne à manger dans chaque cas, et ce qu'il en ressort.</a:t>
            </a:r>
            <a:endParaRPr lang="en-US" sz="1800" dirty="0"/>
          </a:p>
        </p:txBody>
      </p:sp>
      <p:sp>
        <p:nvSpPr>
          <p:cNvPr id="5" name="Shape 3"/>
          <p:cNvSpPr/>
          <p:nvPr/>
        </p:nvSpPr>
        <p:spPr>
          <a:xfrm>
            <a:off x="5788223" y="2747010"/>
            <a:ext cx="6711553" cy="502920"/>
          </a:xfrm>
          <a:prstGeom prst="roundRect">
            <a:avLst>
              <a:gd name="adj" fmla="val 50000"/>
            </a:avLst>
          </a:prstGeom>
          <a:solidFill>
            <a:srgbClr val="F2F8FC"/>
          </a:solidFill>
          <a:ln w="7620">
            <a:solidFill>
              <a:srgbClr val="C2D6E8"/>
            </a:solidFill>
            <a:prstDash val="solid"/>
          </a:ln>
        </p:spPr>
      </p:sp>
      <p:sp>
        <p:nvSpPr>
          <p:cNvPr id="6" name="Text 4"/>
          <p:cNvSpPr/>
          <p:nvPr/>
        </p:nvSpPr>
        <p:spPr>
          <a:xfrm>
            <a:off x="6081593" y="2868930"/>
            <a:ext cx="632616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Données brutes du mois (indicateurs de chaque distributeur)</a:t>
            </a:r>
            <a:endParaRPr lang="en-US" sz="1800" dirty="0"/>
          </a:p>
        </p:txBody>
      </p:sp>
      <p:sp>
        <p:nvSpPr>
          <p:cNvPr id="7" name="Text 5"/>
          <p:cNvSpPr/>
          <p:nvPr/>
        </p:nvSpPr>
        <p:spPr>
          <a:xfrm>
            <a:off x="9072563" y="3307080"/>
            <a:ext cx="21907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0086C9"/>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8524875" y="3707130"/>
            <a:ext cx="1238250" cy="1238250"/>
          </a:xfrm>
          <a:prstGeom prst="ellipse">
            <a:avLst/>
          </a:prstGeom>
          <a:solidFill>
            <a:srgbClr val="0C2350"/>
          </a:solidFill>
          <a:ln/>
        </p:spPr>
      </p:sp>
      <p:sp>
        <p:nvSpPr>
          <p:cNvPr id="9" name="Shape 7"/>
          <p:cNvSpPr/>
          <p:nvPr/>
        </p:nvSpPr>
        <p:spPr>
          <a:xfrm>
            <a:off x="8374380" y="3556635"/>
            <a:ext cx="1539240" cy="1539240"/>
          </a:xfrm>
          <a:prstGeom prst="ellipse">
            <a:avLst/>
          </a:prstGeom>
          <a:ln w="7620">
            <a:solidFill>
              <a:srgbClr val="009EE0">
                <a:alpha val="35000"/>
              </a:srgbClr>
            </a:solidFill>
            <a:prstDash val="solid"/>
          </a:ln>
        </p:spPr>
      </p:sp>
      <p:sp>
        <p:nvSpPr>
          <p:cNvPr id="10" name="Shape 8"/>
          <p:cNvSpPr/>
          <p:nvPr/>
        </p:nvSpPr>
        <p:spPr>
          <a:xfrm>
            <a:off x="8212455" y="3394710"/>
            <a:ext cx="1863090" cy="1863090"/>
          </a:xfrm>
          <a:prstGeom prst="ellipse">
            <a:avLst/>
          </a:prstGeom>
          <a:ln w="7620">
            <a:solidFill>
              <a:srgbClr val="009EE0">
                <a:alpha val="20000"/>
              </a:srgbClr>
            </a:solidFill>
            <a:prstDash val="solid"/>
          </a:ln>
        </p:spPr>
      </p:sp>
      <p:sp>
        <p:nvSpPr>
          <p:cNvPr id="11" name="Text 9"/>
          <p:cNvSpPr/>
          <p:nvPr/>
        </p:nvSpPr>
        <p:spPr>
          <a:xfrm>
            <a:off x="8663345" y="4204335"/>
            <a:ext cx="961192" cy="281940"/>
          </a:xfrm>
          <a:prstGeom prst="rect">
            <a:avLst/>
          </a:prstGeom>
          <a:noFill/>
          <a:ln/>
        </p:spPr>
        <p:txBody>
          <a:bodyPr wrap="square" lIns="25400" tIns="25400" rIns="25400" bIns="25400" rtlCol="0" anchor="t">
            <a:normAutofit/>
          </a:bodyPr>
          <a:lstStyle/>
          <a:p>
            <a:pPr algn="ctr" indent="0" marL="0">
              <a:buNone/>
            </a:pPr>
            <a:r>
              <a:rPr lang="en-US" sz="1650" b="1" dirty="0">
                <a:solidFill>
                  <a:srgbClr val="FFFFFF"/>
                </a:solidFill>
                <a:latin typeface="Arial" pitchFamily="34" charset="0"/>
                <a:ea typeface="Arial" pitchFamily="34" charset="-122"/>
                <a:cs typeface="Arial" pitchFamily="34" charset="-120"/>
              </a:rPr>
              <a:t>MODÈLE</a:t>
            </a:r>
            <a:endParaRPr lang="en-US" sz="1650" dirty="0"/>
          </a:p>
        </p:txBody>
      </p:sp>
      <p:sp>
        <p:nvSpPr>
          <p:cNvPr id="12" name="Shape 10"/>
          <p:cNvSpPr/>
          <p:nvPr/>
        </p:nvSpPr>
        <p:spPr>
          <a:xfrm>
            <a:off x="2262426" y="5021580"/>
            <a:ext cx="5381149" cy="449580"/>
          </a:xfrm>
          <a:prstGeom prst="roundRect">
            <a:avLst>
              <a:gd name="adj" fmla="val 50000"/>
            </a:avLst>
          </a:prstGeom>
          <a:solidFill>
            <a:srgbClr val="E7F2FB"/>
          </a:solidFill>
          <a:ln/>
        </p:spPr>
      </p:sp>
      <p:sp>
        <p:nvSpPr>
          <p:cNvPr id="13" name="Text 11"/>
          <p:cNvSpPr/>
          <p:nvPr/>
        </p:nvSpPr>
        <p:spPr>
          <a:xfrm>
            <a:off x="2471976" y="5116830"/>
            <a:ext cx="5123483"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 exemples déjà validés (« fraude » / « normal »)</a:t>
            </a:r>
            <a:endParaRPr lang="en-US" sz="1800" dirty="0"/>
          </a:p>
        </p:txBody>
      </p:sp>
      <p:sp>
        <p:nvSpPr>
          <p:cNvPr id="14" name="Text 12"/>
          <p:cNvSpPr/>
          <p:nvPr/>
        </p:nvSpPr>
        <p:spPr>
          <a:xfrm>
            <a:off x="4891088" y="5528310"/>
            <a:ext cx="200025" cy="335280"/>
          </a:xfrm>
          <a:prstGeom prst="rect">
            <a:avLst/>
          </a:prstGeom>
          <a:noFill/>
          <a:ln/>
        </p:spPr>
        <p:txBody>
          <a:bodyPr wrap="square" lIns="25400" tIns="25400" rIns="25400" bIns="25400" rtlCol="0" anchor="t">
            <a:normAutofit/>
          </a:bodyPr>
          <a:lstStyle/>
          <a:p>
            <a:pPr algn="l" indent="0" marL="0">
              <a:buNone/>
            </a:pPr>
            <a:r>
              <a:rPr lang="en-US" sz="1950" dirty="0">
                <a:solidFill>
                  <a:srgbClr val="0086C9"/>
                </a:solidFill>
                <a:latin typeface="Arial" pitchFamily="34" charset="0"/>
                <a:ea typeface="Arial" pitchFamily="34" charset="-122"/>
                <a:cs typeface="Arial" pitchFamily="34" charset="-120"/>
              </a:rPr>
              <a:t>↑</a:t>
            </a:r>
            <a:endParaRPr lang="en-US" sz="1950" dirty="0"/>
          </a:p>
        </p:txBody>
      </p:sp>
      <p:sp>
        <p:nvSpPr>
          <p:cNvPr id="15" name="Shape 13"/>
          <p:cNvSpPr/>
          <p:nvPr/>
        </p:nvSpPr>
        <p:spPr>
          <a:xfrm>
            <a:off x="666750" y="5882640"/>
            <a:ext cx="8572500" cy="2354580"/>
          </a:xfrm>
          <a:prstGeom prst="roundRect">
            <a:avLst>
              <a:gd name="adj" fmla="val 7282"/>
            </a:avLst>
          </a:prstGeom>
          <a:solidFill>
            <a:srgbClr val="F2F8FC"/>
          </a:solidFill>
          <a:ln/>
        </p:spPr>
      </p:sp>
      <p:sp>
        <p:nvSpPr>
          <p:cNvPr id="16" name="Text 14"/>
          <p:cNvSpPr/>
          <p:nvPr/>
        </p:nvSpPr>
        <p:spPr>
          <a:xfrm>
            <a:off x="952500" y="6149340"/>
            <a:ext cx="2753749"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Apprentissage supervisé</a:t>
            </a:r>
            <a:endParaRPr lang="en-US" sz="1800" dirty="0"/>
          </a:p>
        </p:txBody>
      </p:sp>
      <p:sp>
        <p:nvSpPr>
          <p:cNvPr id="17" name="Shape 15"/>
          <p:cNvSpPr/>
          <p:nvPr/>
        </p:nvSpPr>
        <p:spPr>
          <a:xfrm>
            <a:off x="952500" y="6560820"/>
            <a:ext cx="381000" cy="381000"/>
          </a:xfrm>
          <a:prstGeom prst="ellipse">
            <a:avLst/>
          </a:prstGeom>
          <a:solidFill>
            <a:srgbClr val="64758F"/>
          </a:solidFill>
          <a:ln/>
        </p:spPr>
      </p:sp>
      <p:sp>
        <p:nvSpPr>
          <p:cNvPr id="18" name="Text 16"/>
          <p:cNvSpPr/>
          <p:nvPr/>
        </p:nvSpPr>
        <p:spPr>
          <a:xfrm>
            <a:off x="914400" y="656082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9" name="Text 17"/>
          <p:cNvSpPr/>
          <p:nvPr/>
        </p:nvSpPr>
        <p:spPr>
          <a:xfrm>
            <a:off x="1466850" y="6560820"/>
            <a:ext cx="5408912" cy="4191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On lui montre des cas déjà étiquetés par le métier.</a:t>
            </a:r>
            <a:endParaRPr lang="en-US" sz="1800" dirty="0"/>
          </a:p>
        </p:txBody>
      </p:sp>
      <p:sp>
        <p:nvSpPr>
          <p:cNvPr id="20" name="Shape 18"/>
          <p:cNvSpPr/>
          <p:nvPr/>
        </p:nvSpPr>
        <p:spPr>
          <a:xfrm>
            <a:off x="952500" y="7075170"/>
            <a:ext cx="381000" cy="381000"/>
          </a:xfrm>
          <a:prstGeom prst="ellipse">
            <a:avLst/>
          </a:prstGeom>
          <a:solidFill>
            <a:srgbClr val="64758F"/>
          </a:solidFill>
          <a:ln/>
        </p:spPr>
      </p:sp>
      <p:sp>
        <p:nvSpPr>
          <p:cNvPr id="21" name="Text 19"/>
          <p:cNvSpPr/>
          <p:nvPr/>
        </p:nvSpPr>
        <p:spPr>
          <a:xfrm>
            <a:off x="914400" y="707517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22" name="Text 20"/>
          <p:cNvSpPr/>
          <p:nvPr/>
        </p:nvSpPr>
        <p:spPr>
          <a:xfrm>
            <a:off x="1466850" y="7075170"/>
            <a:ext cx="6875373" cy="4191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Il apprend la relation entre les indicateurs et l'étiquette donnée.</a:t>
            </a:r>
            <a:endParaRPr lang="en-US" sz="1800" dirty="0"/>
          </a:p>
        </p:txBody>
      </p:sp>
      <p:sp>
        <p:nvSpPr>
          <p:cNvPr id="23" name="Shape 21"/>
          <p:cNvSpPr/>
          <p:nvPr/>
        </p:nvSpPr>
        <p:spPr>
          <a:xfrm>
            <a:off x="952500" y="7589520"/>
            <a:ext cx="381000" cy="381000"/>
          </a:xfrm>
          <a:prstGeom prst="ellipse">
            <a:avLst/>
          </a:prstGeom>
          <a:solidFill>
            <a:srgbClr val="64758F"/>
          </a:solidFill>
          <a:ln/>
        </p:spPr>
      </p:sp>
      <p:sp>
        <p:nvSpPr>
          <p:cNvPr id="24" name="Text 22"/>
          <p:cNvSpPr/>
          <p:nvPr/>
        </p:nvSpPr>
        <p:spPr>
          <a:xfrm>
            <a:off x="914400" y="758952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25" name="Text 23"/>
          <p:cNvSpPr/>
          <p:nvPr/>
        </p:nvSpPr>
        <p:spPr>
          <a:xfrm>
            <a:off x="1466850" y="7589520"/>
            <a:ext cx="6383978" cy="4191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Il applique cette règle apprise à de nouveaux distributeurs.</a:t>
            </a:r>
            <a:endParaRPr lang="en-US" sz="1800" dirty="0"/>
          </a:p>
        </p:txBody>
      </p:sp>
      <p:sp>
        <p:nvSpPr>
          <p:cNvPr id="26" name="Shape 24"/>
          <p:cNvSpPr/>
          <p:nvPr/>
        </p:nvSpPr>
        <p:spPr>
          <a:xfrm>
            <a:off x="11108293" y="5021580"/>
            <a:ext cx="4453295" cy="449580"/>
          </a:xfrm>
          <a:prstGeom prst="roundRect">
            <a:avLst>
              <a:gd name="adj" fmla="val 50000"/>
            </a:avLst>
          </a:prstGeom>
          <a:solidFill>
            <a:srgbClr val="0C2350"/>
          </a:solidFill>
          <a:ln/>
        </p:spPr>
      </p:sp>
      <p:sp>
        <p:nvSpPr>
          <p:cNvPr id="27" name="Text 25"/>
          <p:cNvSpPr/>
          <p:nvPr/>
        </p:nvSpPr>
        <p:spPr>
          <a:xfrm>
            <a:off x="11317843" y="5116830"/>
            <a:ext cx="416779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Rien d'autre — aucune étiquette fournie</a:t>
            </a:r>
            <a:endParaRPr lang="en-US" sz="1800" dirty="0"/>
          </a:p>
        </p:txBody>
      </p:sp>
      <p:sp>
        <p:nvSpPr>
          <p:cNvPr id="28" name="Text 26"/>
          <p:cNvSpPr/>
          <p:nvPr/>
        </p:nvSpPr>
        <p:spPr>
          <a:xfrm>
            <a:off x="13273088" y="5528310"/>
            <a:ext cx="200025" cy="335280"/>
          </a:xfrm>
          <a:prstGeom prst="rect">
            <a:avLst/>
          </a:prstGeom>
          <a:noFill/>
          <a:ln/>
        </p:spPr>
        <p:txBody>
          <a:bodyPr wrap="square" lIns="25400" tIns="25400" rIns="25400" bIns="25400" rtlCol="0" anchor="t">
            <a:normAutofit/>
          </a:bodyPr>
          <a:lstStyle/>
          <a:p>
            <a:pPr algn="l" indent="0" marL="0">
              <a:buNone/>
            </a:pPr>
            <a:r>
              <a:rPr lang="en-US" sz="1950" dirty="0">
                <a:solidFill>
                  <a:srgbClr val="0086C9"/>
                </a:solidFill>
                <a:latin typeface="Arial" pitchFamily="34" charset="0"/>
                <a:ea typeface="Arial" pitchFamily="34" charset="-122"/>
                <a:cs typeface="Arial" pitchFamily="34" charset="-120"/>
              </a:rPr>
              <a:t>↑</a:t>
            </a:r>
            <a:endParaRPr lang="en-US" sz="1950" dirty="0"/>
          </a:p>
        </p:txBody>
      </p:sp>
      <p:sp>
        <p:nvSpPr>
          <p:cNvPr id="29" name="Shape 27"/>
          <p:cNvSpPr/>
          <p:nvPr/>
        </p:nvSpPr>
        <p:spPr>
          <a:xfrm>
            <a:off x="9033510" y="5882640"/>
            <a:ext cx="8602980" cy="2689860"/>
          </a:xfrm>
          <a:prstGeom prst="roundRect">
            <a:avLst>
              <a:gd name="adj" fmla="val 6374"/>
            </a:avLst>
          </a:prstGeom>
          <a:solidFill>
            <a:srgbClr val="0C2350"/>
          </a:solidFill>
          <a:ln w="15240">
            <a:solidFill>
              <a:srgbClr val="009EE0"/>
            </a:solidFill>
            <a:prstDash val="solid"/>
          </a:ln>
        </p:spPr>
      </p:sp>
      <p:sp>
        <p:nvSpPr>
          <p:cNvPr id="30" name="Text 28"/>
          <p:cNvSpPr/>
          <p:nvPr/>
        </p:nvSpPr>
        <p:spPr>
          <a:xfrm>
            <a:off x="9334500" y="6164580"/>
            <a:ext cx="4668643"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Apprentissage non supervisé — notre cas</a:t>
            </a:r>
            <a:endParaRPr lang="en-US" sz="1800" dirty="0"/>
          </a:p>
        </p:txBody>
      </p:sp>
      <p:sp>
        <p:nvSpPr>
          <p:cNvPr id="31" name="Shape 29"/>
          <p:cNvSpPr/>
          <p:nvPr/>
        </p:nvSpPr>
        <p:spPr>
          <a:xfrm>
            <a:off x="9334500" y="6576060"/>
            <a:ext cx="381000" cy="381000"/>
          </a:xfrm>
          <a:prstGeom prst="ellipse">
            <a:avLst/>
          </a:prstGeom>
          <a:solidFill>
            <a:srgbClr val="009EE0"/>
          </a:solidFill>
          <a:ln/>
        </p:spPr>
      </p:sp>
      <p:sp>
        <p:nvSpPr>
          <p:cNvPr id="32" name="Text 30"/>
          <p:cNvSpPr/>
          <p:nvPr/>
        </p:nvSpPr>
        <p:spPr>
          <a:xfrm>
            <a:off x="9296400" y="657606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33" name="Text 31"/>
          <p:cNvSpPr/>
          <p:nvPr/>
        </p:nvSpPr>
        <p:spPr>
          <a:xfrm>
            <a:off x="9848850" y="6576060"/>
            <a:ext cx="7567645" cy="4191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On lui donne uniquement les indicateurs bruts, sans aucune étiquette.</a:t>
            </a:r>
            <a:endParaRPr lang="en-US" sz="1800" dirty="0"/>
          </a:p>
        </p:txBody>
      </p:sp>
      <p:sp>
        <p:nvSpPr>
          <p:cNvPr id="34" name="Shape 32"/>
          <p:cNvSpPr/>
          <p:nvPr/>
        </p:nvSpPr>
        <p:spPr>
          <a:xfrm>
            <a:off x="9334500" y="7090410"/>
            <a:ext cx="381000" cy="381000"/>
          </a:xfrm>
          <a:prstGeom prst="ellipse">
            <a:avLst/>
          </a:prstGeom>
          <a:solidFill>
            <a:srgbClr val="009EE0"/>
          </a:solidFill>
          <a:ln/>
        </p:spPr>
      </p:sp>
      <p:sp>
        <p:nvSpPr>
          <p:cNvPr id="35" name="Text 33"/>
          <p:cNvSpPr/>
          <p:nvPr/>
        </p:nvSpPr>
        <p:spPr>
          <a:xfrm>
            <a:off x="9296400" y="709041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36" name="Text 34"/>
          <p:cNvSpPr/>
          <p:nvPr/>
        </p:nvSpPr>
        <p:spPr>
          <a:xfrm>
            <a:off x="9848850" y="7090410"/>
            <a:ext cx="6642246" cy="4191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Il regarde uniquement les ressemblances entre distributeurs.</a:t>
            </a:r>
            <a:endParaRPr lang="en-US" sz="1800" dirty="0"/>
          </a:p>
        </p:txBody>
      </p:sp>
      <p:sp>
        <p:nvSpPr>
          <p:cNvPr id="37" name="Shape 35"/>
          <p:cNvSpPr/>
          <p:nvPr/>
        </p:nvSpPr>
        <p:spPr>
          <a:xfrm>
            <a:off x="9334500" y="7604760"/>
            <a:ext cx="381000" cy="381000"/>
          </a:xfrm>
          <a:prstGeom prst="ellipse">
            <a:avLst/>
          </a:prstGeom>
          <a:solidFill>
            <a:srgbClr val="009EE0"/>
          </a:solidFill>
          <a:ln/>
        </p:spPr>
      </p:sp>
      <p:sp>
        <p:nvSpPr>
          <p:cNvPr id="38" name="Text 36"/>
          <p:cNvSpPr/>
          <p:nvPr/>
        </p:nvSpPr>
        <p:spPr>
          <a:xfrm>
            <a:off x="9296400" y="7604760"/>
            <a:ext cx="457200" cy="419100"/>
          </a:xfrm>
          <a:prstGeom prst="rect">
            <a:avLst/>
          </a:prstGeom>
          <a:noFill/>
          <a:ln/>
        </p:spPr>
        <p:txBody>
          <a:bodyPr wrap="square" lIns="25400" tIns="25400" rIns="25400" bIns="25400" rtlCol="0" anchor="ctr">
            <a:normAutofit/>
          </a:bodyP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39" name="Text 37"/>
          <p:cNvSpPr/>
          <p:nvPr/>
        </p:nvSpPr>
        <p:spPr>
          <a:xfrm>
            <a:off x="9848850" y="7604760"/>
            <a:ext cx="7711250"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Il forme lui-même des groupes, sans savoir à l'avance ce qu'ils signifient.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8FC"/>
        </a:solidFill>
      </p:bgPr>
    </p:bg>
    <p:spTree>
      <p:nvGrpSpPr>
        <p:cNvPr id="1" name=""/>
        <p:cNvGrpSpPr/>
        <p:nvPr/>
      </p:nvGrpSpPr>
      <p:grpSpPr>
        <a:xfrm>
          <a:off x="0" y="0"/>
          <a:ext cx="0" cy="0"/>
          <a:chOff x="0" y="0"/>
          <a:chExt cx="0" cy="0"/>
        </a:xfrm>
      </p:grpSpPr>
      <p:sp>
        <p:nvSpPr>
          <p:cNvPr id="2" name="Text 0"/>
          <p:cNvSpPr/>
          <p:nvPr/>
        </p:nvSpPr>
        <p:spPr>
          <a:xfrm>
            <a:off x="952500" y="76200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LE MODÈLE</a:t>
            </a:r>
            <a:endParaRPr lang="en-US" sz="1800" dirty="0"/>
          </a:p>
        </p:txBody>
      </p:sp>
      <p:sp>
        <p:nvSpPr>
          <p:cNvPr id="3" name="Text 1"/>
          <p:cNvSpPr/>
          <p:nvPr/>
        </p:nvSpPr>
        <p:spPr>
          <a:xfrm>
            <a:off x="952500" y="1192530"/>
            <a:ext cx="18021300" cy="563880"/>
          </a:xfrm>
          <a:prstGeom prst="rect">
            <a:avLst/>
          </a:prstGeom>
          <a:noFill/>
          <a:ln/>
        </p:spPr>
        <p:txBody>
          <a:bodyPr wrap="square" lIns="25400" tIns="25400" rIns="25400" bIns="25400" rtlCol="0" anchor="t">
            <a:normAutofit/>
          </a:bodyPr>
          <a:lstStyle/>
          <a:p>
            <a:pPr algn="l" indent="0" marL="0">
              <a:lnSpc>
                <a:spcPct val="85185"/>
              </a:lnSpc>
              <a:buNone/>
            </a:pPr>
            <a:r>
              <a:rPr lang="en-US" sz="3450" b="1" dirty="0">
                <a:solidFill>
                  <a:srgbClr val="0C2350"/>
                </a:solidFill>
                <a:latin typeface="Arial" pitchFamily="34" charset="0"/>
                <a:ea typeface="Arial" pitchFamily="34" charset="-122"/>
                <a:cs typeface="Arial" pitchFamily="34" charset="-120"/>
              </a:rPr>
              <a:t>Concrètement, c'est quoi un clustering ?</a:t>
            </a:r>
            <a:endParaRPr lang="en-US" sz="3450" dirty="0"/>
          </a:p>
        </p:txBody>
      </p:sp>
      <p:sp>
        <p:nvSpPr>
          <p:cNvPr id="4" name="Text 2"/>
          <p:cNvSpPr/>
          <p:nvPr/>
        </p:nvSpPr>
        <p:spPr>
          <a:xfrm>
            <a:off x="952500" y="1832610"/>
            <a:ext cx="16764000"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Prenons 7 distributeurs imaginaires, avec de vrais chiffres, pour voir ça en action.</a:t>
            </a:r>
            <a:endParaRPr lang="en-US" sz="1800" dirty="0"/>
          </a:p>
        </p:txBody>
      </p:sp>
      <p:sp>
        <p:nvSpPr>
          <p:cNvPr id="5" name="Shape 3"/>
          <p:cNvSpPr/>
          <p:nvPr/>
        </p:nvSpPr>
        <p:spPr>
          <a:xfrm>
            <a:off x="952500" y="2442210"/>
            <a:ext cx="6423422" cy="5939790"/>
          </a:xfrm>
          <a:prstGeom prst="roundRect">
            <a:avLst>
              <a:gd name="adj" fmla="val 3207"/>
            </a:avLst>
          </a:prstGeom>
          <a:solidFill>
            <a:srgbClr val="FFFFFF"/>
          </a:solidFill>
          <a:ln/>
        </p:spPr>
      </p:sp>
      <p:sp>
        <p:nvSpPr>
          <p:cNvPr id="6" name="Text 4"/>
          <p:cNvSpPr/>
          <p:nvPr/>
        </p:nvSpPr>
        <p:spPr>
          <a:xfrm>
            <a:off x="1238250" y="2708910"/>
            <a:ext cx="643711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Leurs chiffres du mois</a:t>
            </a:r>
            <a:endParaRPr lang="en-US" sz="1800" dirty="0"/>
          </a:p>
        </p:txBody>
      </p:sp>
      <p:sp>
        <p:nvSpPr>
          <p:cNvPr id="7" name="Text 5"/>
          <p:cNvSpPr/>
          <p:nvPr/>
        </p:nvSpPr>
        <p:spPr>
          <a:xfrm>
            <a:off x="1238250" y="3063240"/>
            <a:ext cx="120848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GAB</a:t>
            </a:r>
            <a:endParaRPr lang="en-US" sz="1800" dirty="0"/>
          </a:p>
        </p:txBody>
      </p:sp>
      <p:sp>
        <p:nvSpPr>
          <p:cNvPr id="8" name="Text 6"/>
          <p:cNvSpPr/>
          <p:nvPr/>
        </p:nvSpPr>
        <p:spPr>
          <a:xfrm>
            <a:off x="2465784" y="3063240"/>
            <a:ext cx="249102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Nuit</a:t>
            </a:r>
            <a:endParaRPr lang="en-US" sz="1800" dirty="0"/>
          </a:p>
        </p:txBody>
      </p:sp>
      <p:sp>
        <p:nvSpPr>
          <p:cNvPr id="9" name="Text 7"/>
          <p:cNvSpPr/>
          <p:nvPr/>
        </p:nvSpPr>
        <p:spPr>
          <a:xfrm>
            <a:off x="4825603" y="3063240"/>
            <a:ext cx="249102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Week-end</a:t>
            </a:r>
            <a:endParaRPr lang="en-US" sz="1800" dirty="0"/>
          </a:p>
        </p:txBody>
      </p:sp>
      <p:sp>
        <p:nvSpPr>
          <p:cNvPr id="10" name="Text 8"/>
          <p:cNvSpPr/>
          <p:nvPr/>
        </p:nvSpPr>
        <p:spPr>
          <a:xfrm>
            <a:off x="1238250" y="339852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A</a:t>
            </a:r>
            <a:endParaRPr lang="en-US" sz="1800" dirty="0"/>
          </a:p>
        </p:txBody>
      </p:sp>
      <p:sp>
        <p:nvSpPr>
          <p:cNvPr id="11" name="Text 9"/>
          <p:cNvSpPr/>
          <p:nvPr/>
        </p:nvSpPr>
        <p:spPr>
          <a:xfrm>
            <a:off x="2465784" y="339852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6 %</a:t>
            </a:r>
            <a:endParaRPr lang="en-US" sz="1800" dirty="0"/>
          </a:p>
        </p:txBody>
      </p:sp>
      <p:sp>
        <p:nvSpPr>
          <p:cNvPr id="12" name="Text 10"/>
          <p:cNvSpPr/>
          <p:nvPr/>
        </p:nvSpPr>
        <p:spPr>
          <a:xfrm>
            <a:off x="4825603" y="339852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20 %</a:t>
            </a:r>
            <a:endParaRPr lang="en-US" sz="1800" dirty="0"/>
          </a:p>
        </p:txBody>
      </p:sp>
      <p:sp>
        <p:nvSpPr>
          <p:cNvPr id="13" name="Text 11"/>
          <p:cNvSpPr/>
          <p:nvPr/>
        </p:nvSpPr>
        <p:spPr>
          <a:xfrm>
            <a:off x="1238250" y="374904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B</a:t>
            </a:r>
            <a:endParaRPr lang="en-US" sz="1800" dirty="0"/>
          </a:p>
        </p:txBody>
      </p:sp>
      <p:sp>
        <p:nvSpPr>
          <p:cNvPr id="14" name="Text 12"/>
          <p:cNvSpPr/>
          <p:nvPr/>
        </p:nvSpPr>
        <p:spPr>
          <a:xfrm>
            <a:off x="2465784" y="374904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8 %</a:t>
            </a:r>
            <a:endParaRPr lang="en-US" sz="1800" dirty="0"/>
          </a:p>
        </p:txBody>
      </p:sp>
      <p:sp>
        <p:nvSpPr>
          <p:cNvPr id="15" name="Text 13"/>
          <p:cNvSpPr/>
          <p:nvPr/>
        </p:nvSpPr>
        <p:spPr>
          <a:xfrm>
            <a:off x="4825603" y="374904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24 %</a:t>
            </a:r>
            <a:endParaRPr lang="en-US" sz="1800" dirty="0"/>
          </a:p>
        </p:txBody>
      </p:sp>
      <p:sp>
        <p:nvSpPr>
          <p:cNvPr id="16" name="Text 14"/>
          <p:cNvSpPr/>
          <p:nvPr/>
        </p:nvSpPr>
        <p:spPr>
          <a:xfrm>
            <a:off x="1238250" y="409956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C</a:t>
            </a:r>
            <a:endParaRPr lang="en-US" sz="1800" dirty="0"/>
          </a:p>
        </p:txBody>
      </p:sp>
      <p:sp>
        <p:nvSpPr>
          <p:cNvPr id="17" name="Text 15"/>
          <p:cNvSpPr/>
          <p:nvPr/>
        </p:nvSpPr>
        <p:spPr>
          <a:xfrm>
            <a:off x="2465784" y="409956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7 %</a:t>
            </a:r>
            <a:endParaRPr lang="en-US" sz="1800" dirty="0"/>
          </a:p>
        </p:txBody>
      </p:sp>
      <p:sp>
        <p:nvSpPr>
          <p:cNvPr id="18" name="Text 16"/>
          <p:cNvSpPr/>
          <p:nvPr/>
        </p:nvSpPr>
        <p:spPr>
          <a:xfrm>
            <a:off x="4825603" y="409956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18 %</a:t>
            </a:r>
            <a:endParaRPr lang="en-US" sz="1800" dirty="0"/>
          </a:p>
        </p:txBody>
      </p:sp>
      <p:sp>
        <p:nvSpPr>
          <p:cNvPr id="19" name="Text 17"/>
          <p:cNvSpPr/>
          <p:nvPr/>
        </p:nvSpPr>
        <p:spPr>
          <a:xfrm>
            <a:off x="1238250" y="445008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D</a:t>
            </a:r>
            <a:endParaRPr lang="en-US" sz="1800" dirty="0"/>
          </a:p>
        </p:txBody>
      </p:sp>
      <p:sp>
        <p:nvSpPr>
          <p:cNvPr id="20" name="Text 18"/>
          <p:cNvSpPr/>
          <p:nvPr/>
        </p:nvSpPr>
        <p:spPr>
          <a:xfrm>
            <a:off x="2465784" y="445008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32 %</a:t>
            </a:r>
            <a:endParaRPr lang="en-US" sz="1800" dirty="0"/>
          </a:p>
        </p:txBody>
      </p:sp>
      <p:sp>
        <p:nvSpPr>
          <p:cNvPr id="21" name="Text 19"/>
          <p:cNvSpPr/>
          <p:nvPr/>
        </p:nvSpPr>
        <p:spPr>
          <a:xfrm>
            <a:off x="4825603" y="445008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55 %</a:t>
            </a:r>
            <a:endParaRPr lang="en-US" sz="1800" dirty="0"/>
          </a:p>
        </p:txBody>
      </p:sp>
      <p:sp>
        <p:nvSpPr>
          <p:cNvPr id="22" name="Text 20"/>
          <p:cNvSpPr/>
          <p:nvPr/>
        </p:nvSpPr>
        <p:spPr>
          <a:xfrm>
            <a:off x="1238250" y="480060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E</a:t>
            </a:r>
            <a:endParaRPr lang="en-US" sz="1800" dirty="0"/>
          </a:p>
        </p:txBody>
      </p:sp>
      <p:sp>
        <p:nvSpPr>
          <p:cNvPr id="23" name="Text 21"/>
          <p:cNvSpPr/>
          <p:nvPr/>
        </p:nvSpPr>
        <p:spPr>
          <a:xfrm>
            <a:off x="2465784" y="480060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38 %</a:t>
            </a:r>
            <a:endParaRPr lang="en-US" sz="1800" dirty="0"/>
          </a:p>
        </p:txBody>
      </p:sp>
      <p:sp>
        <p:nvSpPr>
          <p:cNvPr id="24" name="Text 22"/>
          <p:cNvSpPr/>
          <p:nvPr/>
        </p:nvSpPr>
        <p:spPr>
          <a:xfrm>
            <a:off x="4825603" y="480060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60 %</a:t>
            </a:r>
            <a:endParaRPr lang="en-US" sz="1800" dirty="0"/>
          </a:p>
        </p:txBody>
      </p:sp>
      <p:sp>
        <p:nvSpPr>
          <p:cNvPr id="25" name="Text 23"/>
          <p:cNvSpPr/>
          <p:nvPr/>
        </p:nvSpPr>
        <p:spPr>
          <a:xfrm>
            <a:off x="1238250" y="515112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F</a:t>
            </a:r>
            <a:endParaRPr lang="en-US" sz="1800" dirty="0"/>
          </a:p>
        </p:txBody>
      </p:sp>
      <p:sp>
        <p:nvSpPr>
          <p:cNvPr id="26" name="Text 24"/>
          <p:cNvSpPr/>
          <p:nvPr/>
        </p:nvSpPr>
        <p:spPr>
          <a:xfrm>
            <a:off x="2465784" y="515112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35 %</a:t>
            </a:r>
            <a:endParaRPr lang="en-US" sz="1800" dirty="0"/>
          </a:p>
        </p:txBody>
      </p:sp>
      <p:sp>
        <p:nvSpPr>
          <p:cNvPr id="27" name="Text 25"/>
          <p:cNvSpPr/>
          <p:nvPr/>
        </p:nvSpPr>
        <p:spPr>
          <a:xfrm>
            <a:off x="4825603" y="515112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50 %</a:t>
            </a:r>
            <a:endParaRPr lang="en-US" sz="1800" dirty="0"/>
          </a:p>
        </p:txBody>
      </p:sp>
      <p:sp>
        <p:nvSpPr>
          <p:cNvPr id="28" name="Text 26"/>
          <p:cNvSpPr/>
          <p:nvPr/>
        </p:nvSpPr>
        <p:spPr>
          <a:xfrm>
            <a:off x="1238250" y="5501640"/>
            <a:ext cx="1208484"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B98900"/>
                </a:solidFill>
                <a:latin typeface="Arial" pitchFamily="34" charset="0"/>
                <a:ea typeface="Arial" pitchFamily="34" charset="-122"/>
                <a:cs typeface="Arial" pitchFamily="34" charset="-120"/>
              </a:rPr>
              <a:t>G</a:t>
            </a:r>
            <a:endParaRPr lang="en-US" sz="1800" dirty="0"/>
          </a:p>
        </p:txBody>
      </p:sp>
      <p:sp>
        <p:nvSpPr>
          <p:cNvPr id="29" name="Text 27"/>
          <p:cNvSpPr/>
          <p:nvPr/>
        </p:nvSpPr>
        <p:spPr>
          <a:xfrm>
            <a:off x="2465784" y="550164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20 %</a:t>
            </a:r>
            <a:endParaRPr lang="en-US" sz="1800" dirty="0"/>
          </a:p>
        </p:txBody>
      </p:sp>
      <p:sp>
        <p:nvSpPr>
          <p:cNvPr id="30" name="Text 28"/>
          <p:cNvSpPr/>
          <p:nvPr/>
        </p:nvSpPr>
        <p:spPr>
          <a:xfrm>
            <a:off x="4825603" y="5501640"/>
            <a:ext cx="2491026"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85 %</a:t>
            </a:r>
            <a:endParaRPr lang="en-US" sz="1800" dirty="0"/>
          </a:p>
        </p:txBody>
      </p:sp>
      <p:sp>
        <p:nvSpPr>
          <p:cNvPr id="31" name="Shape 29"/>
          <p:cNvSpPr/>
          <p:nvPr/>
        </p:nvSpPr>
        <p:spPr>
          <a:xfrm>
            <a:off x="7756922" y="2442210"/>
            <a:ext cx="9578578" cy="5939790"/>
          </a:xfrm>
          <a:prstGeom prst="roundRect">
            <a:avLst>
              <a:gd name="adj" fmla="val 3207"/>
            </a:avLst>
          </a:prstGeom>
          <a:solidFill>
            <a:srgbClr val="FFFFFF"/>
          </a:solidFill>
          <a:ln/>
        </p:spPr>
      </p:sp>
      <p:sp>
        <p:nvSpPr>
          <p:cNvPr id="32" name="Text 30"/>
          <p:cNvSpPr/>
          <p:nvPr/>
        </p:nvSpPr>
        <p:spPr>
          <a:xfrm>
            <a:off x="8004572" y="2747010"/>
            <a:ext cx="9844921"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Les mêmes 7 GAB, placés sur un dessin</a:t>
            </a:r>
            <a:endParaRPr lang="en-US" sz="1800" dirty="0"/>
          </a:p>
        </p:txBody>
      </p:sp>
      <p:sp>
        <p:nvSpPr>
          <p:cNvPr id="33" name="Shape 31"/>
          <p:cNvSpPr/>
          <p:nvPr/>
        </p:nvSpPr>
        <p:spPr>
          <a:xfrm>
            <a:off x="8137922" y="7985760"/>
            <a:ext cx="8435578" cy="15240"/>
          </a:xfrm>
          <a:prstGeom prst="rect">
            <a:avLst/>
          </a:prstGeom>
          <a:solidFill>
            <a:srgbClr val="C2D6E8"/>
          </a:solidFill>
          <a:ln/>
        </p:spPr>
      </p:sp>
      <p:sp>
        <p:nvSpPr>
          <p:cNvPr id="34" name="Shape 32"/>
          <p:cNvSpPr/>
          <p:nvPr/>
        </p:nvSpPr>
        <p:spPr>
          <a:xfrm>
            <a:off x="8137922" y="3272790"/>
            <a:ext cx="15240" cy="4728210"/>
          </a:xfrm>
          <a:prstGeom prst="rect">
            <a:avLst/>
          </a:prstGeom>
          <a:solidFill>
            <a:srgbClr val="C2D6E8"/>
          </a:solidFill>
          <a:ln/>
        </p:spPr>
      </p:sp>
      <p:sp>
        <p:nvSpPr>
          <p:cNvPr id="35" name="Shape 33"/>
          <p:cNvSpPr/>
          <p:nvPr/>
        </p:nvSpPr>
        <p:spPr>
          <a:xfrm>
            <a:off x="8321516" y="5723454"/>
            <a:ext cx="1649730" cy="1173480"/>
          </a:xfrm>
          <a:prstGeom prst="roundRect">
            <a:avLst>
              <a:gd name="adj" fmla="val 50000"/>
            </a:avLst>
          </a:prstGeom>
          <a:ln w="15240">
            <a:solidFill>
              <a:srgbClr val="0086C9"/>
            </a:solidFill>
            <a:prstDash val="dash"/>
          </a:ln>
        </p:spPr>
      </p:sp>
      <p:sp>
        <p:nvSpPr>
          <p:cNvPr id="36" name="Shape 34"/>
          <p:cNvSpPr/>
          <p:nvPr/>
        </p:nvSpPr>
        <p:spPr>
          <a:xfrm>
            <a:off x="8826698" y="6807518"/>
            <a:ext cx="171450" cy="171450"/>
          </a:xfrm>
          <a:prstGeom prst="ellipse">
            <a:avLst/>
          </a:prstGeom>
          <a:solidFill>
            <a:srgbClr val="0086C9"/>
          </a:solidFill>
          <a:ln/>
        </p:spPr>
      </p:sp>
      <p:sp>
        <p:nvSpPr>
          <p:cNvPr id="37" name="Text 35"/>
          <p:cNvSpPr/>
          <p:nvPr/>
        </p:nvSpPr>
        <p:spPr>
          <a:xfrm>
            <a:off x="9205675" y="6524625"/>
            <a:ext cx="22871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A</a:t>
            </a:r>
            <a:endParaRPr lang="en-US" sz="1800" dirty="0"/>
          </a:p>
        </p:txBody>
      </p:sp>
      <p:sp>
        <p:nvSpPr>
          <p:cNvPr id="38" name="Shape 36"/>
          <p:cNvSpPr/>
          <p:nvPr/>
        </p:nvSpPr>
        <p:spPr>
          <a:xfrm>
            <a:off x="9668709" y="7137321"/>
            <a:ext cx="171450" cy="171450"/>
          </a:xfrm>
          <a:prstGeom prst="ellipse">
            <a:avLst/>
          </a:prstGeom>
          <a:solidFill>
            <a:srgbClr val="0086C9"/>
          </a:solidFill>
          <a:ln/>
        </p:spPr>
      </p:sp>
      <p:sp>
        <p:nvSpPr>
          <p:cNvPr id="39" name="Text 37"/>
          <p:cNvSpPr/>
          <p:nvPr/>
        </p:nvSpPr>
        <p:spPr>
          <a:xfrm>
            <a:off x="10047684" y="6854547"/>
            <a:ext cx="22871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B</a:t>
            </a:r>
            <a:endParaRPr lang="en-US" sz="1800" dirty="0"/>
          </a:p>
        </p:txBody>
      </p:sp>
      <p:sp>
        <p:nvSpPr>
          <p:cNvPr id="40" name="Shape 38"/>
          <p:cNvSpPr/>
          <p:nvPr/>
        </p:nvSpPr>
        <p:spPr>
          <a:xfrm>
            <a:off x="8658344" y="6241852"/>
            <a:ext cx="171450" cy="171450"/>
          </a:xfrm>
          <a:prstGeom prst="ellipse">
            <a:avLst/>
          </a:prstGeom>
          <a:solidFill>
            <a:srgbClr val="0086C9"/>
          </a:solidFill>
          <a:ln/>
        </p:spPr>
      </p:sp>
      <p:sp>
        <p:nvSpPr>
          <p:cNvPr id="41" name="Text 39"/>
          <p:cNvSpPr/>
          <p:nvPr/>
        </p:nvSpPr>
        <p:spPr>
          <a:xfrm>
            <a:off x="9037201" y="5959078"/>
            <a:ext cx="2413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C</a:t>
            </a:r>
            <a:endParaRPr lang="en-US" sz="1800" dirty="0"/>
          </a:p>
        </p:txBody>
      </p:sp>
      <p:sp>
        <p:nvSpPr>
          <p:cNvPr id="42" name="Shape 40"/>
          <p:cNvSpPr/>
          <p:nvPr/>
        </p:nvSpPr>
        <p:spPr>
          <a:xfrm>
            <a:off x="12700040" y="3272790"/>
            <a:ext cx="1649730" cy="1268730"/>
          </a:xfrm>
          <a:prstGeom prst="ellipse">
            <a:avLst/>
          </a:prstGeom>
          <a:ln w="15240">
            <a:solidFill>
              <a:srgbClr val="16356E"/>
            </a:solidFill>
            <a:prstDash val="dash"/>
          </a:ln>
        </p:spPr>
      </p:sp>
      <p:sp>
        <p:nvSpPr>
          <p:cNvPr id="43" name="Shape 41"/>
          <p:cNvSpPr/>
          <p:nvPr/>
        </p:nvSpPr>
        <p:spPr>
          <a:xfrm>
            <a:off x="13373695" y="4403884"/>
            <a:ext cx="171450" cy="171450"/>
          </a:xfrm>
          <a:prstGeom prst="ellipse">
            <a:avLst/>
          </a:prstGeom>
          <a:solidFill>
            <a:srgbClr val="16356E"/>
          </a:solidFill>
          <a:ln/>
        </p:spPr>
      </p:sp>
      <p:sp>
        <p:nvSpPr>
          <p:cNvPr id="44" name="Text 42"/>
          <p:cNvSpPr/>
          <p:nvPr/>
        </p:nvSpPr>
        <p:spPr>
          <a:xfrm>
            <a:off x="13752671" y="4121110"/>
            <a:ext cx="24134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D</a:t>
            </a:r>
            <a:endParaRPr lang="en-US" sz="1800" dirty="0"/>
          </a:p>
        </p:txBody>
      </p:sp>
      <p:sp>
        <p:nvSpPr>
          <p:cNvPr id="45" name="Shape 43"/>
          <p:cNvSpPr/>
          <p:nvPr/>
        </p:nvSpPr>
        <p:spPr>
          <a:xfrm>
            <a:off x="14215706" y="3744039"/>
            <a:ext cx="171450" cy="171450"/>
          </a:xfrm>
          <a:prstGeom prst="ellipse">
            <a:avLst/>
          </a:prstGeom>
          <a:solidFill>
            <a:srgbClr val="16356E"/>
          </a:solidFill>
          <a:ln/>
        </p:spPr>
      </p:sp>
      <p:sp>
        <p:nvSpPr>
          <p:cNvPr id="46" name="Text 44"/>
          <p:cNvSpPr/>
          <p:nvPr/>
        </p:nvSpPr>
        <p:spPr>
          <a:xfrm>
            <a:off x="14594681" y="3461266"/>
            <a:ext cx="22871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E</a:t>
            </a:r>
            <a:endParaRPr lang="en-US" sz="1800" dirty="0"/>
          </a:p>
        </p:txBody>
      </p:sp>
      <p:sp>
        <p:nvSpPr>
          <p:cNvPr id="47" name="Shape 45"/>
          <p:cNvSpPr/>
          <p:nvPr/>
        </p:nvSpPr>
        <p:spPr>
          <a:xfrm>
            <a:off x="13878877" y="4875133"/>
            <a:ext cx="171450" cy="171450"/>
          </a:xfrm>
          <a:prstGeom prst="ellipse">
            <a:avLst/>
          </a:prstGeom>
          <a:solidFill>
            <a:srgbClr val="16356E"/>
          </a:solidFill>
          <a:ln/>
        </p:spPr>
      </p:sp>
      <p:sp>
        <p:nvSpPr>
          <p:cNvPr id="48" name="Text 46"/>
          <p:cNvSpPr/>
          <p:nvPr/>
        </p:nvSpPr>
        <p:spPr>
          <a:xfrm>
            <a:off x="14257854" y="4592360"/>
            <a:ext cx="21586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F</a:t>
            </a:r>
            <a:endParaRPr lang="en-US" sz="1800" dirty="0"/>
          </a:p>
        </p:txBody>
      </p:sp>
      <p:sp>
        <p:nvSpPr>
          <p:cNvPr id="49" name="Shape 47"/>
          <p:cNvSpPr/>
          <p:nvPr/>
        </p:nvSpPr>
        <p:spPr>
          <a:xfrm>
            <a:off x="10679192" y="3649742"/>
            <a:ext cx="236220" cy="236220"/>
          </a:xfrm>
          <a:prstGeom prst="ellipse">
            <a:avLst/>
          </a:prstGeom>
          <a:solidFill>
            <a:srgbClr val="FFFFFF"/>
          </a:solidFill>
          <a:ln w="22860">
            <a:solidFill>
              <a:srgbClr val="FFC000"/>
            </a:solidFill>
            <a:prstDash val="solid"/>
          </a:ln>
        </p:spPr>
      </p:sp>
      <p:sp>
        <p:nvSpPr>
          <p:cNvPr id="50" name="Text 48"/>
          <p:cNvSpPr/>
          <p:nvPr/>
        </p:nvSpPr>
        <p:spPr>
          <a:xfrm>
            <a:off x="11100197" y="3366969"/>
            <a:ext cx="352240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B98900"/>
                </a:solidFill>
                <a:latin typeface="Arial" pitchFamily="34" charset="0"/>
                <a:ea typeface="Arial" pitchFamily="34" charset="-122"/>
                <a:cs typeface="Arial" pitchFamily="34" charset="-120"/>
              </a:rPr>
              <a:t>G — seul, loin de tout le monde</a:t>
            </a:r>
            <a:endParaRPr lang="en-US" sz="1800" dirty="0"/>
          </a:p>
        </p:txBody>
      </p:sp>
      <p:sp>
        <p:nvSpPr>
          <p:cNvPr id="51" name="Text 49"/>
          <p:cNvSpPr/>
          <p:nvPr/>
        </p:nvSpPr>
        <p:spPr>
          <a:xfrm>
            <a:off x="14705648" y="8088630"/>
            <a:ext cx="205463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plus actif la nuit →</a:t>
            </a:r>
            <a:endParaRPr lang="en-US" sz="1800" dirty="0"/>
          </a:p>
        </p:txBody>
      </p:sp>
      <p:sp>
        <p:nvSpPr>
          <p:cNvPr id="52" name="Text 50"/>
          <p:cNvSpPr/>
          <p:nvPr/>
        </p:nvSpPr>
        <p:spPr>
          <a:xfrm>
            <a:off x="8153162" y="2948940"/>
            <a:ext cx="2613743" cy="297180"/>
          </a:xfrm>
          <a:prstGeom prst="rect">
            <a:avLst/>
          </a:prstGeom>
          <a:noFill/>
          <a:ln/>
        </p:spPr>
        <p:txBody>
          <a:bodyPr wrap="non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 plus actif le week-end</a:t>
            </a:r>
            <a:endParaRPr lang="en-US" sz="1800" dirty="0"/>
          </a:p>
        </p:txBody>
      </p:sp>
      <p:sp>
        <p:nvSpPr>
          <p:cNvPr id="53" name="Shape 51"/>
          <p:cNvSpPr/>
          <p:nvPr/>
        </p:nvSpPr>
        <p:spPr>
          <a:xfrm>
            <a:off x="952500" y="8629650"/>
            <a:ext cx="16383000" cy="1181100"/>
          </a:xfrm>
          <a:prstGeom prst="roundRect">
            <a:avLst>
              <a:gd name="adj" fmla="val 12903"/>
            </a:avLst>
          </a:prstGeom>
          <a:solidFill>
            <a:srgbClr val="0C2350"/>
          </a:solidFill>
          <a:ln/>
        </p:spPr>
      </p:sp>
      <p:sp>
        <p:nvSpPr>
          <p:cNvPr id="54" name="Text 52"/>
          <p:cNvSpPr/>
          <p:nvPr/>
        </p:nvSpPr>
        <p:spPr>
          <a:xfrm>
            <a:off x="1238250" y="8858250"/>
            <a:ext cx="16285845" cy="762000"/>
          </a:xfrm>
          <a:prstGeom prst="rect">
            <a:avLst/>
          </a:prstGeom>
          <a:noFill/>
          <a:ln/>
        </p:spPr>
        <p:txBody>
          <a:bodyPr wrap="square" lIns="25400" tIns="25400" rIns="25400" bIns="25400" rtlCol="0" anchor="t">
            <a:normAutofit/>
          </a:bodyPr>
          <a:lstStyle/>
          <a:p>
            <a:pPr algn="l" indent="0" marL="0">
              <a:lnSpc>
                <a:spcPct val="136765"/>
              </a:lnSpc>
              <a:buNone/>
            </a:pPr>
            <a:r>
              <a:rPr lang="en-US" sz="1800" b="1" dirty="0">
                <a:solidFill>
                  <a:srgbClr val="5FC8EE"/>
                </a:solidFill>
                <a:latin typeface="Arial" pitchFamily="34" charset="0"/>
                <a:ea typeface="Arial" pitchFamily="34" charset="-122"/>
                <a:cs typeface="Arial" pitchFamily="34" charset="-120"/>
              </a:rPr>
              <a:t>A, B et C </a:t>
            </a:r>
            <a:pPr algn="l" indent="0" marL="0">
              <a:lnSpc>
                <a:spcPct val="136765"/>
              </a:lnSpc>
              <a:buNone/>
            </a:pPr>
            <a:r>
              <a:rPr lang="en-US" sz="1800" dirty="0">
                <a:solidFill>
                  <a:srgbClr val="FFFFFF"/>
                </a:solidFill>
                <a:latin typeface="Arial" pitchFamily="34" charset="0"/>
                <a:ea typeface="Arial" pitchFamily="34" charset="-122"/>
                <a:cs typeface="Arial" pitchFamily="34" charset="-120"/>
              </a:rPr>
              <a:t>ont des chiffres proches (peu actifs) : le modèle en fait un groupe. </a:t>
            </a:r>
            <a:pPr algn="l" indent="0" marL="0">
              <a:lnSpc>
                <a:spcPct val="136765"/>
              </a:lnSpc>
              <a:buNone/>
            </a:pPr>
            <a:r>
              <a:rPr lang="en-US" sz="1800" b="1" dirty="0">
                <a:solidFill>
                  <a:srgbClr val="5FC8EE"/>
                </a:solidFill>
                <a:latin typeface="Arial" pitchFamily="34" charset="0"/>
                <a:ea typeface="Arial" pitchFamily="34" charset="-122"/>
                <a:cs typeface="Arial" pitchFamily="34" charset="-120"/>
              </a:rPr>
              <a:t>D, E et F </a:t>
            </a:r>
            <a:pPr algn="l" indent="0" marL="0">
              <a:lnSpc>
                <a:spcPct val="136765"/>
              </a:lnSpc>
              <a:buNone/>
            </a:pPr>
            <a:r>
              <a:rPr lang="en-US" sz="1800" dirty="0">
                <a:solidFill>
                  <a:srgbClr val="FFFFFF"/>
                </a:solidFill>
                <a:latin typeface="Arial" pitchFamily="34" charset="0"/>
                <a:ea typeface="Arial" pitchFamily="34" charset="-122"/>
                <a:cs typeface="Arial" pitchFamily="34" charset="-120"/>
              </a:rPr>
              <a:t>ont eux aussi des chiffres proches, mais bien plus élevés : ça fait un deuxième groupe. </a:t>
            </a:r>
            <a:pPr algn="l" indent="0" marL="0">
              <a:lnSpc>
                <a:spcPct val="136765"/>
              </a:lnSpc>
              <a:buNone/>
            </a:pPr>
            <a:r>
              <a:rPr lang="en-US" sz="1800" b="1" dirty="0">
                <a:solidFill>
                  <a:srgbClr val="FFC000"/>
                </a:solidFill>
                <a:latin typeface="Arial" pitchFamily="34" charset="0"/>
                <a:ea typeface="Arial" pitchFamily="34" charset="-122"/>
                <a:cs typeface="Arial" pitchFamily="34" charset="-120"/>
              </a:rPr>
              <a:t>G </a:t>
            </a:r>
            <a:pPr algn="l" indent="0" marL="0">
              <a:lnSpc>
                <a:spcPct val="136765"/>
              </a:lnSpc>
              <a:buNone/>
            </a:pPr>
            <a:r>
              <a:rPr lang="en-US" sz="1800" dirty="0">
                <a:solidFill>
                  <a:srgbClr val="FFFFFF"/>
                </a:solidFill>
                <a:latin typeface="Arial" pitchFamily="34" charset="0"/>
                <a:ea typeface="Arial" pitchFamily="34" charset="-122"/>
                <a:cs typeface="Arial" pitchFamily="34" charset="-120"/>
              </a:rPr>
              <a:t>ne ressemble à aucun des deux : il reste seul — et c'est justement ce genre de cas que le dispositif fait remonter.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7F2FB"/>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CE QUE NOUS AVONS CONSTRUIT</a:t>
            </a:r>
            <a:endParaRPr lang="en-US" sz="1800" dirty="0"/>
          </a:p>
        </p:txBody>
      </p:sp>
      <p:sp>
        <p:nvSpPr>
          <p:cNvPr id="3" name="Text 1"/>
          <p:cNvSpPr/>
          <p:nvPr/>
        </p:nvSpPr>
        <p:spPr>
          <a:xfrm>
            <a:off x="952500" y="1306830"/>
            <a:ext cx="18021300" cy="655320"/>
          </a:xfrm>
          <a:prstGeom prst="rect">
            <a:avLst/>
          </a:prstGeom>
          <a:noFill/>
          <a:ln/>
        </p:spPr>
        <p:txBody>
          <a:bodyPr wrap="square" lIns="25400" tIns="25400" rIns="25400" bIns="25400" rtlCol="0" anchor="t">
            <a:normAutofit/>
          </a:bodyPr>
          <a:lstStyle/>
          <a:p>
            <a:pPr algn="l" indent="0" marL="0">
              <a:lnSpc>
                <a:spcPct val="85263"/>
              </a:lnSpc>
              <a:buNone/>
            </a:pPr>
            <a:r>
              <a:rPr lang="en-US" sz="4050" b="1" dirty="0">
                <a:solidFill>
                  <a:srgbClr val="0C2350"/>
                </a:solidFill>
                <a:latin typeface="Arial" pitchFamily="34" charset="0"/>
                <a:ea typeface="Arial" pitchFamily="34" charset="-122"/>
                <a:cs typeface="Arial" pitchFamily="34" charset="-120"/>
              </a:rPr>
              <a:t>Trois approches, un même objectif</a:t>
            </a:r>
            <a:endParaRPr lang="en-US" sz="4050" dirty="0"/>
          </a:p>
        </p:txBody>
      </p:sp>
      <p:sp>
        <p:nvSpPr>
          <p:cNvPr id="4" name="Text 2"/>
          <p:cNvSpPr/>
          <p:nvPr/>
        </p:nvSpPr>
        <p:spPr>
          <a:xfrm>
            <a:off x="952500" y="2076450"/>
            <a:ext cx="13620750" cy="3810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deux premières approches ont largement aidé à construire la troisième. </a:t>
            </a:r>
            <a:pPr algn="l" indent="0" marL="0">
              <a:lnSpc>
                <a:spcPct val="132353"/>
              </a:lnSpc>
              <a:buNone/>
            </a:pPr>
            <a:r>
              <a:rPr lang="en-US" sz="1800" b="1" dirty="0">
                <a:solidFill>
                  <a:srgbClr val="0086C9"/>
                </a:solidFill>
                <a:latin typeface="Arial" pitchFamily="34" charset="0"/>
                <a:ea typeface="Arial" pitchFamily="34" charset="-122"/>
                <a:cs typeface="Arial" pitchFamily="34" charset="-120"/>
              </a:rPr>
              <a:t>Cliquez sur une vignette </a:t>
            </a:r>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pour le détail.</a:t>
            </a:r>
            <a:endParaRPr lang="en-US" sz="1800" dirty="0"/>
          </a:p>
        </p:txBody>
      </p:sp>
      <p:sp>
        <p:nvSpPr>
          <p:cNvPr id="5" name="Shape 3"/>
          <p:cNvSpPr/>
          <p:nvPr/>
        </p:nvSpPr>
        <p:spPr>
          <a:xfrm>
            <a:off x="952500" y="2876550"/>
            <a:ext cx="5232321" cy="6743700"/>
          </a:xfrm>
          <a:prstGeom prst="roundRect">
            <a:avLst>
              <a:gd name="adj" fmla="val 4005"/>
            </a:avLst>
          </a:prstGeom>
          <a:solidFill>
            <a:srgbClr val="FFFFFF"/>
          </a:solidFill>
          <a:ln/>
        </p:spPr>
      </p:sp>
      <p:sp>
        <p:nvSpPr>
          <p:cNvPr id="6" name="Text 4"/>
          <p:cNvSpPr/>
          <p:nvPr/>
        </p:nvSpPr>
        <p:spPr>
          <a:xfrm>
            <a:off x="1348740" y="3272790"/>
            <a:ext cx="4883825" cy="29718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86C9"/>
                </a:solidFill>
                <a:latin typeface="Arial" pitchFamily="34" charset="0"/>
                <a:ea typeface="Arial" pitchFamily="34" charset="-122"/>
                <a:cs typeface="Arial" pitchFamily="34" charset="-120"/>
              </a:rPr>
              <a:t>APPROCHE 1</a:t>
            </a:r>
            <a:endParaRPr lang="en-US" sz="1800" dirty="0"/>
          </a:p>
        </p:txBody>
      </p:sp>
      <p:sp>
        <p:nvSpPr>
          <p:cNvPr id="7" name="Text 5"/>
          <p:cNvSpPr/>
          <p:nvPr/>
        </p:nvSpPr>
        <p:spPr>
          <a:xfrm>
            <a:off x="1348740" y="3627120"/>
            <a:ext cx="4883825" cy="365760"/>
          </a:xfrm>
          <a:prstGeom prst="rect">
            <a:avLst/>
          </a:prstGeom>
          <a:noFill/>
          <a:ln/>
        </p:spPr>
        <p:txBody>
          <a:bodyPr wrap="square" lIns="25400" tIns="25400" rIns="25400" bIns="25400" rtlCol="0" anchor="t">
            <a:normAutofit/>
          </a:bodyPr>
          <a:lstStyle/>
          <a:p>
            <a:pPr algn="l" indent="0" marL="0">
              <a:buNone/>
            </a:pPr>
            <a:r>
              <a:rPr lang="en-US" sz="2250" b="1" dirty="0">
                <a:solidFill>
                  <a:srgbClr val="0C2350"/>
                </a:solidFill>
                <a:latin typeface="Arial" pitchFamily="34" charset="0"/>
                <a:ea typeface="Arial" pitchFamily="34" charset="-122"/>
                <a:cs typeface="Arial" pitchFamily="34" charset="-120"/>
              </a:rPr>
              <a:t>Mono-critère</a:t>
            </a:r>
            <a:endParaRPr lang="en-US" sz="2250" dirty="0"/>
          </a:p>
        </p:txBody>
      </p:sp>
      <p:sp>
        <p:nvSpPr>
          <p:cNvPr id="8" name="Text 6"/>
          <p:cNvSpPr/>
          <p:nvPr/>
        </p:nvSpPr>
        <p:spPr>
          <a:xfrm>
            <a:off x="1348740" y="4069080"/>
            <a:ext cx="4573036"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Un seul indicateur suivi dans le temps. Chaque distributeur est comparé à sa propre référence historique.</a:t>
            </a:r>
            <a:endParaRPr lang="en-US" sz="1800" dirty="0"/>
          </a:p>
        </p:txBody>
      </p:sp>
      <p:sp>
        <p:nvSpPr>
          <p:cNvPr id="9" name="Shape 7"/>
          <p:cNvSpPr/>
          <p:nvPr/>
        </p:nvSpPr>
        <p:spPr>
          <a:xfrm>
            <a:off x="1348740" y="8574405"/>
            <a:ext cx="621506" cy="200025"/>
          </a:xfrm>
          <a:prstGeom prst="roundRect">
            <a:avLst>
              <a:gd name="adj" fmla="val 14286"/>
            </a:avLst>
          </a:prstGeom>
          <a:solidFill>
            <a:srgbClr val="C2D6E8"/>
          </a:solidFill>
          <a:ln/>
        </p:spPr>
      </p:sp>
      <p:sp>
        <p:nvSpPr>
          <p:cNvPr id="10" name="Shape 8"/>
          <p:cNvSpPr/>
          <p:nvPr/>
        </p:nvSpPr>
        <p:spPr>
          <a:xfrm>
            <a:off x="2017871" y="8517255"/>
            <a:ext cx="621506" cy="257175"/>
          </a:xfrm>
          <a:prstGeom prst="roundRect">
            <a:avLst>
              <a:gd name="adj" fmla="val 11111"/>
            </a:avLst>
          </a:prstGeom>
          <a:solidFill>
            <a:srgbClr val="C2D6E8"/>
          </a:solidFill>
          <a:ln/>
        </p:spPr>
      </p:sp>
      <p:sp>
        <p:nvSpPr>
          <p:cNvPr id="11" name="Shape 9"/>
          <p:cNvSpPr/>
          <p:nvPr/>
        </p:nvSpPr>
        <p:spPr>
          <a:xfrm>
            <a:off x="2687003" y="8545830"/>
            <a:ext cx="621506" cy="228600"/>
          </a:xfrm>
          <a:prstGeom prst="roundRect">
            <a:avLst>
              <a:gd name="adj" fmla="val 12500"/>
            </a:avLst>
          </a:prstGeom>
          <a:solidFill>
            <a:srgbClr val="C2D6E8"/>
          </a:solidFill>
          <a:ln/>
        </p:spPr>
      </p:sp>
      <p:sp>
        <p:nvSpPr>
          <p:cNvPr id="12" name="Shape 10"/>
          <p:cNvSpPr/>
          <p:nvPr/>
        </p:nvSpPr>
        <p:spPr>
          <a:xfrm>
            <a:off x="3356134" y="8431530"/>
            <a:ext cx="621506" cy="342900"/>
          </a:xfrm>
          <a:prstGeom prst="roundRect">
            <a:avLst>
              <a:gd name="adj" fmla="val 8333"/>
            </a:avLst>
          </a:prstGeom>
          <a:solidFill>
            <a:srgbClr val="C2D6E8"/>
          </a:solidFill>
          <a:ln/>
        </p:spPr>
      </p:sp>
      <p:sp>
        <p:nvSpPr>
          <p:cNvPr id="13" name="Shape 11"/>
          <p:cNvSpPr/>
          <p:nvPr/>
        </p:nvSpPr>
        <p:spPr>
          <a:xfrm>
            <a:off x="4025265" y="8345805"/>
            <a:ext cx="621506" cy="428625"/>
          </a:xfrm>
          <a:prstGeom prst="roundRect">
            <a:avLst>
              <a:gd name="adj" fmla="val 6667"/>
            </a:avLst>
          </a:prstGeom>
          <a:solidFill>
            <a:srgbClr val="009EE0"/>
          </a:solidFill>
          <a:ln/>
        </p:spPr>
      </p:sp>
      <p:sp>
        <p:nvSpPr>
          <p:cNvPr id="14" name="Shape 12"/>
          <p:cNvSpPr/>
          <p:nvPr/>
        </p:nvSpPr>
        <p:spPr>
          <a:xfrm>
            <a:off x="4694396" y="8202930"/>
            <a:ext cx="621506" cy="571500"/>
          </a:xfrm>
          <a:prstGeom prst="roundRect">
            <a:avLst>
              <a:gd name="adj" fmla="val 5000"/>
            </a:avLst>
          </a:prstGeom>
          <a:solidFill>
            <a:srgbClr val="009EE0"/>
          </a:solidFill>
          <a:ln/>
        </p:spPr>
      </p:sp>
      <p:sp>
        <p:nvSpPr>
          <p:cNvPr id="15" name="Text 13"/>
          <p:cNvSpPr/>
          <p:nvPr/>
        </p:nvSpPr>
        <p:spPr>
          <a:xfrm>
            <a:off x="1348740" y="8964930"/>
            <a:ext cx="48838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Voir le détail →</a:t>
            </a:r>
            <a:endParaRPr lang="en-US" sz="1800" dirty="0"/>
          </a:p>
        </p:txBody>
      </p:sp>
      <p:sp>
        <p:nvSpPr>
          <p:cNvPr id="16" name="Shape 14"/>
          <p:cNvSpPr/>
          <p:nvPr/>
        </p:nvSpPr>
        <p:spPr>
          <a:xfrm>
            <a:off x="6527721" y="2876550"/>
            <a:ext cx="5232440" cy="6743700"/>
          </a:xfrm>
          <a:prstGeom prst="roundRect">
            <a:avLst>
              <a:gd name="adj" fmla="val 4005"/>
            </a:avLst>
          </a:prstGeom>
          <a:solidFill>
            <a:srgbClr val="FFFFFF"/>
          </a:solidFill>
          <a:ln/>
        </p:spPr>
      </p:sp>
      <p:sp>
        <p:nvSpPr>
          <p:cNvPr id="17" name="Text 15"/>
          <p:cNvSpPr/>
          <p:nvPr/>
        </p:nvSpPr>
        <p:spPr>
          <a:xfrm>
            <a:off x="6923961" y="3272790"/>
            <a:ext cx="4883956" cy="29718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86C9"/>
                </a:solidFill>
                <a:latin typeface="Arial" pitchFamily="34" charset="0"/>
                <a:ea typeface="Arial" pitchFamily="34" charset="-122"/>
                <a:cs typeface="Arial" pitchFamily="34" charset="-120"/>
              </a:rPr>
              <a:t>APPROCHE 2</a:t>
            </a:r>
            <a:endParaRPr lang="en-US" sz="1800" dirty="0"/>
          </a:p>
        </p:txBody>
      </p:sp>
      <p:sp>
        <p:nvSpPr>
          <p:cNvPr id="18" name="Text 16"/>
          <p:cNvSpPr/>
          <p:nvPr/>
        </p:nvSpPr>
        <p:spPr>
          <a:xfrm>
            <a:off x="6923961" y="3627120"/>
            <a:ext cx="4883956" cy="365760"/>
          </a:xfrm>
          <a:prstGeom prst="rect">
            <a:avLst/>
          </a:prstGeom>
          <a:noFill/>
          <a:ln/>
        </p:spPr>
        <p:txBody>
          <a:bodyPr wrap="square" lIns="25400" tIns="25400" rIns="25400" bIns="25400" rtlCol="0" anchor="t">
            <a:normAutofit/>
          </a:bodyPr>
          <a:lstStyle/>
          <a:p>
            <a:pPr algn="l" indent="0" marL="0">
              <a:buNone/>
            </a:pPr>
            <a:r>
              <a:rPr lang="en-US" sz="2250" b="1" dirty="0">
                <a:solidFill>
                  <a:srgbClr val="0C2350"/>
                </a:solidFill>
                <a:latin typeface="Arial" pitchFamily="34" charset="0"/>
                <a:ea typeface="Arial" pitchFamily="34" charset="-122"/>
                <a:cs typeface="Arial" pitchFamily="34" charset="-120"/>
              </a:rPr>
              <a:t>Multi-critère</a:t>
            </a:r>
            <a:endParaRPr lang="en-US" sz="2250" dirty="0"/>
          </a:p>
        </p:txBody>
      </p:sp>
      <p:sp>
        <p:nvSpPr>
          <p:cNvPr id="19" name="Text 17"/>
          <p:cNvSpPr/>
          <p:nvPr/>
        </p:nvSpPr>
        <p:spPr>
          <a:xfrm>
            <a:off x="6923961" y="4069080"/>
            <a:ext cx="4573159"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Plusieurs indicateurs croisés ensemble, pour distinguer un écart isolé d'un écart systémique.</a:t>
            </a:r>
            <a:endParaRPr lang="en-US" sz="1800" dirty="0"/>
          </a:p>
        </p:txBody>
      </p:sp>
      <p:sp>
        <p:nvSpPr>
          <p:cNvPr id="20" name="Shape 18"/>
          <p:cNvSpPr/>
          <p:nvPr/>
        </p:nvSpPr>
        <p:spPr>
          <a:xfrm>
            <a:off x="6923961" y="8374380"/>
            <a:ext cx="1441847" cy="171450"/>
          </a:xfrm>
          <a:prstGeom prst="roundRect">
            <a:avLst>
              <a:gd name="adj" fmla="val 22222"/>
            </a:avLst>
          </a:prstGeom>
          <a:solidFill>
            <a:srgbClr val="C2D6E8"/>
          </a:solidFill>
          <a:ln/>
        </p:spPr>
      </p:sp>
      <p:sp>
        <p:nvSpPr>
          <p:cNvPr id="21" name="Shape 19"/>
          <p:cNvSpPr/>
          <p:nvPr/>
        </p:nvSpPr>
        <p:spPr>
          <a:xfrm>
            <a:off x="8422957" y="8374380"/>
            <a:ext cx="1441847" cy="171450"/>
          </a:xfrm>
          <a:prstGeom prst="roundRect">
            <a:avLst>
              <a:gd name="adj" fmla="val 22222"/>
            </a:avLst>
          </a:prstGeom>
          <a:solidFill>
            <a:srgbClr val="009EE0"/>
          </a:solidFill>
          <a:ln/>
        </p:spPr>
      </p:sp>
      <p:sp>
        <p:nvSpPr>
          <p:cNvPr id="22" name="Shape 20"/>
          <p:cNvSpPr/>
          <p:nvPr/>
        </p:nvSpPr>
        <p:spPr>
          <a:xfrm>
            <a:off x="9921955" y="8374380"/>
            <a:ext cx="1441847" cy="171450"/>
          </a:xfrm>
          <a:prstGeom prst="roundRect">
            <a:avLst>
              <a:gd name="adj" fmla="val 22222"/>
            </a:avLst>
          </a:prstGeom>
          <a:solidFill>
            <a:srgbClr val="009EE0"/>
          </a:solidFill>
          <a:ln/>
        </p:spPr>
      </p:sp>
      <p:sp>
        <p:nvSpPr>
          <p:cNvPr id="23" name="Shape 21"/>
          <p:cNvSpPr/>
          <p:nvPr/>
        </p:nvSpPr>
        <p:spPr>
          <a:xfrm>
            <a:off x="6923961" y="8602980"/>
            <a:ext cx="1441847" cy="171450"/>
          </a:xfrm>
          <a:prstGeom prst="roundRect">
            <a:avLst>
              <a:gd name="adj" fmla="val 22222"/>
            </a:avLst>
          </a:prstGeom>
          <a:solidFill>
            <a:srgbClr val="C2D6E8"/>
          </a:solidFill>
          <a:ln/>
        </p:spPr>
      </p:sp>
      <p:sp>
        <p:nvSpPr>
          <p:cNvPr id="24" name="Shape 22"/>
          <p:cNvSpPr/>
          <p:nvPr/>
        </p:nvSpPr>
        <p:spPr>
          <a:xfrm>
            <a:off x="8422957" y="8602980"/>
            <a:ext cx="1441847" cy="171450"/>
          </a:xfrm>
          <a:prstGeom prst="roundRect">
            <a:avLst>
              <a:gd name="adj" fmla="val 22222"/>
            </a:avLst>
          </a:prstGeom>
          <a:solidFill>
            <a:srgbClr val="C2D6E8"/>
          </a:solidFill>
          <a:ln/>
        </p:spPr>
      </p:sp>
      <p:sp>
        <p:nvSpPr>
          <p:cNvPr id="25" name="Shape 23"/>
          <p:cNvSpPr/>
          <p:nvPr/>
        </p:nvSpPr>
        <p:spPr>
          <a:xfrm>
            <a:off x="9921955" y="8602980"/>
            <a:ext cx="1441847" cy="171450"/>
          </a:xfrm>
          <a:prstGeom prst="roundRect">
            <a:avLst>
              <a:gd name="adj" fmla="val 22222"/>
            </a:avLst>
          </a:prstGeom>
          <a:solidFill>
            <a:srgbClr val="009EE0"/>
          </a:solidFill>
          <a:ln/>
        </p:spPr>
      </p:sp>
      <p:sp>
        <p:nvSpPr>
          <p:cNvPr id="26" name="Text 24"/>
          <p:cNvSpPr/>
          <p:nvPr/>
        </p:nvSpPr>
        <p:spPr>
          <a:xfrm>
            <a:off x="6923961" y="8964930"/>
            <a:ext cx="488395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Voir le détail →</a:t>
            </a:r>
            <a:endParaRPr lang="en-US" sz="1800" dirty="0"/>
          </a:p>
        </p:txBody>
      </p:sp>
      <p:sp>
        <p:nvSpPr>
          <p:cNvPr id="27" name="Shape 25"/>
          <p:cNvSpPr/>
          <p:nvPr/>
        </p:nvSpPr>
        <p:spPr>
          <a:xfrm>
            <a:off x="12103060" y="2876550"/>
            <a:ext cx="5232440" cy="6743700"/>
          </a:xfrm>
          <a:prstGeom prst="roundRect">
            <a:avLst>
              <a:gd name="adj" fmla="val 4005"/>
            </a:avLst>
          </a:prstGeom>
          <a:solidFill>
            <a:srgbClr val="FFFFFF"/>
          </a:solidFill>
          <a:ln/>
        </p:spPr>
      </p:sp>
      <p:sp>
        <p:nvSpPr>
          <p:cNvPr id="28" name="Text 26"/>
          <p:cNvSpPr/>
          <p:nvPr/>
        </p:nvSpPr>
        <p:spPr>
          <a:xfrm>
            <a:off x="12499301" y="3272790"/>
            <a:ext cx="4883956" cy="29718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86C9"/>
                </a:solidFill>
                <a:latin typeface="Arial" pitchFamily="34" charset="0"/>
                <a:ea typeface="Arial" pitchFamily="34" charset="-122"/>
                <a:cs typeface="Arial" pitchFamily="34" charset="-120"/>
              </a:rPr>
              <a:t>APPROCHE 3</a:t>
            </a:r>
            <a:endParaRPr lang="en-US" sz="1800" dirty="0"/>
          </a:p>
        </p:txBody>
      </p:sp>
      <p:sp>
        <p:nvSpPr>
          <p:cNvPr id="29" name="Text 27"/>
          <p:cNvSpPr/>
          <p:nvPr/>
        </p:nvSpPr>
        <p:spPr>
          <a:xfrm>
            <a:off x="12499301" y="3627120"/>
            <a:ext cx="4883956" cy="365760"/>
          </a:xfrm>
          <a:prstGeom prst="rect">
            <a:avLst/>
          </a:prstGeom>
          <a:noFill/>
          <a:ln/>
        </p:spPr>
        <p:txBody>
          <a:bodyPr wrap="square" lIns="25400" tIns="25400" rIns="25400" bIns="25400" rtlCol="0" anchor="t">
            <a:normAutofit/>
          </a:bodyPr>
          <a:lstStyle/>
          <a:p>
            <a:pPr algn="l" indent="0" marL="0">
              <a:buNone/>
            </a:pPr>
            <a:r>
              <a:rPr lang="en-US" sz="2250" b="1" dirty="0">
                <a:solidFill>
                  <a:srgbClr val="0C2350"/>
                </a:solidFill>
                <a:latin typeface="Arial" pitchFamily="34" charset="0"/>
                <a:ea typeface="Arial" pitchFamily="34" charset="-122"/>
                <a:cs typeface="Arial" pitchFamily="34" charset="-120"/>
              </a:rPr>
              <a:t>Familles</a:t>
            </a:r>
            <a:endParaRPr lang="en-US" sz="2250" dirty="0"/>
          </a:p>
        </p:txBody>
      </p:sp>
      <p:sp>
        <p:nvSpPr>
          <p:cNvPr id="30" name="Text 28"/>
          <p:cNvSpPr/>
          <p:nvPr/>
        </p:nvSpPr>
        <p:spPr>
          <a:xfrm>
            <a:off x="12499301" y="4069080"/>
            <a:ext cx="4573159"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distributeurs comparés entre eux ; chacun est jugé au regard de sa propre famille.</a:t>
            </a:r>
            <a:endParaRPr lang="en-US" sz="1800" dirty="0"/>
          </a:p>
        </p:txBody>
      </p:sp>
      <p:sp>
        <p:nvSpPr>
          <p:cNvPr id="31" name="Shape 29"/>
          <p:cNvSpPr/>
          <p:nvPr/>
        </p:nvSpPr>
        <p:spPr>
          <a:xfrm>
            <a:off x="12943284" y="8298180"/>
            <a:ext cx="133350" cy="133350"/>
          </a:xfrm>
          <a:prstGeom prst="ellipse">
            <a:avLst/>
          </a:prstGeom>
          <a:solidFill>
            <a:srgbClr val="009EE0"/>
          </a:solidFill>
          <a:ln/>
        </p:spPr>
      </p:sp>
      <p:sp>
        <p:nvSpPr>
          <p:cNvPr id="32" name="Shape 30"/>
          <p:cNvSpPr/>
          <p:nvPr/>
        </p:nvSpPr>
        <p:spPr>
          <a:xfrm>
            <a:off x="13476089" y="8488680"/>
            <a:ext cx="133350" cy="133350"/>
          </a:xfrm>
          <a:prstGeom prst="ellipse">
            <a:avLst/>
          </a:prstGeom>
          <a:solidFill>
            <a:srgbClr val="009EE0"/>
          </a:solidFill>
          <a:ln/>
        </p:spPr>
      </p:sp>
      <p:sp>
        <p:nvSpPr>
          <p:cNvPr id="33" name="Shape 31"/>
          <p:cNvSpPr/>
          <p:nvPr/>
        </p:nvSpPr>
        <p:spPr>
          <a:xfrm>
            <a:off x="13209627" y="8622030"/>
            <a:ext cx="133350" cy="133350"/>
          </a:xfrm>
          <a:prstGeom prst="ellipse">
            <a:avLst/>
          </a:prstGeom>
          <a:solidFill>
            <a:srgbClr val="009EE0"/>
          </a:solidFill>
          <a:ln/>
        </p:spPr>
      </p:sp>
      <p:sp>
        <p:nvSpPr>
          <p:cNvPr id="34" name="Shape 32"/>
          <p:cNvSpPr/>
          <p:nvPr/>
        </p:nvSpPr>
        <p:spPr>
          <a:xfrm>
            <a:off x="14941273" y="8260080"/>
            <a:ext cx="133350" cy="133350"/>
          </a:xfrm>
          <a:prstGeom prst="ellipse">
            <a:avLst/>
          </a:prstGeom>
          <a:solidFill>
            <a:srgbClr val="5FC8EE"/>
          </a:solidFill>
          <a:ln/>
        </p:spPr>
      </p:sp>
      <p:sp>
        <p:nvSpPr>
          <p:cNvPr id="35" name="Shape 33"/>
          <p:cNvSpPr/>
          <p:nvPr/>
        </p:nvSpPr>
        <p:spPr>
          <a:xfrm>
            <a:off x="15518368" y="8450580"/>
            <a:ext cx="133350" cy="133350"/>
          </a:xfrm>
          <a:prstGeom prst="ellipse">
            <a:avLst/>
          </a:prstGeom>
          <a:solidFill>
            <a:srgbClr val="5FC8EE"/>
          </a:solidFill>
          <a:ln/>
        </p:spPr>
      </p:sp>
      <p:sp>
        <p:nvSpPr>
          <p:cNvPr id="36" name="Shape 34"/>
          <p:cNvSpPr/>
          <p:nvPr/>
        </p:nvSpPr>
        <p:spPr>
          <a:xfrm>
            <a:off x="16597908" y="8317230"/>
            <a:ext cx="163830" cy="163830"/>
          </a:xfrm>
          <a:prstGeom prst="ellipse">
            <a:avLst/>
          </a:prstGeom>
          <a:solidFill>
            <a:srgbClr val="0C2350"/>
          </a:solidFill>
          <a:ln w="15240">
            <a:solidFill>
              <a:srgbClr val="FFC000"/>
            </a:solidFill>
            <a:prstDash val="solid"/>
          </a:ln>
        </p:spPr>
      </p:sp>
      <p:sp>
        <p:nvSpPr>
          <p:cNvPr id="37" name="Text 35"/>
          <p:cNvSpPr/>
          <p:nvPr/>
        </p:nvSpPr>
        <p:spPr>
          <a:xfrm>
            <a:off x="12499301" y="8964930"/>
            <a:ext cx="488395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Voir le détail →</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 Vue d'ensemble</a:t>
            </a:r>
            <a:endParaRPr lang="en-US" sz="1800" dirty="0"/>
          </a:p>
        </p:txBody>
      </p:sp>
      <p:sp>
        <p:nvSpPr>
          <p:cNvPr id="3" name="Text 1"/>
          <p:cNvSpPr/>
          <p:nvPr/>
        </p:nvSpPr>
        <p:spPr>
          <a:xfrm>
            <a:off x="952500" y="1097280"/>
            <a:ext cx="18021300" cy="29718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009EE0"/>
                </a:solidFill>
                <a:latin typeface="Arial" pitchFamily="34" charset="0"/>
                <a:ea typeface="Arial" pitchFamily="34" charset="-122"/>
                <a:cs typeface="Arial" pitchFamily="34" charset="-120"/>
              </a:rPr>
              <a:t>APPROCHE 1</a:t>
            </a:r>
            <a:endParaRPr lang="en-US" sz="1800" dirty="0"/>
          </a:p>
        </p:txBody>
      </p:sp>
      <p:sp>
        <p:nvSpPr>
          <p:cNvPr id="4" name="Text 2"/>
          <p:cNvSpPr/>
          <p:nvPr/>
        </p:nvSpPr>
        <p:spPr>
          <a:xfrm>
            <a:off x="952500" y="1489710"/>
            <a:ext cx="18021300" cy="541020"/>
          </a:xfrm>
          <a:prstGeom prst="rect">
            <a:avLst/>
          </a:prstGeom>
          <a:noFill/>
          <a:ln/>
        </p:spPr>
        <p:txBody>
          <a:bodyPr wrap="square" lIns="25400" tIns="25400" rIns="25400" bIns="25400" rtlCol="0" anchor="t">
            <a:normAutofit/>
          </a:bodyPr>
          <a:lstStyle/>
          <a:p>
            <a:pPr algn="l" indent="0" marL="0">
              <a:buNone/>
            </a:pPr>
            <a:r>
              <a:rPr lang="en-US" sz="3450" b="1" dirty="0">
                <a:solidFill>
                  <a:srgbClr val="0C2350"/>
                </a:solidFill>
                <a:latin typeface="Arial" pitchFamily="34" charset="0"/>
                <a:ea typeface="Arial" pitchFamily="34" charset="-122"/>
                <a:cs typeface="Arial" pitchFamily="34" charset="-120"/>
              </a:rPr>
              <a:t>Mono-critère — un indicateur, sa propre référence</a:t>
            </a:r>
            <a:endParaRPr lang="en-US" sz="3450" dirty="0"/>
          </a:p>
        </p:txBody>
      </p:sp>
      <p:sp>
        <p:nvSpPr>
          <p:cNvPr id="5" name="Text 3"/>
          <p:cNvSpPr/>
          <p:nvPr/>
        </p:nvSpPr>
        <p:spPr>
          <a:xfrm>
            <a:off x="952500" y="2087880"/>
            <a:ext cx="180213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Indicateur mobilisé ici : </a:t>
            </a:r>
            <a:pPr algn="l" indent="0" marL="0">
              <a:buNone/>
            </a:pPr>
            <a:r>
              <a:rPr lang="en-US" sz="1800" b="1" dirty="0">
                <a:solidFill>
                  <a:srgbClr val="0C2350"/>
                </a:solidFill>
                <a:latin typeface="Arial" pitchFamily="34" charset="0"/>
                <a:ea typeface="Arial" pitchFamily="34" charset="-122"/>
                <a:cs typeface="Arial" pitchFamily="34" charset="-120"/>
              </a:rPr>
              <a:t>la part des retraits de nuit </a:t>
            </a:r>
            <a:pPr algn="l" indent="0" marL="0">
              <a:buNone/>
            </a:pPr>
            <a:r>
              <a:rPr lang="en-US" sz="1800" dirty="0">
                <a:solidFill>
                  <a:srgbClr val="64758F"/>
                </a:solidFill>
                <a:latin typeface="Arial" pitchFamily="34" charset="0"/>
                <a:ea typeface="Arial" pitchFamily="34" charset="-122"/>
                <a:cs typeface="Arial" pitchFamily="34" charset="-120"/>
              </a:rPr>
              <a:t>(un seul, à la fois)</a:t>
            </a:r>
            <a:endParaRPr lang="en-US" sz="1800" dirty="0"/>
          </a:p>
        </p:txBody>
      </p:sp>
      <p:sp>
        <p:nvSpPr>
          <p:cNvPr id="6" name="Shape 4"/>
          <p:cNvSpPr/>
          <p:nvPr/>
        </p:nvSpPr>
        <p:spPr>
          <a:xfrm>
            <a:off x="952500" y="2647950"/>
            <a:ext cx="9288899" cy="6972300"/>
          </a:xfrm>
          <a:prstGeom prst="roundRect">
            <a:avLst>
              <a:gd name="adj" fmla="val 2732"/>
            </a:avLst>
          </a:prstGeom>
          <a:solidFill>
            <a:srgbClr val="F2F8FC"/>
          </a:solidFill>
          <a:ln/>
        </p:spPr>
      </p:sp>
      <p:sp>
        <p:nvSpPr>
          <p:cNvPr id="7" name="Text 5"/>
          <p:cNvSpPr/>
          <p:nvPr/>
        </p:nvSpPr>
        <p:spPr>
          <a:xfrm>
            <a:off x="1295400" y="2990850"/>
            <a:ext cx="946340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 de retraits nocturnes — distributeur A</a:t>
            </a:r>
            <a:endParaRPr lang="en-US" sz="1800" dirty="0"/>
          </a:p>
        </p:txBody>
      </p:sp>
      <p:sp>
        <p:nvSpPr>
          <p:cNvPr id="8" name="Shape 6"/>
          <p:cNvSpPr/>
          <p:nvPr/>
        </p:nvSpPr>
        <p:spPr>
          <a:xfrm>
            <a:off x="1295400" y="6800850"/>
            <a:ext cx="8603099" cy="15240"/>
          </a:xfrm>
          <a:prstGeom prst="rect">
            <a:avLst/>
          </a:prstGeom>
          <a:solidFill>
            <a:srgbClr val="C2D6E8"/>
          </a:solidFill>
          <a:ln/>
        </p:spPr>
      </p:sp>
      <p:sp>
        <p:nvSpPr>
          <p:cNvPr id="9" name="Text 7"/>
          <p:cNvSpPr/>
          <p:nvPr/>
        </p:nvSpPr>
        <p:spPr>
          <a:xfrm>
            <a:off x="7751802" y="6484620"/>
            <a:ext cx="2361367" cy="312420"/>
          </a:xfrm>
          <a:prstGeom prst="rect">
            <a:avLst/>
          </a:prstGeom>
          <a:noFill/>
          <a:ln/>
        </p:spPr>
        <p:txBody>
          <a:bodyPr wrap="square" lIns="25400" tIns="25400" rIns="25400" bIns="25400" rtlCol="0" anchor="t">
            <a:normAutofit/>
          </a:bodyPr>
          <a:lstStyle/>
          <a:p>
            <a:pPr algn="l" indent="0" marL="0">
              <a:buNone/>
            </a:pPr>
            <a:r>
              <a:rPr lang="en-US" sz="1800" dirty="0">
                <a:solidFill>
                  <a:srgbClr val="8A99B3"/>
                </a:solidFill>
                <a:latin typeface="Arial" pitchFamily="34" charset="0"/>
                <a:ea typeface="Arial" pitchFamily="34" charset="-122"/>
                <a:cs typeface="Arial" pitchFamily="34" charset="-120"/>
              </a:rPr>
              <a:t>référence habituelle</a:t>
            </a:r>
            <a:endParaRPr lang="en-US" sz="1800" dirty="0"/>
          </a:p>
        </p:txBody>
      </p:sp>
      <p:sp>
        <p:nvSpPr>
          <p:cNvPr id="10" name="Shape 8"/>
          <p:cNvSpPr/>
          <p:nvPr/>
        </p:nvSpPr>
        <p:spPr>
          <a:xfrm>
            <a:off x="1295400" y="7142798"/>
            <a:ext cx="1306830" cy="1742123"/>
          </a:xfrm>
          <a:custGeom>
            <a:avLst/>
            <a:gdLst/>
            <a:ahLst/>
            <a:cxnLst/>
            <a:rect l="l" t="t" r="r" b="b"/>
            <a:pathLst>
              <a:path w="1306830" h="1742123">
                <a:moveTo>
                  <a:pt x="57150" y="0"/>
                </a:moveTo>
                <a:lnTo>
                  <a:pt x="1249680" y="0"/>
                </a:lnTo>
                <a:arcTo hR="57150" wR="57150" stAng="16200000" swAng="5400000"/>
                <a:lnTo>
                  <a:pt x="1306830" y="1742123"/>
                </a:lnTo>
                <a:lnTo>
                  <a:pt x="0" y="1742123"/>
                </a:lnTo>
                <a:lnTo>
                  <a:pt x="0" y="57150"/>
                </a:lnTo>
                <a:arcTo hR="57150" wR="57150" stAng="10800000" swAng="5400000"/>
                <a:close/>
              </a:path>
            </a:pathLst>
          </a:custGeom>
          <a:solidFill>
            <a:srgbClr val="C2D6E8"/>
          </a:solidFill>
          <a:ln/>
        </p:spPr>
      </p:sp>
      <p:sp>
        <p:nvSpPr>
          <p:cNvPr id="11" name="Shape 9"/>
          <p:cNvSpPr/>
          <p:nvPr/>
        </p:nvSpPr>
        <p:spPr>
          <a:xfrm>
            <a:off x="2754630" y="6979444"/>
            <a:ext cx="1306949" cy="1905476"/>
          </a:xfrm>
          <a:custGeom>
            <a:avLst/>
            <a:gdLst/>
            <a:ahLst/>
            <a:cxnLst/>
            <a:rect l="l" t="t" r="r" b="b"/>
            <a:pathLst>
              <a:path w="1306949" h="1905476">
                <a:moveTo>
                  <a:pt x="57150" y="0"/>
                </a:moveTo>
                <a:lnTo>
                  <a:pt x="1249799" y="0"/>
                </a:lnTo>
                <a:arcTo hR="57150" wR="57150" stAng="16200000" swAng="5400000"/>
                <a:lnTo>
                  <a:pt x="1306949" y="1905476"/>
                </a:lnTo>
                <a:lnTo>
                  <a:pt x="0" y="1905476"/>
                </a:lnTo>
                <a:lnTo>
                  <a:pt x="0" y="57150"/>
                </a:lnTo>
                <a:arcTo hR="57150" wR="57150" stAng="10800000" swAng="5400000"/>
                <a:close/>
              </a:path>
            </a:pathLst>
          </a:custGeom>
          <a:solidFill>
            <a:srgbClr val="C2D6E8"/>
          </a:solidFill>
          <a:ln/>
        </p:spPr>
      </p:sp>
      <p:sp>
        <p:nvSpPr>
          <p:cNvPr id="12" name="Shape 10"/>
          <p:cNvSpPr/>
          <p:nvPr/>
        </p:nvSpPr>
        <p:spPr>
          <a:xfrm>
            <a:off x="4213979" y="6707148"/>
            <a:ext cx="1306830" cy="2177772"/>
          </a:xfrm>
          <a:custGeom>
            <a:avLst/>
            <a:gdLst/>
            <a:ahLst/>
            <a:cxnLst/>
            <a:rect l="l" t="t" r="r" b="b"/>
            <a:pathLst>
              <a:path w="1306830" h="2177772">
                <a:moveTo>
                  <a:pt x="57150" y="0"/>
                </a:moveTo>
                <a:lnTo>
                  <a:pt x="1249680" y="0"/>
                </a:lnTo>
                <a:arcTo hR="57150" wR="57150" stAng="16200000" swAng="5400000"/>
                <a:lnTo>
                  <a:pt x="1306830" y="2177772"/>
                </a:lnTo>
                <a:lnTo>
                  <a:pt x="0" y="2177772"/>
                </a:lnTo>
                <a:lnTo>
                  <a:pt x="0" y="57150"/>
                </a:lnTo>
                <a:arcTo hR="57150" wR="57150" stAng="10800000" swAng="5400000"/>
                <a:close/>
              </a:path>
            </a:pathLst>
          </a:custGeom>
          <a:solidFill>
            <a:srgbClr val="C2D6E8"/>
          </a:solidFill>
          <a:ln/>
        </p:spPr>
      </p:sp>
      <p:sp>
        <p:nvSpPr>
          <p:cNvPr id="13" name="Shape 11"/>
          <p:cNvSpPr/>
          <p:nvPr/>
        </p:nvSpPr>
        <p:spPr>
          <a:xfrm>
            <a:off x="5673209" y="5890498"/>
            <a:ext cx="1306830" cy="2994422"/>
          </a:xfrm>
          <a:custGeom>
            <a:avLst/>
            <a:gdLst/>
            <a:ahLst/>
            <a:cxnLst/>
            <a:rect l="l" t="t" r="r" b="b"/>
            <a:pathLst>
              <a:path w="1306830" h="2994422">
                <a:moveTo>
                  <a:pt x="57150" y="0"/>
                </a:moveTo>
                <a:lnTo>
                  <a:pt x="1249680" y="0"/>
                </a:lnTo>
                <a:arcTo hR="57150" wR="57150" stAng="16200000" swAng="5400000"/>
                <a:lnTo>
                  <a:pt x="1306830" y="2994422"/>
                </a:lnTo>
                <a:lnTo>
                  <a:pt x="0" y="2994422"/>
                </a:lnTo>
                <a:lnTo>
                  <a:pt x="0" y="57150"/>
                </a:lnTo>
                <a:arcTo hR="57150" wR="57150" stAng="10800000" swAng="5400000"/>
                <a:close/>
              </a:path>
            </a:pathLst>
          </a:custGeom>
          <a:solidFill>
            <a:srgbClr val="5FC8EE"/>
          </a:solidFill>
          <a:ln/>
        </p:spPr>
      </p:sp>
      <p:sp>
        <p:nvSpPr>
          <p:cNvPr id="14" name="Shape 12"/>
          <p:cNvSpPr/>
          <p:nvPr/>
        </p:nvSpPr>
        <p:spPr>
          <a:xfrm>
            <a:off x="7132439" y="4638318"/>
            <a:ext cx="1306830" cy="4246602"/>
          </a:xfrm>
          <a:custGeom>
            <a:avLst/>
            <a:gdLst/>
            <a:ahLst/>
            <a:cxnLst/>
            <a:rect l="l" t="t" r="r" b="b"/>
            <a:pathLst>
              <a:path w="1306830" h="4246602">
                <a:moveTo>
                  <a:pt x="57150" y="0"/>
                </a:moveTo>
                <a:lnTo>
                  <a:pt x="1249680" y="0"/>
                </a:lnTo>
                <a:arcTo hR="57150" wR="57150" stAng="16200000" swAng="5400000"/>
                <a:lnTo>
                  <a:pt x="1306830" y="4246602"/>
                </a:lnTo>
                <a:lnTo>
                  <a:pt x="0" y="4246602"/>
                </a:lnTo>
                <a:lnTo>
                  <a:pt x="0" y="57150"/>
                </a:lnTo>
                <a:arcTo hR="57150" wR="57150" stAng="10800000" swAng="5400000"/>
                <a:close/>
              </a:path>
            </a:pathLst>
          </a:custGeom>
          <a:solidFill>
            <a:srgbClr val="009EE0"/>
          </a:solidFill>
          <a:ln/>
        </p:spPr>
      </p:sp>
      <p:sp>
        <p:nvSpPr>
          <p:cNvPr id="15" name="Shape 13"/>
          <p:cNvSpPr/>
          <p:nvPr/>
        </p:nvSpPr>
        <p:spPr>
          <a:xfrm>
            <a:off x="8591669" y="3440430"/>
            <a:ext cx="1306830" cy="5444490"/>
          </a:xfrm>
          <a:custGeom>
            <a:avLst/>
            <a:gdLst/>
            <a:ahLst/>
            <a:cxnLst/>
            <a:rect l="l" t="t" r="r" b="b"/>
            <a:pathLst>
              <a:path w="1306830" h="5444490">
                <a:moveTo>
                  <a:pt x="57150" y="0"/>
                </a:moveTo>
                <a:lnTo>
                  <a:pt x="1249680" y="0"/>
                </a:lnTo>
                <a:arcTo hR="57150" wR="57150" stAng="16200000" swAng="5400000"/>
                <a:lnTo>
                  <a:pt x="1306830" y="5444490"/>
                </a:lnTo>
                <a:lnTo>
                  <a:pt x="0" y="5444490"/>
                </a:lnTo>
                <a:lnTo>
                  <a:pt x="0" y="57150"/>
                </a:lnTo>
                <a:arcTo hR="57150" wR="57150" stAng="10800000" swAng="5400000"/>
                <a:close/>
              </a:path>
            </a:pathLst>
          </a:custGeom>
          <a:solidFill>
            <a:srgbClr val="0086C9"/>
          </a:solidFill>
          <a:ln/>
        </p:spPr>
      </p:sp>
      <p:sp>
        <p:nvSpPr>
          <p:cNvPr id="16" name="Text 14"/>
          <p:cNvSpPr/>
          <p:nvPr/>
        </p:nvSpPr>
        <p:spPr>
          <a:xfrm>
            <a:off x="1295400" y="9018270"/>
            <a:ext cx="47017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8 %</a:t>
            </a:r>
            <a:endParaRPr lang="en-US" sz="1800" dirty="0"/>
          </a:p>
        </p:txBody>
      </p:sp>
      <p:sp>
        <p:nvSpPr>
          <p:cNvPr id="17" name="Text 15"/>
          <p:cNvSpPr/>
          <p:nvPr/>
        </p:nvSpPr>
        <p:spPr>
          <a:xfrm>
            <a:off x="2866072" y="9018270"/>
            <a:ext cx="52732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M+1</a:t>
            </a:r>
            <a:endParaRPr lang="en-US" sz="1800" dirty="0"/>
          </a:p>
        </p:txBody>
      </p:sp>
      <p:sp>
        <p:nvSpPr>
          <p:cNvPr id="18" name="Text 16"/>
          <p:cNvSpPr/>
          <p:nvPr/>
        </p:nvSpPr>
        <p:spPr>
          <a:xfrm>
            <a:off x="4493895" y="9018270"/>
            <a:ext cx="52732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M+2</a:t>
            </a:r>
            <a:endParaRPr lang="en-US" sz="1800" dirty="0"/>
          </a:p>
        </p:txBody>
      </p:sp>
      <p:sp>
        <p:nvSpPr>
          <p:cNvPr id="19" name="Text 17"/>
          <p:cNvSpPr/>
          <p:nvPr/>
        </p:nvSpPr>
        <p:spPr>
          <a:xfrm>
            <a:off x="6121718" y="9018270"/>
            <a:ext cx="52732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M+3</a:t>
            </a:r>
            <a:endParaRPr lang="en-US" sz="1800" dirty="0"/>
          </a:p>
        </p:txBody>
      </p:sp>
      <p:sp>
        <p:nvSpPr>
          <p:cNvPr id="20" name="Text 18"/>
          <p:cNvSpPr/>
          <p:nvPr/>
        </p:nvSpPr>
        <p:spPr>
          <a:xfrm>
            <a:off x="7749540" y="9018270"/>
            <a:ext cx="52732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M+4</a:t>
            </a:r>
            <a:endParaRPr lang="en-US" sz="1800" dirty="0"/>
          </a:p>
        </p:txBody>
      </p:sp>
      <p:sp>
        <p:nvSpPr>
          <p:cNvPr id="21" name="Text 19"/>
          <p:cNvSpPr/>
          <p:nvPr/>
        </p:nvSpPr>
        <p:spPr>
          <a:xfrm>
            <a:off x="9377363" y="9018270"/>
            <a:ext cx="59733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24 %</a:t>
            </a:r>
            <a:endParaRPr lang="en-US" sz="1800" dirty="0"/>
          </a:p>
        </p:txBody>
      </p:sp>
      <p:sp>
        <p:nvSpPr>
          <p:cNvPr id="22" name="Text 20"/>
          <p:cNvSpPr/>
          <p:nvPr/>
        </p:nvSpPr>
        <p:spPr>
          <a:xfrm>
            <a:off x="10717649" y="2647950"/>
            <a:ext cx="90213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Principe</a:t>
            </a:r>
            <a:endParaRPr lang="en-US" sz="1800" dirty="0"/>
          </a:p>
        </p:txBody>
      </p:sp>
      <p:sp>
        <p:nvSpPr>
          <p:cNvPr id="23" name="Text 21"/>
          <p:cNvSpPr/>
          <p:nvPr/>
        </p:nvSpPr>
        <p:spPr>
          <a:xfrm>
            <a:off x="10717649" y="2983230"/>
            <a:ext cx="6816387"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On suit un seul indicateur et on le compare à l'historique du même distributeur — jamais aux autres. Au-delà d'un certain écart, il est classé atypique.</a:t>
            </a:r>
            <a:endParaRPr lang="en-US" sz="1800" dirty="0"/>
          </a:p>
        </p:txBody>
      </p:sp>
      <p:sp>
        <p:nvSpPr>
          <p:cNvPr id="24" name="Text 22"/>
          <p:cNvSpPr/>
          <p:nvPr/>
        </p:nvSpPr>
        <p:spPr>
          <a:xfrm>
            <a:off x="10717649" y="4221480"/>
            <a:ext cx="96559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Exemple</a:t>
            </a:r>
            <a:endParaRPr lang="en-US" sz="1800" dirty="0"/>
          </a:p>
        </p:txBody>
      </p:sp>
      <p:sp>
        <p:nvSpPr>
          <p:cNvPr id="25" name="Text 23"/>
          <p:cNvSpPr/>
          <p:nvPr/>
        </p:nvSpPr>
        <p:spPr>
          <a:xfrm>
            <a:off x="10717649" y="4556760"/>
            <a:ext cx="6816387"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8 % de retraits de nuit habituellement, 24 % trois mois plus tard — sans franchir aucun seuil réseau fixe.</a:t>
            </a:r>
            <a:endParaRPr lang="en-US" sz="1800" dirty="0"/>
          </a:p>
        </p:txBody>
      </p:sp>
      <p:sp>
        <p:nvSpPr>
          <p:cNvPr id="26" name="Shape 24"/>
          <p:cNvSpPr/>
          <p:nvPr/>
        </p:nvSpPr>
        <p:spPr>
          <a:xfrm>
            <a:off x="10717649" y="5452110"/>
            <a:ext cx="6617851" cy="1440180"/>
          </a:xfrm>
          <a:prstGeom prst="roundRect">
            <a:avLst>
              <a:gd name="adj" fmla="val 9259"/>
            </a:avLst>
          </a:prstGeom>
          <a:solidFill>
            <a:srgbClr val="0C2350"/>
          </a:solidFill>
          <a:ln/>
        </p:spPr>
      </p:sp>
      <p:sp>
        <p:nvSpPr>
          <p:cNvPr id="27" name="Text 25"/>
          <p:cNvSpPr/>
          <p:nvPr/>
        </p:nvSpPr>
        <p:spPr>
          <a:xfrm>
            <a:off x="10965299" y="5661660"/>
            <a:ext cx="206904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Ce que ça apporte</a:t>
            </a:r>
            <a:endParaRPr lang="en-US" sz="1800" dirty="0"/>
          </a:p>
        </p:txBody>
      </p:sp>
      <p:sp>
        <p:nvSpPr>
          <p:cNvPr id="28" name="Text 26"/>
          <p:cNvSpPr/>
          <p:nvPr/>
        </p:nvSpPr>
        <p:spPr>
          <a:xfrm>
            <a:off x="10965299" y="5996940"/>
            <a:ext cx="6306228"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Une détection qui s'adapte à chaque distributeur, sans seuil universel arbitraire.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 Vue d'ensemble</a:t>
            </a:r>
            <a:endParaRPr lang="en-US" sz="1800" dirty="0"/>
          </a:p>
        </p:txBody>
      </p:sp>
      <p:sp>
        <p:nvSpPr>
          <p:cNvPr id="3" name="Text 1"/>
          <p:cNvSpPr/>
          <p:nvPr/>
        </p:nvSpPr>
        <p:spPr>
          <a:xfrm>
            <a:off x="952500" y="1097280"/>
            <a:ext cx="18021300" cy="29718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009EE0"/>
                </a:solidFill>
                <a:latin typeface="Arial" pitchFamily="34" charset="0"/>
                <a:ea typeface="Arial" pitchFamily="34" charset="-122"/>
                <a:cs typeface="Arial" pitchFamily="34" charset="-120"/>
              </a:rPr>
              <a:t>APPROCHE 2</a:t>
            </a:r>
            <a:endParaRPr lang="en-US" sz="1800" dirty="0"/>
          </a:p>
        </p:txBody>
      </p:sp>
      <p:sp>
        <p:nvSpPr>
          <p:cNvPr id="4" name="Text 2"/>
          <p:cNvSpPr/>
          <p:nvPr/>
        </p:nvSpPr>
        <p:spPr>
          <a:xfrm>
            <a:off x="952500" y="1489710"/>
            <a:ext cx="18021300" cy="541020"/>
          </a:xfrm>
          <a:prstGeom prst="rect">
            <a:avLst/>
          </a:prstGeom>
          <a:noFill/>
          <a:ln/>
        </p:spPr>
        <p:txBody>
          <a:bodyPr wrap="square" lIns="25400" tIns="25400" rIns="25400" bIns="25400" rtlCol="0" anchor="t">
            <a:normAutofit/>
          </a:bodyPr>
          <a:lstStyle/>
          <a:p>
            <a:pPr algn="l" indent="0" marL="0">
              <a:buNone/>
            </a:pPr>
            <a:r>
              <a:rPr lang="en-US" sz="3450" b="1" dirty="0">
                <a:solidFill>
                  <a:srgbClr val="0C2350"/>
                </a:solidFill>
                <a:latin typeface="Arial" pitchFamily="34" charset="0"/>
                <a:ea typeface="Arial" pitchFamily="34" charset="-122"/>
                <a:cs typeface="Arial" pitchFamily="34" charset="-120"/>
              </a:rPr>
              <a:t>Multi-critère — isolé ou systémique ?</a:t>
            </a:r>
            <a:endParaRPr lang="en-US" sz="3450" dirty="0"/>
          </a:p>
        </p:txBody>
      </p:sp>
      <p:sp>
        <p:nvSpPr>
          <p:cNvPr id="5" name="Text 3"/>
          <p:cNvSpPr/>
          <p:nvPr/>
        </p:nvSpPr>
        <p:spPr>
          <a:xfrm>
            <a:off x="952500" y="2087880"/>
            <a:ext cx="180213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Indicateurs mobilisés ici : </a:t>
            </a:r>
            <a:pPr algn="l" indent="0" marL="0">
              <a:buNone/>
            </a:pPr>
            <a:r>
              <a:rPr lang="en-US" sz="1800" b="1" dirty="0">
                <a:solidFill>
                  <a:srgbClr val="0C2350"/>
                </a:solidFill>
                <a:latin typeface="Arial" pitchFamily="34" charset="0"/>
                <a:ea typeface="Arial" pitchFamily="34" charset="-122"/>
                <a:cs typeface="Arial" pitchFamily="34" charset="-120"/>
              </a:rPr>
              <a:t>part de nuit + part de week-end + taux de cartes avalées</a:t>
            </a:r>
            <a:pPr algn="l" indent="0" marL="0">
              <a:buNone/>
            </a:pPr>
            <a:r>
              <a:rPr lang="en-US" sz="1800" dirty="0">
                <a:solidFill>
                  <a:srgbClr val="64758F"/>
                </a:solidFill>
                <a:latin typeface="Arial" pitchFamily="34" charset="0"/>
                <a:ea typeface="Arial" pitchFamily="34" charset="-122"/>
                <a:cs typeface="Arial" pitchFamily="34" charset="-120"/>
              </a:rPr>
              <a:t>, croisés</a:t>
            </a:r>
            <a:endParaRPr lang="en-US" sz="1800" dirty="0"/>
          </a:p>
        </p:txBody>
      </p:sp>
      <p:sp>
        <p:nvSpPr>
          <p:cNvPr id="6" name="Shape 4"/>
          <p:cNvSpPr/>
          <p:nvPr/>
        </p:nvSpPr>
        <p:spPr>
          <a:xfrm>
            <a:off x="952500" y="2647950"/>
            <a:ext cx="8988147" cy="6972300"/>
          </a:xfrm>
          <a:prstGeom prst="roundRect">
            <a:avLst>
              <a:gd name="adj" fmla="val 2732"/>
            </a:avLst>
          </a:prstGeom>
          <a:solidFill>
            <a:srgbClr val="F2F8FC"/>
          </a:solidFill>
          <a:ln/>
        </p:spPr>
      </p:sp>
      <p:sp>
        <p:nvSpPr>
          <p:cNvPr id="7" name="Text 5"/>
          <p:cNvSpPr/>
          <p:nvPr/>
        </p:nvSpPr>
        <p:spPr>
          <a:xfrm>
            <a:off x="1295400" y="2990850"/>
            <a:ext cx="576288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Trois indicateurs suivis en parallèle — distributeur A</a:t>
            </a:r>
            <a:endParaRPr lang="en-US" sz="1800" dirty="0"/>
          </a:p>
        </p:txBody>
      </p:sp>
      <p:sp>
        <p:nvSpPr>
          <p:cNvPr id="8" name="Text 6"/>
          <p:cNvSpPr/>
          <p:nvPr/>
        </p:nvSpPr>
        <p:spPr>
          <a:xfrm>
            <a:off x="1295400" y="3573780"/>
            <a:ext cx="3800562"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Indicateur</a:t>
            </a:r>
            <a:endParaRPr lang="en-US" sz="1800" dirty="0"/>
          </a:p>
        </p:txBody>
      </p:sp>
      <p:sp>
        <p:nvSpPr>
          <p:cNvPr id="9" name="Text 7"/>
          <p:cNvSpPr/>
          <p:nvPr/>
        </p:nvSpPr>
        <p:spPr>
          <a:xfrm>
            <a:off x="4947166" y="3573780"/>
            <a:ext cx="2382441"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Mois M</a:t>
            </a:r>
            <a:endParaRPr lang="en-US" sz="1800" dirty="0"/>
          </a:p>
        </p:txBody>
      </p:sp>
      <p:sp>
        <p:nvSpPr>
          <p:cNvPr id="10" name="Text 8"/>
          <p:cNvSpPr/>
          <p:nvPr/>
        </p:nvSpPr>
        <p:spPr>
          <a:xfrm>
            <a:off x="7253407" y="3573780"/>
            <a:ext cx="2382441"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Mois M+2</a:t>
            </a:r>
            <a:endParaRPr lang="en-US" sz="1800" dirty="0"/>
          </a:p>
        </p:txBody>
      </p:sp>
      <p:sp>
        <p:nvSpPr>
          <p:cNvPr id="11" name="Shape 9"/>
          <p:cNvSpPr/>
          <p:nvPr/>
        </p:nvSpPr>
        <p:spPr>
          <a:xfrm>
            <a:off x="1295400" y="3928110"/>
            <a:ext cx="3689866" cy="9525"/>
          </a:xfrm>
          <a:prstGeom prst="rect">
            <a:avLst/>
          </a:prstGeom>
          <a:solidFill>
            <a:srgbClr val="C2D6E8"/>
          </a:solidFill>
          <a:ln/>
        </p:spPr>
      </p:sp>
      <p:sp>
        <p:nvSpPr>
          <p:cNvPr id="12" name="Text 10"/>
          <p:cNvSpPr/>
          <p:nvPr/>
        </p:nvSpPr>
        <p:spPr>
          <a:xfrm>
            <a:off x="1295400" y="4050030"/>
            <a:ext cx="380056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Part de nuit</a:t>
            </a:r>
            <a:endParaRPr lang="en-US" sz="1800" dirty="0"/>
          </a:p>
        </p:txBody>
      </p:sp>
      <p:sp>
        <p:nvSpPr>
          <p:cNvPr id="13" name="Shape 11"/>
          <p:cNvSpPr/>
          <p:nvPr/>
        </p:nvSpPr>
        <p:spPr>
          <a:xfrm>
            <a:off x="4985266" y="3928110"/>
            <a:ext cx="2306241" cy="9525"/>
          </a:xfrm>
          <a:prstGeom prst="rect">
            <a:avLst/>
          </a:prstGeom>
          <a:solidFill>
            <a:srgbClr val="C2D6E8"/>
          </a:solidFill>
          <a:ln/>
        </p:spPr>
      </p:sp>
      <p:sp>
        <p:nvSpPr>
          <p:cNvPr id="14" name="Text 12"/>
          <p:cNvSpPr/>
          <p:nvPr/>
        </p:nvSpPr>
        <p:spPr>
          <a:xfrm>
            <a:off x="4947166" y="405003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highlight>
                  <a:srgbClr val="009EE0"/>
                </a:highlight>
                <a:latin typeface="Arial" pitchFamily="34" charset="0"/>
                <a:ea typeface="Arial" pitchFamily="34" charset="-122"/>
                <a:cs typeface="Arial" pitchFamily="34" charset="-120"/>
              </a:rPr>
              <a:t>✓</a:t>
            </a:r>
            <a:endParaRPr lang="en-US" sz="1800" dirty="0"/>
          </a:p>
        </p:txBody>
      </p:sp>
      <p:sp>
        <p:nvSpPr>
          <p:cNvPr id="15" name="Shape 13"/>
          <p:cNvSpPr/>
          <p:nvPr/>
        </p:nvSpPr>
        <p:spPr>
          <a:xfrm>
            <a:off x="7291507" y="3928110"/>
            <a:ext cx="2306241" cy="9525"/>
          </a:xfrm>
          <a:prstGeom prst="rect">
            <a:avLst/>
          </a:prstGeom>
          <a:solidFill>
            <a:srgbClr val="C2D6E8"/>
          </a:solidFill>
          <a:ln/>
        </p:spPr>
      </p:sp>
      <p:sp>
        <p:nvSpPr>
          <p:cNvPr id="16" name="Text 14"/>
          <p:cNvSpPr/>
          <p:nvPr/>
        </p:nvSpPr>
        <p:spPr>
          <a:xfrm>
            <a:off x="7253407" y="405003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highlight>
                  <a:srgbClr val="009EE0"/>
                </a:highlight>
                <a:latin typeface="Arial" pitchFamily="34" charset="0"/>
                <a:ea typeface="Arial" pitchFamily="34" charset="-122"/>
                <a:cs typeface="Arial" pitchFamily="34" charset="-120"/>
              </a:rPr>
              <a:t>✓</a:t>
            </a:r>
            <a:endParaRPr lang="en-US" sz="1800" dirty="0"/>
          </a:p>
        </p:txBody>
      </p:sp>
      <p:sp>
        <p:nvSpPr>
          <p:cNvPr id="17" name="Shape 15"/>
          <p:cNvSpPr/>
          <p:nvPr/>
        </p:nvSpPr>
        <p:spPr>
          <a:xfrm>
            <a:off x="1295400" y="4438650"/>
            <a:ext cx="3689866" cy="9525"/>
          </a:xfrm>
          <a:prstGeom prst="rect">
            <a:avLst/>
          </a:prstGeom>
          <a:solidFill>
            <a:srgbClr val="C2D6E8"/>
          </a:solidFill>
          <a:ln/>
        </p:spPr>
      </p:sp>
      <p:sp>
        <p:nvSpPr>
          <p:cNvPr id="18" name="Text 16"/>
          <p:cNvSpPr/>
          <p:nvPr/>
        </p:nvSpPr>
        <p:spPr>
          <a:xfrm>
            <a:off x="1295400" y="4560570"/>
            <a:ext cx="380056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Part de week-end</a:t>
            </a:r>
            <a:endParaRPr lang="en-US" sz="1800" dirty="0"/>
          </a:p>
        </p:txBody>
      </p:sp>
      <p:sp>
        <p:nvSpPr>
          <p:cNvPr id="19" name="Shape 17"/>
          <p:cNvSpPr/>
          <p:nvPr/>
        </p:nvSpPr>
        <p:spPr>
          <a:xfrm>
            <a:off x="4985266" y="4438650"/>
            <a:ext cx="2306241" cy="9525"/>
          </a:xfrm>
          <a:prstGeom prst="rect">
            <a:avLst/>
          </a:prstGeom>
          <a:solidFill>
            <a:srgbClr val="C2D6E8"/>
          </a:solidFill>
          <a:ln/>
        </p:spPr>
      </p:sp>
      <p:sp>
        <p:nvSpPr>
          <p:cNvPr id="20" name="Text 18"/>
          <p:cNvSpPr/>
          <p:nvPr/>
        </p:nvSpPr>
        <p:spPr>
          <a:xfrm>
            <a:off x="4947166" y="456057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8A99B3"/>
                </a:solidFill>
                <a:highlight>
                  <a:srgbClr val="C2D6E8"/>
                </a:highlight>
                <a:latin typeface="Arial" pitchFamily="34" charset="0"/>
                <a:ea typeface="Arial" pitchFamily="34" charset="-122"/>
                <a:cs typeface="Arial" pitchFamily="34" charset="-120"/>
              </a:rPr>
              <a:t>–</a:t>
            </a:r>
            <a:endParaRPr lang="en-US" sz="1800" dirty="0"/>
          </a:p>
        </p:txBody>
      </p:sp>
      <p:sp>
        <p:nvSpPr>
          <p:cNvPr id="21" name="Shape 19"/>
          <p:cNvSpPr/>
          <p:nvPr/>
        </p:nvSpPr>
        <p:spPr>
          <a:xfrm>
            <a:off x="7291507" y="4438650"/>
            <a:ext cx="2306241" cy="9525"/>
          </a:xfrm>
          <a:prstGeom prst="rect">
            <a:avLst/>
          </a:prstGeom>
          <a:solidFill>
            <a:srgbClr val="C2D6E8"/>
          </a:solidFill>
          <a:ln/>
        </p:spPr>
      </p:sp>
      <p:sp>
        <p:nvSpPr>
          <p:cNvPr id="22" name="Text 20"/>
          <p:cNvSpPr/>
          <p:nvPr/>
        </p:nvSpPr>
        <p:spPr>
          <a:xfrm>
            <a:off x="7253407" y="456057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highlight>
                  <a:srgbClr val="009EE0"/>
                </a:highlight>
                <a:latin typeface="Arial" pitchFamily="34" charset="0"/>
                <a:ea typeface="Arial" pitchFamily="34" charset="-122"/>
                <a:cs typeface="Arial" pitchFamily="34" charset="-120"/>
              </a:rPr>
              <a:t>✓</a:t>
            </a:r>
            <a:endParaRPr lang="en-US" sz="1800" dirty="0"/>
          </a:p>
        </p:txBody>
      </p:sp>
      <p:sp>
        <p:nvSpPr>
          <p:cNvPr id="23" name="Shape 21"/>
          <p:cNvSpPr/>
          <p:nvPr/>
        </p:nvSpPr>
        <p:spPr>
          <a:xfrm>
            <a:off x="1295400" y="4949190"/>
            <a:ext cx="3689866" cy="9525"/>
          </a:xfrm>
          <a:prstGeom prst="rect">
            <a:avLst/>
          </a:prstGeom>
          <a:solidFill>
            <a:srgbClr val="C2D6E8"/>
          </a:solidFill>
          <a:ln/>
        </p:spPr>
      </p:sp>
      <p:sp>
        <p:nvSpPr>
          <p:cNvPr id="24" name="Text 22"/>
          <p:cNvSpPr/>
          <p:nvPr/>
        </p:nvSpPr>
        <p:spPr>
          <a:xfrm>
            <a:off x="1295400" y="5071110"/>
            <a:ext cx="380056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Taux cartes avalées</a:t>
            </a:r>
            <a:endParaRPr lang="en-US" sz="1800" dirty="0"/>
          </a:p>
        </p:txBody>
      </p:sp>
      <p:sp>
        <p:nvSpPr>
          <p:cNvPr id="25" name="Shape 23"/>
          <p:cNvSpPr/>
          <p:nvPr/>
        </p:nvSpPr>
        <p:spPr>
          <a:xfrm>
            <a:off x="4985266" y="4949190"/>
            <a:ext cx="2306241" cy="9525"/>
          </a:xfrm>
          <a:prstGeom prst="rect">
            <a:avLst/>
          </a:prstGeom>
          <a:solidFill>
            <a:srgbClr val="C2D6E8"/>
          </a:solidFill>
          <a:ln/>
        </p:spPr>
      </p:sp>
      <p:sp>
        <p:nvSpPr>
          <p:cNvPr id="26" name="Text 24"/>
          <p:cNvSpPr/>
          <p:nvPr/>
        </p:nvSpPr>
        <p:spPr>
          <a:xfrm>
            <a:off x="4947166" y="507111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8A99B3"/>
                </a:solidFill>
                <a:highlight>
                  <a:srgbClr val="C2D6E8"/>
                </a:highlight>
                <a:latin typeface="Arial" pitchFamily="34" charset="0"/>
                <a:ea typeface="Arial" pitchFamily="34" charset="-122"/>
                <a:cs typeface="Arial" pitchFamily="34" charset="-120"/>
              </a:rPr>
              <a:t>–</a:t>
            </a:r>
            <a:endParaRPr lang="en-US" sz="1800" dirty="0"/>
          </a:p>
        </p:txBody>
      </p:sp>
      <p:sp>
        <p:nvSpPr>
          <p:cNvPr id="27" name="Shape 25"/>
          <p:cNvSpPr/>
          <p:nvPr/>
        </p:nvSpPr>
        <p:spPr>
          <a:xfrm>
            <a:off x="7291507" y="4949190"/>
            <a:ext cx="2306241" cy="9525"/>
          </a:xfrm>
          <a:prstGeom prst="rect">
            <a:avLst/>
          </a:prstGeom>
          <a:solidFill>
            <a:srgbClr val="C2D6E8"/>
          </a:solidFill>
          <a:ln/>
        </p:spPr>
      </p:sp>
      <p:sp>
        <p:nvSpPr>
          <p:cNvPr id="28" name="Text 26"/>
          <p:cNvSpPr/>
          <p:nvPr/>
        </p:nvSpPr>
        <p:spPr>
          <a:xfrm>
            <a:off x="7253407" y="5071110"/>
            <a:ext cx="2382441" cy="31242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highlight>
                  <a:srgbClr val="009EE0"/>
                </a:highlight>
                <a:latin typeface="Arial" pitchFamily="34" charset="0"/>
                <a:ea typeface="Arial" pitchFamily="34" charset="-122"/>
                <a:cs typeface="Arial" pitchFamily="34" charset="-120"/>
              </a:rPr>
              <a:t>✓</a:t>
            </a:r>
            <a:endParaRPr lang="en-US" sz="1800" dirty="0"/>
          </a:p>
        </p:txBody>
      </p:sp>
      <p:sp>
        <p:nvSpPr>
          <p:cNvPr id="29" name="Shape 27"/>
          <p:cNvSpPr/>
          <p:nvPr/>
        </p:nvSpPr>
        <p:spPr>
          <a:xfrm>
            <a:off x="1295400" y="5459730"/>
            <a:ext cx="3689866" cy="9525"/>
          </a:xfrm>
          <a:prstGeom prst="rect">
            <a:avLst/>
          </a:prstGeom>
          <a:solidFill>
            <a:srgbClr val="C2D6E8"/>
          </a:solidFill>
          <a:ln/>
        </p:spPr>
      </p:sp>
      <p:sp>
        <p:nvSpPr>
          <p:cNvPr id="30" name="Text 28"/>
          <p:cNvSpPr/>
          <p:nvPr/>
        </p:nvSpPr>
        <p:spPr>
          <a:xfrm>
            <a:off x="1295400" y="5600700"/>
            <a:ext cx="3800562" cy="31242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Statut</a:t>
            </a:r>
            <a:endParaRPr lang="en-US" sz="1800" dirty="0"/>
          </a:p>
        </p:txBody>
      </p:sp>
      <p:sp>
        <p:nvSpPr>
          <p:cNvPr id="31" name="Shape 29"/>
          <p:cNvSpPr/>
          <p:nvPr/>
        </p:nvSpPr>
        <p:spPr>
          <a:xfrm>
            <a:off x="4985266" y="5459730"/>
            <a:ext cx="2306241" cy="9525"/>
          </a:xfrm>
          <a:prstGeom prst="rect">
            <a:avLst/>
          </a:prstGeom>
          <a:solidFill>
            <a:srgbClr val="C2D6E8"/>
          </a:solidFill>
          <a:ln/>
        </p:spPr>
      </p:sp>
      <p:sp>
        <p:nvSpPr>
          <p:cNvPr id="32" name="Shape 30"/>
          <p:cNvSpPr/>
          <p:nvPr/>
        </p:nvSpPr>
        <p:spPr>
          <a:xfrm>
            <a:off x="5782628" y="5568315"/>
            <a:ext cx="711518" cy="346710"/>
          </a:xfrm>
          <a:prstGeom prst="roundRect">
            <a:avLst>
              <a:gd name="adj" fmla="val 50000"/>
            </a:avLst>
          </a:prstGeom>
          <a:solidFill>
            <a:srgbClr val="E7F2FB"/>
          </a:solidFill>
          <a:ln/>
        </p:spPr>
      </p:sp>
      <p:sp>
        <p:nvSpPr>
          <p:cNvPr id="33" name="Text 31"/>
          <p:cNvSpPr/>
          <p:nvPr/>
        </p:nvSpPr>
        <p:spPr>
          <a:xfrm>
            <a:off x="5861352" y="5615940"/>
            <a:ext cx="554069" cy="289560"/>
          </a:xfrm>
          <a:prstGeom prst="rect">
            <a:avLst/>
          </a:prstGeom>
          <a:noFill/>
          <a:ln/>
        </p:spPr>
        <p:txBody>
          <a:bodyPr wrap="square" lIns="25400" tIns="25400" rIns="25400" bIns="25400" rtlCol="0" anchor="t">
            <a:normAutofit/>
          </a:bodyPr>
          <a:lstStyle/>
          <a:p>
            <a:pPr algn="ctr" indent="0" marL="0">
              <a:buNone/>
            </a:pPr>
            <a:r>
              <a:rPr lang="en-US" sz="1800" b="1" dirty="0">
                <a:solidFill>
                  <a:srgbClr val="0086C9"/>
                </a:solidFill>
                <a:latin typeface="Arial" pitchFamily="34" charset="0"/>
                <a:ea typeface="Arial" pitchFamily="34" charset="-122"/>
                <a:cs typeface="Arial" pitchFamily="34" charset="-120"/>
              </a:rPr>
              <a:t>Isolé</a:t>
            </a:r>
            <a:endParaRPr lang="en-US" sz="1800" dirty="0"/>
          </a:p>
        </p:txBody>
      </p:sp>
      <p:sp>
        <p:nvSpPr>
          <p:cNvPr id="34" name="Shape 32"/>
          <p:cNvSpPr/>
          <p:nvPr/>
        </p:nvSpPr>
        <p:spPr>
          <a:xfrm>
            <a:off x="7291507" y="5459730"/>
            <a:ext cx="2306241" cy="9525"/>
          </a:xfrm>
          <a:prstGeom prst="rect">
            <a:avLst/>
          </a:prstGeom>
          <a:solidFill>
            <a:srgbClr val="C2D6E8"/>
          </a:solidFill>
          <a:ln/>
        </p:spPr>
      </p:sp>
      <p:sp>
        <p:nvSpPr>
          <p:cNvPr id="35" name="Shape 33"/>
          <p:cNvSpPr/>
          <p:nvPr/>
        </p:nvSpPr>
        <p:spPr>
          <a:xfrm>
            <a:off x="7733109" y="5568315"/>
            <a:ext cx="1423035" cy="346710"/>
          </a:xfrm>
          <a:prstGeom prst="roundRect">
            <a:avLst>
              <a:gd name="adj" fmla="val 50000"/>
            </a:avLst>
          </a:prstGeom>
          <a:solidFill>
            <a:srgbClr val="0C2350"/>
          </a:solidFill>
          <a:ln/>
        </p:spPr>
      </p:sp>
      <p:sp>
        <p:nvSpPr>
          <p:cNvPr id="36" name="Text 34"/>
          <p:cNvSpPr/>
          <p:nvPr/>
        </p:nvSpPr>
        <p:spPr>
          <a:xfrm>
            <a:off x="7776258" y="5615940"/>
            <a:ext cx="1336739" cy="28956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Systémique</a:t>
            </a:r>
            <a:endParaRPr lang="en-US" sz="1800" dirty="0"/>
          </a:p>
        </p:txBody>
      </p:sp>
      <p:sp>
        <p:nvSpPr>
          <p:cNvPr id="37" name="Text 35"/>
          <p:cNvSpPr/>
          <p:nvPr/>
        </p:nvSpPr>
        <p:spPr>
          <a:xfrm>
            <a:off x="10416898" y="2647950"/>
            <a:ext cx="90213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Principe</a:t>
            </a:r>
            <a:endParaRPr lang="en-US" sz="1800" dirty="0"/>
          </a:p>
        </p:txBody>
      </p:sp>
      <p:sp>
        <p:nvSpPr>
          <p:cNvPr id="38" name="Text 36"/>
          <p:cNvSpPr/>
          <p:nvPr/>
        </p:nvSpPr>
        <p:spPr>
          <a:xfrm>
            <a:off x="10416898" y="2983230"/>
            <a:ext cx="7126161"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On observe plusieurs indicateurs en même temps et on compte combien dévient au même moment. Un seul isolé reste peu préoccupant ; plusieurs ensemble deviennent systémiques.</a:t>
            </a:r>
            <a:endParaRPr lang="en-US" sz="1800" dirty="0"/>
          </a:p>
        </p:txBody>
      </p:sp>
      <p:sp>
        <p:nvSpPr>
          <p:cNvPr id="39" name="Shape 37"/>
          <p:cNvSpPr/>
          <p:nvPr/>
        </p:nvSpPr>
        <p:spPr>
          <a:xfrm>
            <a:off x="10416898" y="4221480"/>
            <a:ext cx="6918603" cy="1440180"/>
          </a:xfrm>
          <a:prstGeom prst="roundRect">
            <a:avLst>
              <a:gd name="adj" fmla="val 9259"/>
            </a:avLst>
          </a:prstGeom>
          <a:solidFill>
            <a:srgbClr val="0C2350"/>
          </a:solidFill>
          <a:ln/>
        </p:spPr>
      </p:sp>
      <p:sp>
        <p:nvSpPr>
          <p:cNvPr id="40" name="Text 38"/>
          <p:cNvSpPr/>
          <p:nvPr/>
        </p:nvSpPr>
        <p:spPr>
          <a:xfrm>
            <a:off x="10664548" y="4431030"/>
            <a:ext cx="206904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Ce que ça apporte</a:t>
            </a:r>
            <a:endParaRPr lang="en-US" sz="1800" dirty="0"/>
          </a:p>
        </p:txBody>
      </p:sp>
      <p:sp>
        <p:nvSpPr>
          <p:cNvPr id="41" name="Text 39"/>
          <p:cNvSpPr/>
          <p:nvPr/>
        </p:nvSpPr>
        <p:spPr>
          <a:xfrm>
            <a:off x="10664548" y="4766310"/>
            <a:ext cx="6616002"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Moins de fausses alertes, priorisation automatique de la criticité.</a:t>
            </a:r>
            <a:endParaRPr lang="en-US" sz="1800" dirty="0"/>
          </a:p>
        </p:txBody>
      </p:sp>
      <p:sp>
        <p:nvSpPr>
          <p:cNvPr id="42" name="Text 40"/>
          <p:cNvSpPr/>
          <p:nvPr/>
        </p:nvSpPr>
        <p:spPr>
          <a:xfrm>
            <a:off x="10416898" y="5871210"/>
            <a:ext cx="7610463"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8A99B3"/>
                </a:solidFill>
                <a:latin typeface="Arial" pitchFamily="34" charset="0"/>
                <a:ea typeface="Arial" pitchFamily="34" charset="-122"/>
                <a:cs typeface="Arial" pitchFamily="34" charset="-120"/>
              </a:rPr>
              <a:t>Exemple illustratif</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 Vue d'ensemble</a:t>
            </a:r>
            <a:endParaRPr lang="en-US" sz="1800" dirty="0"/>
          </a:p>
        </p:txBody>
      </p:sp>
      <p:sp>
        <p:nvSpPr>
          <p:cNvPr id="3" name="Text 1"/>
          <p:cNvSpPr/>
          <p:nvPr/>
        </p:nvSpPr>
        <p:spPr>
          <a:xfrm>
            <a:off x="952500" y="1097280"/>
            <a:ext cx="18021300" cy="29718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009EE0"/>
                </a:solidFill>
                <a:latin typeface="Arial" pitchFamily="34" charset="0"/>
                <a:ea typeface="Arial" pitchFamily="34" charset="-122"/>
                <a:cs typeface="Arial" pitchFamily="34" charset="-120"/>
              </a:rPr>
              <a:t>APPROCHE 3</a:t>
            </a:r>
            <a:endParaRPr lang="en-US" sz="1800" dirty="0"/>
          </a:p>
        </p:txBody>
      </p:sp>
      <p:sp>
        <p:nvSpPr>
          <p:cNvPr id="4" name="Text 2"/>
          <p:cNvSpPr/>
          <p:nvPr/>
        </p:nvSpPr>
        <p:spPr>
          <a:xfrm>
            <a:off x="952500" y="1489710"/>
            <a:ext cx="18021300" cy="541020"/>
          </a:xfrm>
          <a:prstGeom prst="rect">
            <a:avLst/>
          </a:prstGeom>
          <a:noFill/>
          <a:ln/>
        </p:spPr>
        <p:txBody>
          <a:bodyPr wrap="square" lIns="25400" tIns="25400" rIns="25400" bIns="25400" rtlCol="0" anchor="t">
            <a:normAutofit/>
          </a:bodyPr>
          <a:lstStyle/>
          <a:p>
            <a:pPr algn="l" indent="0" marL="0">
              <a:buNone/>
            </a:pPr>
            <a:r>
              <a:rPr lang="en-US" sz="3450" b="1" dirty="0">
                <a:solidFill>
                  <a:srgbClr val="0C2350"/>
                </a:solidFill>
                <a:latin typeface="Arial" pitchFamily="34" charset="0"/>
                <a:ea typeface="Arial" pitchFamily="34" charset="-122"/>
                <a:cs typeface="Arial" pitchFamily="34" charset="-120"/>
              </a:rPr>
              <a:t>Familles — comparer entre pairs, pas entre tous</a:t>
            </a:r>
            <a:endParaRPr lang="en-US" sz="3450" dirty="0"/>
          </a:p>
        </p:txBody>
      </p:sp>
      <p:sp>
        <p:nvSpPr>
          <p:cNvPr id="5" name="Text 3"/>
          <p:cNvSpPr/>
          <p:nvPr/>
        </p:nvSpPr>
        <p:spPr>
          <a:xfrm>
            <a:off x="952500" y="2087880"/>
            <a:ext cx="180213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Indicateurs mobilisés ici : </a:t>
            </a:r>
            <a:pPr algn="l" indent="0" marL="0">
              <a:buNone/>
            </a:pPr>
            <a:r>
              <a:rPr lang="en-US" sz="1800" b="1" dirty="0">
                <a:solidFill>
                  <a:srgbClr val="0C2350"/>
                </a:solidFill>
                <a:latin typeface="Arial" pitchFamily="34" charset="0"/>
                <a:ea typeface="Arial" pitchFamily="34" charset="-122"/>
                <a:cs typeface="Arial" pitchFamily="34" charset="-120"/>
              </a:rPr>
              <a:t>l'ensemble des indicateurs comportementaux</a:t>
            </a:r>
            <a:pPr algn="l" indent="0" marL="0">
              <a:buNone/>
            </a:pPr>
            <a:r>
              <a:rPr lang="en-US" sz="1800" dirty="0">
                <a:solidFill>
                  <a:srgbClr val="64758F"/>
                </a:solidFill>
                <a:latin typeface="Arial" pitchFamily="34" charset="0"/>
                <a:ea typeface="Arial" pitchFamily="34" charset="-122"/>
                <a:cs typeface="Arial" pitchFamily="34" charset="-120"/>
              </a:rPr>
              <a:t>, combinés</a:t>
            </a:r>
            <a:endParaRPr lang="en-US" sz="1800" dirty="0"/>
          </a:p>
        </p:txBody>
      </p:sp>
      <p:sp>
        <p:nvSpPr>
          <p:cNvPr id="6" name="Shape 4"/>
          <p:cNvSpPr/>
          <p:nvPr/>
        </p:nvSpPr>
        <p:spPr>
          <a:xfrm>
            <a:off x="952500" y="2647950"/>
            <a:ext cx="8988147" cy="6972300"/>
          </a:xfrm>
          <a:prstGeom prst="roundRect">
            <a:avLst>
              <a:gd name="adj" fmla="val 2732"/>
            </a:avLst>
          </a:prstGeom>
          <a:solidFill>
            <a:srgbClr val="F2F8FC"/>
          </a:solidFill>
          <a:ln/>
        </p:spPr>
      </p:sp>
      <p:sp>
        <p:nvSpPr>
          <p:cNvPr id="7" name="Text 5"/>
          <p:cNvSpPr/>
          <p:nvPr/>
        </p:nvSpPr>
        <p:spPr>
          <a:xfrm>
            <a:off x="1295400" y="2990850"/>
            <a:ext cx="2962775"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Familles de comportement</a:t>
            </a:r>
            <a:endParaRPr lang="en-US" sz="1800" dirty="0"/>
          </a:p>
        </p:txBody>
      </p:sp>
      <p:sp>
        <p:nvSpPr>
          <p:cNvPr id="8" name="Shape 6"/>
          <p:cNvSpPr/>
          <p:nvPr/>
        </p:nvSpPr>
        <p:spPr>
          <a:xfrm>
            <a:off x="1627465" y="3935730"/>
            <a:ext cx="1459230" cy="1459230"/>
          </a:xfrm>
          <a:prstGeom prst="ellipse">
            <a:avLst/>
          </a:prstGeom>
          <a:solidFill>
            <a:srgbClr val="009EE0">
              <a:alpha val="10000"/>
            </a:srgbClr>
          </a:solidFill>
          <a:ln w="15240">
            <a:solidFill>
              <a:srgbClr val="009EE0"/>
            </a:solidFill>
            <a:prstDash val="dash"/>
          </a:ln>
        </p:spPr>
      </p:sp>
      <p:sp>
        <p:nvSpPr>
          <p:cNvPr id="9" name="Text 7"/>
          <p:cNvSpPr/>
          <p:nvPr/>
        </p:nvSpPr>
        <p:spPr>
          <a:xfrm>
            <a:off x="1627465" y="3562350"/>
            <a:ext cx="87677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Urbaine</a:t>
            </a:r>
            <a:endParaRPr lang="en-US" sz="1800" dirty="0"/>
          </a:p>
        </p:txBody>
      </p:sp>
      <p:sp>
        <p:nvSpPr>
          <p:cNvPr id="10" name="Shape 8"/>
          <p:cNvSpPr/>
          <p:nvPr/>
        </p:nvSpPr>
        <p:spPr>
          <a:xfrm>
            <a:off x="2291596" y="4362450"/>
            <a:ext cx="152400" cy="152400"/>
          </a:xfrm>
          <a:prstGeom prst="ellipse">
            <a:avLst/>
          </a:prstGeom>
          <a:solidFill>
            <a:srgbClr val="0086C9"/>
          </a:solidFill>
          <a:ln/>
        </p:spPr>
      </p:sp>
      <p:sp>
        <p:nvSpPr>
          <p:cNvPr id="11" name="Shape 9"/>
          <p:cNvSpPr/>
          <p:nvPr/>
        </p:nvSpPr>
        <p:spPr>
          <a:xfrm>
            <a:off x="2955846" y="4789170"/>
            <a:ext cx="152400" cy="152400"/>
          </a:xfrm>
          <a:prstGeom prst="ellipse">
            <a:avLst/>
          </a:prstGeom>
          <a:solidFill>
            <a:srgbClr val="0086C9"/>
          </a:solidFill>
          <a:ln/>
        </p:spPr>
      </p:sp>
      <p:sp>
        <p:nvSpPr>
          <p:cNvPr id="12" name="Shape 10"/>
          <p:cNvSpPr/>
          <p:nvPr/>
        </p:nvSpPr>
        <p:spPr>
          <a:xfrm>
            <a:off x="1959531" y="4895850"/>
            <a:ext cx="152400" cy="152400"/>
          </a:xfrm>
          <a:prstGeom prst="ellipse">
            <a:avLst/>
          </a:prstGeom>
          <a:solidFill>
            <a:srgbClr val="0086C9"/>
          </a:solidFill>
          <a:ln/>
        </p:spPr>
      </p:sp>
      <p:sp>
        <p:nvSpPr>
          <p:cNvPr id="13" name="Shape 11"/>
          <p:cNvSpPr/>
          <p:nvPr/>
        </p:nvSpPr>
        <p:spPr>
          <a:xfrm>
            <a:off x="4782383" y="3615690"/>
            <a:ext cx="1173480" cy="1173480"/>
          </a:xfrm>
          <a:prstGeom prst="ellipse">
            <a:avLst/>
          </a:prstGeom>
          <a:solidFill>
            <a:srgbClr val="5FC8EE">
              <a:alpha val="12000"/>
            </a:srgbClr>
          </a:solidFill>
          <a:ln w="15240">
            <a:solidFill>
              <a:srgbClr val="5FC8EE"/>
            </a:solidFill>
            <a:prstDash val="dash"/>
          </a:ln>
        </p:spPr>
      </p:sp>
      <p:sp>
        <p:nvSpPr>
          <p:cNvPr id="14" name="Text 12"/>
          <p:cNvSpPr/>
          <p:nvPr/>
        </p:nvSpPr>
        <p:spPr>
          <a:xfrm>
            <a:off x="4948357" y="3295650"/>
            <a:ext cx="68627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Isolée</a:t>
            </a:r>
            <a:endParaRPr lang="en-US" sz="1800" dirty="0"/>
          </a:p>
        </p:txBody>
      </p:sp>
      <p:sp>
        <p:nvSpPr>
          <p:cNvPr id="15" name="Shape 13"/>
          <p:cNvSpPr/>
          <p:nvPr/>
        </p:nvSpPr>
        <p:spPr>
          <a:xfrm>
            <a:off x="5280422" y="3989070"/>
            <a:ext cx="152400" cy="152400"/>
          </a:xfrm>
          <a:prstGeom prst="ellipse">
            <a:avLst/>
          </a:prstGeom>
          <a:solidFill>
            <a:srgbClr val="5FC8EE"/>
          </a:solidFill>
          <a:ln/>
        </p:spPr>
      </p:sp>
      <p:sp>
        <p:nvSpPr>
          <p:cNvPr id="16" name="Shape 14"/>
          <p:cNvSpPr/>
          <p:nvPr/>
        </p:nvSpPr>
        <p:spPr>
          <a:xfrm>
            <a:off x="5778579" y="4255770"/>
            <a:ext cx="152400" cy="152400"/>
          </a:xfrm>
          <a:prstGeom prst="ellipse">
            <a:avLst/>
          </a:prstGeom>
          <a:solidFill>
            <a:srgbClr val="5FC8EE"/>
          </a:solidFill>
          <a:ln/>
        </p:spPr>
      </p:sp>
      <p:sp>
        <p:nvSpPr>
          <p:cNvPr id="17" name="Shape 15"/>
          <p:cNvSpPr/>
          <p:nvPr/>
        </p:nvSpPr>
        <p:spPr>
          <a:xfrm>
            <a:off x="6774895" y="4309110"/>
            <a:ext cx="1459230" cy="1459230"/>
          </a:xfrm>
          <a:prstGeom prst="ellipse">
            <a:avLst/>
          </a:prstGeom>
          <a:solidFill>
            <a:srgbClr val="16356E">
              <a:alpha val="8000"/>
            </a:srgbClr>
          </a:solidFill>
          <a:ln w="15240">
            <a:solidFill>
              <a:srgbClr val="16356E"/>
            </a:solidFill>
            <a:prstDash val="dash"/>
          </a:ln>
        </p:spPr>
      </p:sp>
      <p:sp>
        <p:nvSpPr>
          <p:cNvPr id="18" name="Text 16"/>
          <p:cNvSpPr/>
          <p:nvPr/>
        </p:nvSpPr>
        <p:spPr>
          <a:xfrm>
            <a:off x="7106960" y="3989070"/>
            <a:ext cx="118169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Touristique</a:t>
            </a:r>
            <a:endParaRPr lang="en-US" sz="1800" dirty="0"/>
          </a:p>
        </p:txBody>
      </p:sp>
      <p:sp>
        <p:nvSpPr>
          <p:cNvPr id="19" name="Shape 17"/>
          <p:cNvSpPr/>
          <p:nvPr/>
        </p:nvSpPr>
        <p:spPr>
          <a:xfrm>
            <a:off x="7439025" y="4735830"/>
            <a:ext cx="152400" cy="152400"/>
          </a:xfrm>
          <a:prstGeom prst="ellipse">
            <a:avLst/>
          </a:prstGeom>
          <a:solidFill>
            <a:srgbClr val="16356E"/>
          </a:solidFill>
          <a:ln/>
        </p:spPr>
      </p:sp>
      <p:sp>
        <p:nvSpPr>
          <p:cNvPr id="20" name="Shape 18"/>
          <p:cNvSpPr/>
          <p:nvPr/>
        </p:nvSpPr>
        <p:spPr>
          <a:xfrm>
            <a:off x="8103275" y="5002530"/>
            <a:ext cx="152400" cy="152400"/>
          </a:xfrm>
          <a:prstGeom prst="ellipse">
            <a:avLst/>
          </a:prstGeom>
          <a:solidFill>
            <a:srgbClr val="16356E"/>
          </a:solidFill>
          <a:ln/>
        </p:spPr>
      </p:sp>
      <p:sp>
        <p:nvSpPr>
          <p:cNvPr id="21" name="Shape 19"/>
          <p:cNvSpPr/>
          <p:nvPr/>
        </p:nvSpPr>
        <p:spPr>
          <a:xfrm>
            <a:off x="7771209" y="5162550"/>
            <a:ext cx="152400" cy="152400"/>
          </a:xfrm>
          <a:prstGeom prst="ellipse">
            <a:avLst/>
          </a:prstGeom>
          <a:solidFill>
            <a:srgbClr val="16356E"/>
          </a:solidFill>
          <a:ln/>
        </p:spPr>
      </p:sp>
      <p:sp>
        <p:nvSpPr>
          <p:cNvPr id="22" name="Shape 20"/>
          <p:cNvSpPr/>
          <p:nvPr/>
        </p:nvSpPr>
        <p:spPr>
          <a:xfrm>
            <a:off x="3786069" y="5269230"/>
            <a:ext cx="217170" cy="217170"/>
          </a:xfrm>
          <a:prstGeom prst="ellipse">
            <a:avLst/>
          </a:prstGeom>
          <a:solidFill>
            <a:srgbClr val="0C2350"/>
          </a:solidFill>
          <a:ln w="22860">
            <a:solidFill>
              <a:srgbClr val="FFC000"/>
            </a:solidFill>
            <a:prstDash val="solid"/>
          </a:ln>
        </p:spPr>
      </p:sp>
      <p:sp>
        <p:nvSpPr>
          <p:cNvPr id="23" name="Text 21"/>
          <p:cNvSpPr/>
          <p:nvPr/>
        </p:nvSpPr>
        <p:spPr>
          <a:xfrm>
            <a:off x="3454003" y="5749290"/>
            <a:ext cx="250831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S'éloigne de sa famille</a:t>
            </a:r>
            <a:endParaRPr lang="en-US" sz="1800" dirty="0"/>
          </a:p>
        </p:txBody>
      </p:sp>
      <p:sp>
        <p:nvSpPr>
          <p:cNvPr id="24" name="Text 22"/>
          <p:cNvSpPr/>
          <p:nvPr/>
        </p:nvSpPr>
        <p:spPr>
          <a:xfrm>
            <a:off x="10416898" y="2647950"/>
            <a:ext cx="90213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Principe</a:t>
            </a:r>
            <a:endParaRPr lang="en-US" sz="1800" dirty="0"/>
          </a:p>
        </p:txBody>
      </p:sp>
      <p:sp>
        <p:nvSpPr>
          <p:cNvPr id="25" name="Text 23"/>
          <p:cNvSpPr/>
          <p:nvPr/>
        </p:nvSpPr>
        <p:spPr>
          <a:xfrm>
            <a:off x="10416898" y="2983230"/>
            <a:ext cx="7126161"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Les distributeurs similaires sont regroupés en familles. Chaque distributeur est comparé aux membres de sa propre famille : proche, il reste normal ; trop éloigné, il est atypique.</a:t>
            </a:r>
            <a:endParaRPr lang="en-US" sz="1800" dirty="0"/>
          </a:p>
        </p:txBody>
      </p:sp>
      <p:sp>
        <p:nvSpPr>
          <p:cNvPr id="26" name="Text 24"/>
          <p:cNvSpPr/>
          <p:nvPr/>
        </p:nvSpPr>
        <p:spPr>
          <a:xfrm>
            <a:off x="10416898" y="4221480"/>
            <a:ext cx="96559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Exemple</a:t>
            </a:r>
            <a:endParaRPr lang="en-US" sz="1800" dirty="0"/>
          </a:p>
        </p:txBody>
      </p:sp>
      <p:sp>
        <p:nvSpPr>
          <p:cNvPr id="27" name="Text 25"/>
          <p:cNvSpPr/>
          <p:nvPr/>
        </p:nvSpPr>
        <p:spPr>
          <a:xfrm>
            <a:off x="10416898" y="4556760"/>
            <a:ext cx="7126161" cy="10668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Distributeur A, famille « urbaine » (~650 retraits/mois) : ses 620 sont normaux. À 250, ce serait banal pour un « isolé », mais anormal pour lui.</a:t>
            </a:r>
            <a:endParaRPr lang="en-US" sz="1800" dirty="0"/>
          </a:p>
        </p:txBody>
      </p:sp>
      <p:sp>
        <p:nvSpPr>
          <p:cNvPr id="28" name="Shape 26"/>
          <p:cNvSpPr/>
          <p:nvPr/>
        </p:nvSpPr>
        <p:spPr>
          <a:xfrm>
            <a:off x="10416898" y="5795010"/>
            <a:ext cx="6918603" cy="1440180"/>
          </a:xfrm>
          <a:prstGeom prst="roundRect">
            <a:avLst>
              <a:gd name="adj" fmla="val 9259"/>
            </a:avLst>
          </a:prstGeom>
          <a:solidFill>
            <a:srgbClr val="0C2350"/>
          </a:solidFill>
          <a:ln/>
        </p:spPr>
      </p:sp>
      <p:sp>
        <p:nvSpPr>
          <p:cNvPr id="29" name="Text 27"/>
          <p:cNvSpPr/>
          <p:nvPr/>
        </p:nvSpPr>
        <p:spPr>
          <a:xfrm>
            <a:off x="10664548" y="6004560"/>
            <a:ext cx="206904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Ce que ça apporte</a:t>
            </a:r>
            <a:endParaRPr lang="en-US" sz="1800" dirty="0"/>
          </a:p>
        </p:txBody>
      </p:sp>
      <p:sp>
        <p:nvSpPr>
          <p:cNvPr id="30" name="Text 28"/>
          <p:cNvSpPr/>
          <p:nvPr/>
        </p:nvSpPr>
        <p:spPr>
          <a:xfrm>
            <a:off x="10664548" y="6339840"/>
            <a:ext cx="6616002"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Un point de comparaison pertinent, sans faux positifs liés au contexte.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APPROCHE 3 — EN DÉTAIL</a:t>
            </a:r>
            <a:endParaRPr lang="en-US" sz="1800" dirty="0"/>
          </a:p>
        </p:txBody>
      </p:sp>
      <p:sp>
        <p:nvSpPr>
          <p:cNvPr id="3" name="Text 1"/>
          <p:cNvSpPr/>
          <p:nvPr/>
        </p:nvSpPr>
        <p:spPr>
          <a:xfrm>
            <a:off x="952500" y="1059180"/>
            <a:ext cx="18021300" cy="518160"/>
          </a:xfrm>
          <a:prstGeom prst="rect">
            <a:avLst/>
          </a:prstGeom>
          <a:noFill/>
          <a:ln/>
        </p:spPr>
        <p:txBody>
          <a:bodyPr wrap="square" lIns="25400" tIns="25400" rIns="25400" bIns="25400" rtlCol="0" anchor="t">
            <a:normAutofit/>
          </a:bodyPr>
          <a:lstStyle/>
          <a:p>
            <a:pPr algn="l" indent="0" marL="0">
              <a:lnSpc>
                <a:spcPct val="85135"/>
              </a:lnSpc>
              <a:buNone/>
            </a:pPr>
            <a:r>
              <a:rPr lang="en-US" sz="3150" b="1" dirty="0">
                <a:solidFill>
                  <a:srgbClr val="0C2350"/>
                </a:solidFill>
                <a:latin typeface="Arial" pitchFamily="34" charset="0"/>
                <a:ea typeface="Arial" pitchFamily="34" charset="-122"/>
                <a:cs typeface="Arial" pitchFamily="34" charset="-120"/>
              </a:rPr>
              <a:t>Un distributeur, son classement expliqué du début à la fin</a:t>
            </a:r>
            <a:endParaRPr lang="en-US" sz="3150" dirty="0"/>
          </a:p>
        </p:txBody>
      </p:sp>
      <p:sp>
        <p:nvSpPr>
          <p:cNvPr id="4" name="Text 2"/>
          <p:cNvSpPr/>
          <p:nvPr/>
        </p:nvSpPr>
        <p:spPr>
          <a:xfrm>
            <a:off x="952500" y="1634490"/>
            <a:ext cx="16764000" cy="369570"/>
          </a:xfrm>
          <a:prstGeom prst="rect">
            <a:avLst/>
          </a:prstGeom>
          <a:noFill/>
          <a:ln/>
        </p:spPr>
        <p:txBody>
          <a:bodyPr wrap="square" lIns="25400" tIns="25400" rIns="25400" bIns="25400" rtlCol="0" anchor="t">
            <a:normAutofit/>
          </a:bodyPr>
          <a:lstStyle/>
          <a:p>
            <a:pPr algn="l" indent="0" marL="0">
              <a:lnSpc>
                <a:spcPct val="127941"/>
              </a:lnSpc>
              <a:buNone/>
            </a:pPr>
            <a:r>
              <a:rPr lang="en-US" sz="1800" dirty="0">
                <a:solidFill>
                  <a:srgbClr val="64758F"/>
                </a:solidFill>
                <a:latin typeface="Arial" pitchFamily="34" charset="0"/>
                <a:ea typeface="Arial" pitchFamily="34" charset="-122"/>
                <a:cs typeface="Arial" pitchFamily="34" charset="-120"/>
              </a:rPr>
              <a:t>Prenons un distributeur réel et suivons, étape par étape, comment le modèle choisit sa famille — et pourquoi pas une autre.</a:t>
            </a:r>
            <a:endParaRPr lang="en-US" sz="1800" dirty="0"/>
          </a:p>
        </p:txBody>
      </p:sp>
      <p:sp>
        <p:nvSpPr>
          <p:cNvPr id="5" name="Shape 3"/>
          <p:cNvSpPr/>
          <p:nvPr/>
        </p:nvSpPr>
        <p:spPr>
          <a:xfrm>
            <a:off x="952500" y="2175510"/>
            <a:ext cx="16383000" cy="807720"/>
          </a:xfrm>
          <a:prstGeom prst="roundRect">
            <a:avLst>
              <a:gd name="adj" fmla="val 16509"/>
            </a:avLst>
          </a:prstGeom>
          <a:solidFill>
            <a:srgbClr val="F2F8FC"/>
          </a:solidFill>
          <a:ln/>
        </p:spPr>
      </p:sp>
      <p:sp>
        <p:nvSpPr>
          <p:cNvPr id="6" name="Text 4"/>
          <p:cNvSpPr/>
          <p:nvPr/>
        </p:nvSpPr>
        <p:spPr>
          <a:xfrm>
            <a:off x="1219200" y="2449830"/>
            <a:ext cx="4113728" cy="297180"/>
          </a:xfrm>
          <a:prstGeom prst="rect">
            <a:avLst/>
          </a:prstGeom>
          <a:noFill/>
          <a:ln/>
        </p:spPr>
        <p:txBody>
          <a:bodyPr wrap="non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1 — Distributeur Gare de Lyon, Paris</a:t>
            </a:r>
            <a:endParaRPr lang="en-US" sz="1800" dirty="0"/>
          </a:p>
        </p:txBody>
      </p:sp>
      <p:sp>
        <p:nvSpPr>
          <p:cNvPr id="7" name="Shape 5"/>
          <p:cNvSpPr/>
          <p:nvPr/>
        </p:nvSpPr>
        <p:spPr>
          <a:xfrm>
            <a:off x="5168503" y="2366010"/>
            <a:ext cx="1527453" cy="426720"/>
          </a:xfrm>
          <a:prstGeom prst="roundRect">
            <a:avLst>
              <a:gd name="adj" fmla="val 17857"/>
            </a:avLst>
          </a:prstGeom>
          <a:solidFill>
            <a:srgbClr val="FFFFFF"/>
          </a:solidFill>
          <a:ln w="7620">
            <a:solidFill>
              <a:srgbClr val="C2D6E8"/>
            </a:solidFill>
            <a:prstDash val="solid"/>
          </a:ln>
        </p:spPr>
      </p:sp>
      <p:sp>
        <p:nvSpPr>
          <p:cNvPr id="8" name="Text 6"/>
          <p:cNvSpPr/>
          <p:nvPr/>
        </p:nvSpPr>
        <p:spPr>
          <a:xfrm>
            <a:off x="5328523" y="2449830"/>
            <a:ext cx="1283613"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Volume 640</a:t>
            </a:r>
            <a:endParaRPr lang="en-US" sz="1800" dirty="0"/>
          </a:p>
        </p:txBody>
      </p:sp>
      <p:sp>
        <p:nvSpPr>
          <p:cNvPr id="9" name="Shape 7"/>
          <p:cNvSpPr/>
          <p:nvPr/>
        </p:nvSpPr>
        <p:spPr>
          <a:xfrm>
            <a:off x="6810256" y="2366010"/>
            <a:ext cx="2404229" cy="426720"/>
          </a:xfrm>
          <a:prstGeom prst="roundRect">
            <a:avLst>
              <a:gd name="adj" fmla="val 17857"/>
            </a:avLst>
          </a:prstGeom>
          <a:solidFill>
            <a:srgbClr val="FFFFFF"/>
          </a:solidFill>
          <a:ln w="7620">
            <a:solidFill>
              <a:srgbClr val="C2D6E8"/>
            </a:solidFill>
            <a:prstDash val="solid"/>
          </a:ln>
        </p:spPr>
      </p:sp>
      <p:sp>
        <p:nvSpPr>
          <p:cNvPr id="10" name="Text 8"/>
          <p:cNvSpPr/>
          <p:nvPr/>
        </p:nvSpPr>
        <p:spPr>
          <a:xfrm>
            <a:off x="6970276" y="2449830"/>
            <a:ext cx="216038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Montant moyen 61 €</a:t>
            </a:r>
            <a:endParaRPr lang="en-US" sz="1800" dirty="0"/>
          </a:p>
        </p:txBody>
      </p:sp>
      <p:sp>
        <p:nvSpPr>
          <p:cNvPr id="11" name="Shape 9"/>
          <p:cNvSpPr/>
          <p:nvPr/>
        </p:nvSpPr>
        <p:spPr>
          <a:xfrm>
            <a:off x="9328785" y="2366010"/>
            <a:ext cx="1184077" cy="426720"/>
          </a:xfrm>
          <a:prstGeom prst="roundRect">
            <a:avLst>
              <a:gd name="adj" fmla="val 17857"/>
            </a:avLst>
          </a:prstGeom>
          <a:solidFill>
            <a:srgbClr val="FFFFFF"/>
          </a:solidFill>
          <a:ln w="7620">
            <a:solidFill>
              <a:srgbClr val="C2D6E8"/>
            </a:solidFill>
            <a:prstDash val="solid"/>
          </a:ln>
        </p:spPr>
      </p:sp>
      <p:sp>
        <p:nvSpPr>
          <p:cNvPr id="12" name="Text 10"/>
          <p:cNvSpPr/>
          <p:nvPr/>
        </p:nvSpPr>
        <p:spPr>
          <a:xfrm>
            <a:off x="9488805" y="2449830"/>
            <a:ext cx="940237"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Nuit 7 %</a:t>
            </a:r>
            <a:endParaRPr lang="en-US" sz="1800" dirty="0"/>
          </a:p>
        </p:txBody>
      </p:sp>
      <p:sp>
        <p:nvSpPr>
          <p:cNvPr id="13" name="Shape 11"/>
          <p:cNvSpPr/>
          <p:nvPr/>
        </p:nvSpPr>
        <p:spPr>
          <a:xfrm>
            <a:off x="10627162" y="2366010"/>
            <a:ext cx="1942386" cy="426720"/>
          </a:xfrm>
          <a:prstGeom prst="roundRect">
            <a:avLst>
              <a:gd name="adj" fmla="val 17857"/>
            </a:avLst>
          </a:prstGeom>
          <a:solidFill>
            <a:srgbClr val="FFFFFF"/>
          </a:solidFill>
          <a:ln w="7620">
            <a:solidFill>
              <a:srgbClr val="C2D6E8"/>
            </a:solidFill>
            <a:prstDash val="solid"/>
          </a:ln>
        </p:spPr>
      </p:sp>
      <p:sp>
        <p:nvSpPr>
          <p:cNvPr id="14" name="Text 12"/>
          <p:cNvSpPr/>
          <p:nvPr/>
        </p:nvSpPr>
        <p:spPr>
          <a:xfrm>
            <a:off x="10787182" y="2449830"/>
            <a:ext cx="169854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Week-end 34 %</a:t>
            </a:r>
            <a:endParaRPr lang="en-US" sz="1800" dirty="0"/>
          </a:p>
        </p:txBody>
      </p:sp>
      <p:sp>
        <p:nvSpPr>
          <p:cNvPr id="15" name="Shape 13"/>
          <p:cNvSpPr/>
          <p:nvPr/>
        </p:nvSpPr>
        <p:spPr>
          <a:xfrm>
            <a:off x="12683848" y="2366010"/>
            <a:ext cx="1895713" cy="426720"/>
          </a:xfrm>
          <a:prstGeom prst="roundRect">
            <a:avLst>
              <a:gd name="adj" fmla="val 17857"/>
            </a:avLst>
          </a:prstGeom>
          <a:solidFill>
            <a:srgbClr val="FFFFFF"/>
          </a:solidFill>
          <a:ln w="7620">
            <a:solidFill>
              <a:srgbClr val="C2D6E8"/>
            </a:solidFill>
            <a:prstDash val="solid"/>
          </a:ln>
        </p:spPr>
      </p:sp>
      <p:sp>
        <p:nvSpPr>
          <p:cNvPr id="16" name="Text 14"/>
          <p:cNvSpPr/>
          <p:nvPr/>
        </p:nvSpPr>
        <p:spPr>
          <a:xfrm>
            <a:off x="12843868" y="2449830"/>
            <a:ext cx="1651873"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Étrangères 4 %</a:t>
            </a:r>
            <a:endParaRPr lang="en-US" sz="1800" dirty="0"/>
          </a:p>
        </p:txBody>
      </p:sp>
      <p:sp>
        <p:nvSpPr>
          <p:cNvPr id="17" name="Shape 15"/>
          <p:cNvSpPr/>
          <p:nvPr/>
        </p:nvSpPr>
        <p:spPr>
          <a:xfrm>
            <a:off x="14693860" y="2366010"/>
            <a:ext cx="1777365" cy="426720"/>
          </a:xfrm>
          <a:prstGeom prst="roundRect">
            <a:avLst>
              <a:gd name="adj" fmla="val 17857"/>
            </a:avLst>
          </a:prstGeom>
          <a:solidFill>
            <a:srgbClr val="FFFFFF"/>
          </a:solidFill>
          <a:ln w="7620">
            <a:solidFill>
              <a:srgbClr val="C2D6E8"/>
            </a:solidFill>
            <a:prstDash val="solid"/>
          </a:ln>
        </p:spPr>
      </p:sp>
      <p:sp>
        <p:nvSpPr>
          <p:cNvPr id="18" name="Text 16"/>
          <p:cNvSpPr/>
          <p:nvPr/>
        </p:nvSpPr>
        <p:spPr>
          <a:xfrm>
            <a:off x="14853880" y="2449830"/>
            <a:ext cx="1533525"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Avalées 0,5 %</a:t>
            </a:r>
            <a:endParaRPr lang="en-US" sz="1800" dirty="0"/>
          </a:p>
        </p:txBody>
      </p:sp>
      <p:sp>
        <p:nvSpPr>
          <p:cNvPr id="19" name="Text 17"/>
          <p:cNvSpPr/>
          <p:nvPr/>
        </p:nvSpPr>
        <p:spPr>
          <a:xfrm>
            <a:off x="952500" y="3173730"/>
            <a:ext cx="1802130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2 — On compare au centre de chaque famille</a:t>
            </a:r>
            <a:endParaRPr lang="en-US" sz="1800" dirty="0"/>
          </a:p>
        </p:txBody>
      </p:sp>
      <p:sp>
        <p:nvSpPr>
          <p:cNvPr id="20" name="Shape 18"/>
          <p:cNvSpPr/>
          <p:nvPr/>
        </p:nvSpPr>
        <p:spPr>
          <a:xfrm>
            <a:off x="952500" y="3661410"/>
            <a:ext cx="5331381" cy="3295650"/>
          </a:xfrm>
          <a:prstGeom prst="roundRect">
            <a:avLst>
              <a:gd name="adj" fmla="val 4624"/>
            </a:avLst>
          </a:prstGeom>
          <a:solidFill>
            <a:srgbClr val="FFFFFF"/>
          </a:solidFill>
          <a:ln w="22860">
            <a:solidFill>
              <a:srgbClr val="009EE0"/>
            </a:solidFill>
            <a:prstDash val="solid"/>
          </a:ln>
        </p:spPr>
      </p:sp>
      <p:sp>
        <p:nvSpPr>
          <p:cNvPr id="21" name="Text 19"/>
          <p:cNvSpPr/>
          <p:nvPr/>
        </p:nvSpPr>
        <p:spPr>
          <a:xfrm>
            <a:off x="1203960" y="3893820"/>
            <a:ext cx="197068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Urbaine — centre</a:t>
            </a:r>
            <a:endParaRPr lang="en-US" sz="1800" dirty="0"/>
          </a:p>
        </p:txBody>
      </p:sp>
      <p:sp>
        <p:nvSpPr>
          <p:cNvPr id="22" name="Text 20"/>
          <p:cNvSpPr/>
          <p:nvPr/>
        </p:nvSpPr>
        <p:spPr>
          <a:xfrm>
            <a:off x="1203960" y="4267200"/>
            <a:ext cx="1417737"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Volume 655</a:t>
            </a:r>
            <a:endParaRPr lang="en-US" sz="1800" dirty="0"/>
          </a:p>
        </p:txBody>
      </p:sp>
      <p:sp>
        <p:nvSpPr>
          <p:cNvPr id="23" name="Text 21"/>
          <p:cNvSpPr/>
          <p:nvPr/>
        </p:nvSpPr>
        <p:spPr>
          <a:xfrm>
            <a:off x="5894308" y="426720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24" name="Text 22"/>
          <p:cNvSpPr/>
          <p:nvPr/>
        </p:nvSpPr>
        <p:spPr>
          <a:xfrm>
            <a:off x="1203960" y="4598670"/>
            <a:ext cx="156743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Montant 59 €</a:t>
            </a:r>
            <a:endParaRPr lang="en-US" sz="1800" dirty="0"/>
          </a:p>
        </p:txBody>
      </p:sp>
      <p:sp>
        <p:nvSpPr>
          <p:cNvPr id="25" name="Text 23"/>
          <p:cNvSpPr/>
          <p:nvPr/>
        </p:nvSpPr>
        <p:spPr>
          <a:xfrm>
            <a:off x="5894308" y="459867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26" name="Text 24"/>
          <p:cNvSpPr/>
          <p:nvPr/>
        </p:nvSpPr>
        <p:spPr>
          <a:xfrm>
            <a:off x="1203960" y="4930140"/>
            <a:ext cx="99405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Nuit 8 %</a:t>
            </a:r>
            <a:endParaRPr lang="en-US" sz="1800" dirty="0"/>
          </a:p>
        </p:txBody>
      </p:sp>
      <p:sp>
        <p:nvSpPr>
          <p:cNvPr id="27" name="Text 25"/>
          <p:cNvSpPr/>
          <p:nvPr/>
        </p:nvSpPr>
        <p:spPr>
          <a:xfrm>
            <a:off x="5894308" y="493014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28" name="Text 26"/>
          <p:cNvSpPr/>
          <p:nvPr/>
        </p:nvSpPr>
        <p:spPr>
          <a:xfrm>
            <a:off x="1203960" y="5261610"/>
            <a:ext cx="1791391"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Week-end 31 %</a:t>
            </a:r>
            <a:endParaRPr lang="en-US" sz="1800" dirty="0"/>
          </a:p>
        </p:txBody>
      </p:sp>
      <p:sp>
        <p:nvSpPr>
          <p:cNvPr id="29" name="Text 27"/>
          <p:cNvSpPr/>
          <p:nvPr/>
        </p:nvSpPr>
        <p:spPr>
          <a:xfrm>
            <a:off x="5894308" y="526161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30" name="Text 28"/>
          <p:cNvSpPr/>
          <p:nvPr/>
        </p:nvSpPr>
        <p:spPr>
          <a:xfrm>
            <a:off x="1203960" y="5593080"/>
            <a:ext cx="179440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Étrangères 5 %</a:t>
            </a:r>
            <a:endParaRPr lang="en-US" sz="1800" dirty="0"/>
          </a:p>
        </p:txBody>
      </p:sp>
      <p:sp>
        <p:nvSpPr>
          <p:cNvPr id="31" name="Text 29"/>
          <p:cNvSpPr/>
          <p:nvPr/>
        </p:nvSpPr>
        <p:spPr>
          <a:xfrm>
            <a:off x="5894308" y="559308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32" name="Text 30"/>
          <p:cNvSpPr/>
          <p:nvPr/>
        </p:nvSpPr>
        <p:spPr>
          <a:xfrm>
            <a:off x="1203960" y="5924550"/>
            <a:ext cx="1627418"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Avalées 0,6 %</a:t>
            </a:r>
            <a:endParaRPr lang="en-US" sz="1800" dirty="0"/>
          </a:p>
        </p:txBody>
      </p:sp>
      <p:sp>
        <p:nvSpPr>
          <p:cNvPr id="33" name="Text 31"/>
          <p:cNvSpPr/>
          <p:nvPr/>
        </p:nvSpPr>
        <p:spPr>
          <a:xfrm>
            <a:off x="5894308" y="592455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34" name="Shape 32"/>
          <p:cNvSpPr/>
          <p:nvPr/>
        </p:nvSpPr>
        <p:spPr>
          <a:xfrm>
            <a:off x="1203960" y="6351270"/>
            <a:ext cx="4828461" cy="114300"/>
          </a:xfrm>
          <a:prstGeom prst="roundRect">
            <a:avLst>
              <a:gd name="adj" fmla="val 50000"/>
            </a:avLst>
          </a:prstGeom>
          <a:solidFill>
            <a:srgbClr val="E7F2FB"/>
          </a:solidFill>
          <a:ln/>
        </p:spPr>
      </p:sp>
      <p:sp>
        <p:nvSpPr>
          <p:cNvPr id="35" name="Shape 33"/>
          <p:cNvSpPr/>
          <p:nvPr/>
        </p:nvSpPr>
        <p:spPr>
          <a:xfrm>
            <a:off x="1203960" y="6351270"/>
            <a:ext cx="675918" cy="114300"/>
          </a:xfrm>
          <a:prstGeom prst="roundRect">
            <a:avLst>
              <a:gd name="adj" fmla="val 50000"/>
            </a:avLst>
          </a:prstGeom>
          <a:solidFill>
            <a:srgbClr val="009EE0"/>
          </a:solidFill>
          <a:ln/>
        </p:spPr>
      </p:sp>
      <p:sp>
        <p:nvSpPr>
          <p:cNvPr id="36" name="Text 34"/>
          <p:cNvSpPr/>
          <p:nvPr/>
        </p:nvSpPr>
        <p:spPr>
          <a:xfrm>
            <a:off x="1203960" y="6465570"/>
            <a:ext cx="1663434"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Écart quasi nul</a:t>
            </a:r>
            <a:endParaRPr lang="en-US" sz="1800" dirty="0"/>
          </a:p>
        </p:txBody>
      </p:sp>
      <p:sp>
        <p:nvSpPr>
          <p:cNvPr id="37" name="Shape 35"/>
          <p:cNvSpPr/>
          <p:nvPr/>
        </p:nvSpPr>
        <p:spPr>
          <a:xfrm>
            <a:off x="6493431" y="3661410"/>
            <a:ext cx="5316260" cy="3295650"/>
          </a:xfrm>
          <a:prstGeom prst="roundRect">
            <a:avLst>
              <a:gd name="adj" fmla="val 4624"/>
            </a:avLst>
          </a:prstGeom>
          <a:solidFill>
            <a:srgbClr val="FFFFFF"/>
          </a:solidFill>
          <a:ln w="15240">
            <a:solidFill>
              <a:srgbClr val="C2D6E8"/>
            </a:solidFill>
            <a:prstDash val="solid"/>
          </a:ln>
        </p:spPr>
      </p:sp>
      <p:sp>
        <p:nvSpPr>
          <p:cNvPr id="38" name="Text 36"/>
          <p:cNvSpPr/>
          <p:nvPr/>
        </p:nvSpPr>
        <p:spPr>
          <a:xfrm>
            <a:off x="6737271" y="3886200"/>
            <a:ext cx="2306229"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16356E"/>
                </a:solidFill>
                <a:latin typeface="Arial" pitchFamily="34" charset="0"/>
                <a:ea typeface="Arial" pitchFamily="34" charset="-122"/>
                <a:cs typeface="Arial" pitchFamily="34" charset="-120"/>
              </a:rPr>
              <a:t>Touristique — centre</a:t>
            </a:r>
            <a:endParaRPr lang="en-US" sz="1800" dirty="0"/>
          </a:p>
        </p:txBody>
      </p:sp>
      <p:sp>
        <p:nvSpPr>
          <p:cNvPr id="39" name="Text 37"/>
          <p:cNvSpPr/>
          <p:nvPr/>
        </p:nvSpPr>
        <p:spPr>
          <a:xfrm>
            <a:off x="6737271" y="4259580"/>
            <a:ext cx="139822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Volume 290</a:t>
            </a:r>
            <a:endParaRPr lang="en-US" sz="1800" dirty="0"/>
          </a:p>
        </p:txBody>
      </p:sp>
      <p:sp>
        <p:nvSpPr>
          <p:cNvPr id="40" name="Text 38"/>
          <p:cNvSpPr/>
          <p:nvPr/>
        </p:nvSpPr>
        <p:spPr>
          <a:xfrm>
            <a:off x="11427739" y="425958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ED7D31"/>
                </a:solidFill>
                <a:latin typeface="Arial" pitchFamily="34" charset="0"/>
                <a:ea typeface="Arial" pitchFamily="34" charset="-122"/>
                <a:cs typeface="Arial" pitchFamily="34" charset="-120"/>
              </a:rPr>
              <a:t>●</a:t>
            </a:r>
            <a:endParaRPr lang="en-US" sz="1800" dirty="0"/>
          </a:p>
        </p:txBody>
      </p:sp>
      <p:sp>
        <p:nvSpPr>
          <p:cNvPr id="41" name="Text 39"/>
          <p:cNvSpPr/>
          <p:nvPr/>
        </p:nvSpPr>
        <p:spPr>
          <a:xfrm>
            <a:off x="6737271" y="4591050"/>
            <a:ext cx="1507712"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Montant 71 €</a:t>
            </a:r>
            <a:endParaRPr lang="en-US" sz="1800" dirty="0"/>
          </a:p>
        </p:txBody>
      </p:sp>
      <p:sp>
        <p:nvSpPr>
          <p:cNvPr id="42" name="Text 40"/>
          <p:cNvSpPr/>
          <p:nvPr/>
        </p:nvSpPr>
        <p:spPr>
          <a:xfrm>
            <a:off x="11427739" y="459105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43" name="Text 41"/>
          <p:cNvSpPr/>
          <p:nvPr/>
        </p:nvSpPr>
        <p:spPr>
          <a:xfrm>
            <a:off x="6737271" y="4922520"/>
            <a:ext cx="992505"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Nuit 5 %</a:t>
            </a:r>
            <a:endParaRPr lang="en-US" sz="1800" dirty="0"/>
          </a:p>
        </p:txBody>
      </p:sp>
      <p:sp>
        <p:nvSpPr>
          <p:cNvPr id="44" name="Text 42"/>
          <p:cNvSpPr/>
          <p:nvPr/>
        </p:nvSpPr>
        <p:spPr>
          <a:xfrm>
            <a:off x="11427739" y="492252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45" name="Text 43"/>
          <p:cNvSpPr/>
          <p:nvPr/>
        </p:nvSpPr>
        <p:spPr>
          <a:xfrm>
            <a:off x="6737271" y="5253990"/>
            <a:ext cx="1848231"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Week-end 56 %</a:t>
            </a:r>
            <a:endParaRPr lang="en-US" sz="1800" dirty="0"/>
          </a:p>
        </p:txBody>
      </p:sp>
      <p:sp>
        <p:nvSpPr>
          <p:cNvPr id="46" name="Text 44"/>
          <p:cNvSpPr/>
          <p:nvPr/>
        </p:nvSpPr>
        <p:spPr>
          <a:xfrm>
            <a:off x="11427739" y="525399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ED7D31"/>
                </a:solidFill>
                <a:latin typeface="Arial" pitchFamily="34" charset="0"/>
                <a:ea typeface="Arial" pitchFamily="34" charset="-122"/>
                <a:cs typeface="Arial" pitchFamily="34" charset="-120"/>
              </a:rPr>
              <a:t>●</a:t>
            </a:r>
            <a:endParaRPr lang="en-US" sz="1800" dirty="0"/>
          </a:p>
        </p:txBody>
      </p:sp>
      <p:sp>
        <p:nvSpPr>
          <p:cNvPr id="47" name="Text 45"/>
          <p:cNvSpPr/>
          <p:nvPr/>
        </p:nvSpPr>
        <p:spPr>
          <a:xfrm>
            <a:off x="6737271" y="5585460"/>
            <a:ext cx="194947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Étrangères 34 %</a:t>
            </a:r>
            <a:endParaRPr lang="en-US" sz="1800" dirty="0"/>
          </a:p>
        </p:txBody>
      </p:sp>
      <p:sp>
        <p:nvSpPr>
          <p:cNvPr id="48" name="Text 46"/>
          <p:cNvSpPr/>
          <p:nvPr/>
        </p:nvSpPr>
        <p:spPr>
          <a:xfrm>
            <a:off x="11427739" y="558546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ED7D31"/>
                </a:solidFill>
                <a:latin typeface="Arial" pitchFamily="34" charset="0"/>
                <a:ea typeface="Arial" pitchFamily="34" charset="-122"/>
                <a:cs typeface="Arial" pitchFamily="34" charset="-120"/>
              </a:rPr>
              <a:t>●</a:t>
            </a:r>
            <a:endParaRPr lang="en-US" sz="1800" dirty="0"/>
          </a:p>
        </p:txBody>
      </p:sp>
      <p:sp>
        <p:nvSpPr>
          <p:cNvPr id="49" name="Text 47"/>
          <p:cNvSpPr/>
          <p:nvPr/>
        </p:nvSpPr>
        <p:spPr>
          <a:xfrm>
            <a:off x="6737271" y="5916930"/>
            <a:ext cx="163370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Avalées 0,8 %</a:t>
            </a:r>
            <a:endParaRPr lang="en-US" sz="1800" dirty="0"/>
          </a:p>
        </p:txBody>
      </p:sp>
      <p:sp>
        <p:nvSpPr>
          <p:cNvPr id="50" name="Text 48"/>
          <p:cNvSpPr/>
          <p:nvPr/>
        </p:nvSpPr>
        <p:spPr>
          <a:xfrm>
            <a:off x="11427739" y="591693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51" name="Shape 49"/>
          <p:cNvSpPr/>
          <p:nvPr/>
        </p:nvSpPr>
        <p:spPr>
          <a:xfrm>
            <a:off x="6737271" y="6343650"/>
            <a:ext cx="4828580" cy="114300"/>
          </a:xfrm>
          <a:prstGeom prst="roundRect">
            <a:avLst>
              <a:gd name="adj" fmla="val 50000"/>
            </a:avLst>
          </a:prstGeom>
          <a:solidFill>
            <a:srgbClr val="E7F2FB"/>
          </a:solidFill>
          <a:ln/>
        </p:spPr>
      </p:sp>
      <p:sp>
        <p:nvSpPr>
          <p:cNvPr id="52" name="Shape 50"/>
          <p:cNvSpPr/>
          <p:nvPr/>
        </p:nvSpPr>
        <p:spPr>
          <a:xfrm>
            <a:off x="6737271" y="6343650"/>
            <a:ext cx="3959423" cy="114300"/>
          </a:xfrm>
          <a:prstGeom prst="roundRect">
            <a:avLst>
              <a:gd name="adj" fmla="val 50000"/>
            </a:avLst>
          </a:prstGeom>
          <a:solidFill>
            <a:srgbClr val="8A99B3"/>
          </a:solidFill>
          <a:ln/>
        </p:spPr>
      </p:sp>
      <p:sp>
        <p:nvSpPr>
          <p:cNvPr id="53" name="Text 51"/>
          <p:cNvSpPr/>
          <p:nvPr/>
        </p:nvSpPr>
        <p:spPr>
          <a:xfrm>
            <a:off x="6737271" y="6457950"/>
            <a:ext cx="1705082"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Écart important</a:t>
            </a:r>
            <a:endParaRPr lang="en-US" sz="1800" dirty="0"/>
          </a:p>
        </p:txBody>
      </p:sp>
      <p:sp>
        <p:nvSpPr>
          <p:cNvPr id="54" name="Shape 52"/>
          <p:cNvSpPr/>
          <p:nvPr/>
        </p:nvSpPr>
        <p:spPr>
          <a:xfrm>
            <a:off x="12019241" y="3661410"/>
            <a:ext cx="5316260" cy="3295650"/>
          </a:xfrm>
          <a:prstGeom prst="roundRect">
            <a:avLst>
              <a:gd name="adj" fmla="val 4624"/>
            </a:avLst>
          </a:prstGeom>
          <a:solidFill>
            <a:srgbClr val="FFFFFF"/>
          </a:solidFill>
          <a:ln w="15240">
            <a:solidFill>
              <a:srgbClr val="C2D6E8"/>
            </a:solidFill>
            <a:prstDash val="solid"/>
          </a:ln>
        </p:spPr>
      </p:sp>
      <p:sp>
        <p:nvSpPr>
          <p:cNvPr id="55" name="Text 53"/>
          <p:cNvSpPr/>
          <p:nvPr/>
        </p:nvSpPr>
        <p:spPr>
          <a:xfrm>
            <a:off x="12263081" y="3886200"/>
            <a:ext cx="176113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5FC8EE"/>
                </a:solidFill>
                <a:latin typeface="Arial" pitchFamily="34" charset="0"/>
                <a:ea typeface="Arial" pitchFamily="34" charset="-122"/>
                <a:cs typeface="Arial" pitchFamily="34" charset="-120"/>
              </a:rPr>
              <a:t>Isolée — centre</a:t>
            </a:r>
            <a:endParaRPr lang="en-US" sz="1800" dirty="0"/>
          </a:p>
        </p:txBody>
      </p:sp>
      <p:sp>
        <p:nvSpPr>
          <p:cNvPr id="56" name="Text 54"/>
          <p:cNvSpPr/>
          <p:nvPr/>
        </p:nvSpPr>
        <p:spPr>
          <a:xfrm>
            <a:off x="12263081" y="4259580"/>
            <a:ext cx="1255871"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Volume 110</a:t>
            </a:r>
            <a:endParaRPr lang="en-US" sz="1800" dirty="0"/>
          </a:p>
        </p:txBody>
      </p:sp>
      <p:sp>
        <p:nvSpPr>
          <p:cNvPr id="57" name="Text 55"/>
          <p:cNvSpPr/>
          <p:nvPr/>
        </p:nvSpPr>
        <p:spPr>
          <a:xfrm>
            <a:off x="16953548" y="425958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ED7D31"/>
                </a:solidFill>
                <a:latin typeface="Arial" pitchFamily="34" charset="0"/>
                <a:ea typeface="Arial" pitchFamily="34" charset="-122"/>
                <a:cs typeface="Arial" pitchFamily="34" charset="-120"/>
              </a:rPr>
              <a:t>●</a:t>
            </a:r>
            <a:endParaRPr lang="en-US" sz="1800" dirty="0"/>
          </a:p>
        </p:txBody>
      </p:sp>
      <p:sp>
        <p:nvSpPr>
          <p:cNvPr id="58" name="Text 56"/>
          <p:cNvSpPr/>
          <p:nvPr/>
        </p:nvSpPr>
        <p:spPr>
          <a:xfrm>
            <a:off x="12263081" y="4591050"/>
            <a:ext cx="1570184"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Montant 48 €</a:t>
            </a:r>
            <a:endParaRPr lang="en-US" sz="1800" dirty="0"/>
          </a:p>
        </p:txBody>
      </p:sp>
      <p:sp>
        <p:nvSpPr>
          <p:cNvPr id="59" name="Text 57"/>
          <p:cNvSpPr/>
          <p:nvPr/>
        </p:nvSpPr>
        <p:spPr>
          <a:xfrm>
            <a:off x="16953548" y="459105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60" name="Text 58"/>
          <p:cNvSpPr/>
          <p:nvPr/>
        </p:nvSpPr>
        <p:spPr>
          <a:xfrm>
            <a:off x="12263081" y="4922520"/>
            <a:ext cx="989767"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Nuit 4 %</a:t>
            </a:r>
            <a:endParaRPr lang="en-US" sz="1800" dirty="0"/>
          </a:p>
        </p:txBody>
      </p:sp>
      <p:sp>
        <p:nvSpPr>
          <p:cNvPr id="61" name="Text 59"/>
          <p:cNvSpPr/>
          <p:nvPr/>
        </p:nvSpPr>
        <p:spPr>
          <a:xfrm>
            <a:off x="16953548" y="492252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62" name="Text 60"/>
          <p:cNvSpPr/>
          <p:nvPr/>
        </p:nvSpPr>
        <p:spPr>
          <a:xfrm>
            <a:off x="12263081" y="5253990"/>
            <a:ext cx="1838539"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Week-end 24 %</a:t>
            </a:r>
            <a:endParaRPr lang="en-US" sz="1800" dirty="0"/>
          </a:p>
        </p:txBody>
      </p:sp>
      <p:sp>
        <p:nvSpPr>
          <p:cNvPr id="63" name="Text 61"/>
          <p:cNvSpPr/>
          <p:nvPr/>
        </p:nvSpPr>
        <p:spPr>
          <a:xfrm>
            <a:off x="16953548" y="525399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FFC000"/>
                </a:solidFill>
                <a:latin typeface="Arial" pitchFamily="34" charset="0"/>
                <a:ea typeface="Arial" pitchFamily="34" charset="-122"/>
                <a:cs typeface="Arial" pitchFamily="34" charset="-120"/>
              </a:rPr>
              <a:t>●</a:t>
            </a:r>
            <a:endParaRPr lang="en-US" sz="1800" dirty="0"/>
          </a:p>
        </p:txBody>
      </p:sp>
      <p:sp>
        <p:nvSpPr>
          <p:cNvPr id="64" name="Text 62"/>
          <p:cNvSpPr/>
          <p:nvPr/>
        </p:nvSpPr>
        <p:spPr>
          <a:xfrm>
            <a:off x="12263081" y="5585460"/>
            <a:ext cx="178327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Étrangères 2 %</a:t>
            </a:r>
            <a:endParaRPr lang="en-US" sz="1800" dirty="0"/>
          </a:p>
        </p:txBody>
      </p:sp>
      <p:sp>
        <p:nvSpPr>
          <p:cNvPr id="65" name="Text 63"/>
          <p:cNvSpPr/>
          <p:nvPr/>
        </p:nvSpPr>
        <p:spPr>
          <a:xfrm>
            <a:off x="16953548" y="558546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66" name="Text 64"/>
          <p:cNvSpPr/>
          <p:nvPr/>
        </p:nvSpPr>
        <p:spPr>
          <a:xfrm>
            <a:off x="12263081" y="5916930"/>
            <a:ext cx="1627287"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Avalées 0,4 %</a:t>
            </a:r>
            <a:endParaRPr lang="en-US" sz="1800" dirty="0"/>
          </a:p>
        </p:txBody>
      </p:sp>
      <p:sp>
        <p:nvSpPr>
          <p:cNvPr id="67" name="Text 65"/>
          <p:cNvSpPr/>
          <p:nvPr/>
        </p:nvSpPr>
        <p:spPr>
          <a:xfrm>
            <a:off x="16953548" y="5916930"/>
            <a:ext cx="214313" cy="312420"/>
          </a:xfrm>
          <a:prstGeom prst="rect">
            <a:avLst/>
          </a:prstGeom>
          <a:noFill/>
          <a:ln/>
        </p:spPr>
        <p:txBody>
          <a:bodyPr wrap="square" lIns="25400" tIns="25400" rIns="25400" bIns="25400" rtlCol="0" anchor="t">
            <a:normAutofit/>
          </a:bodyPr>
          <a:lstStyle/>
          <a:p>
            <a:pPr algn="l" indent="0" marL="0">
              <a:buNone/>
            </a:pPr>
            <a:r>
              <a:rPr lang="en-US" sz="1800" dirty="0">
                <a:solidFill>
                  <a:srgbClr val="70AD47"/>
                </a:solidFill>
                <a:latin typeface="Arial" pitchFamily="34" charset="0"/>
                <a:ea typeface="Arial" pitchFamily="34" charset="-122"/>
                <a:cs typeface="Arial" pitchFamily="34" charset="-120"/>
              </a:rPr>
              <a:t>●</a:t>
            </a:r>
            <a:endParaRPr lang="en-US" sz="1800" dirty="0"/>
          </a:p>
        </p:txBody>
      </p:sp>
      <p:sp>
        <p:nvSpPr>
          <p:cNvPr id="68" name="Shape 66"/>
          <p:cNvSpPr/>
          <p:nvPr/>
        </p:nvSpPr>
        <p:spPr>
          <a:xfrm>
            <a:off x="12263081" y="6343650"/>
            <a:ext cx="4828580" cy="114300"/>
          </a:xfrm>
          <a:prstGeom prst="roundRect">
            <a:avLst>
              <a:gd name="adj" fmla="val 50000"/>
            </a:avLst>
          </a:prstGeom>
          <a:solidFill>
            <a:srgbClr val="E7F2FB"/>
          </a:solidFill>
          <a:ln/>
        </p:spPr>
      </p:sp>
      <p:sp>
        <p:nvSpPr>
          <p:cNvPr id="69" name="Shape 67"/>
          <p:cNvSpPr/>
          <p:nvPr/>
        </p:nvSpPr>
        <p:spPr>
          <a:xfrm>
            <a:off x="12263081" y="6343650"/>
            <a:ext cx="3283387" cy="114300"/>
          </a:xfrm>
          <a:prstGeom prst="roundRect">
            <a:avLst>
              <a:gd name="adj" fmla="val 50000"/>
            </a:avLst>
          </a:prstGeom>
          <a:solidFill>
            <a:srgbClr val="8A99B3"/>
          </a:solidFill>
          <a:ln/>
        </p:spPr>
      </p:sp>
      <p:sp>
        <p:nvSpPr>
          <p:cNvPr id="70" name="Text 68"/>
          <p:cNvSpPr/>
          <p:nvPr/>
        </p:nvSpPr>
        <p:spPr>
          <a:xfrm>
            <a:off x="12263081" y="6457950"/>
            <a:ext cx="1219795"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8A99B3"/>
                </a:solidFill>
                <a:latin typeface="Arial" pitchFamily="34" charset="0"/>
                <a:ea typeface="Arial" pitchFamily="34" charset="-122"/>
                <a:cs typeface="Arial" pitchFamily="34" charset="-120"/>
              </a:rPr>
              <a:t>Écart élevé</a:t>
            </a:r>
            <a:endParaRPr lang="en-US" sz="1800" dirty="0"/>
          </a:p>
        </p:txBody>
      </p:sp>
      <p:sp>
        <p:nvSpPr>
          <p:cNvPr id="71" name="Shape 69"/>
          <p:cNvSpPr/>
          <p:nvPr/>
        </p:nvSpPr>
        <p:spPr>
          <a:xfrm>
            <a:off x="952500" y="7147560"/>
            <a:ext cx="16383000" cy="1440180"/>
          </a:xfrm>
          <a:prstGeom prst="roundRect">
            <a:avLst>
              <a:gd name="adj" fmla="val 10582"/>
            </a:avLst>
          </a:prstGeom>
          <a:solidFill>
            <a:srgbClr val="0C2350"/>
          </a:solidFill>
          <a:ln/>
        </p:spPr>
      </p:sp>
      <p:sp>
        <p:nvSpPr>
          <p:cNvPr id="72" name="Text 70"/>
          <p:cNvSpPr/>
          <p:nvPr/>
        </p:nvSpPr>
        <p:spPr>
          <a:xfrm>
            <a:off x="1238250" y="7357110"/>
            <a:ext cx="5359241"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09EE0"/>
                </a:solidFill>
                <a:latin typeface="Arial" pitchFamily="34" charset="0"/>
                <a:ea typeface="Arial" pitchFamily="34" charset="-122"/>
                <a:cs typeface="Arial" pitchFamily="34" charset="-120"/>
              </a:rPr>
              <a:t>3 — Résultat : le centre le plus proche l'emporte</a:t>
            </a:r>
            <a:endParaRPr lang="en-US" sz="1800" dirty="0"/>
          </a:p>
        </p:txBody>
      </p:sp>
      <p:sp>
        <p:nvSpPr>
          <p:cNvPr id="73" name="Text 71"/>
          <p:cNvSpPr/>
          <p:nvPr/>
        </p:nvSpPr>
        <p:spPr>
          <a:xfrm>
            <a:off x="1238250" y="7692390"/>
            <a:ext cx="16285845"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Sur les 6 indicateurs, ce distributeur colle presque partout au centre de la famille </a:t>
            </a:r>
            <a:pPr algn="l" indent="0" marL="0">
              <a:lnSpc>
                <a:spcPct val="132353"/>
              </a:lnSpc>
              <a:buNone/>
            </a:pPr>
            <a:r>
              <a:rPr lang="en-US" sz="1800" b="1" dirty="0">
                <a:solidFill>
                  <a:srgbClr val="FFFFFF"/>
                </a:solidFill>
                <a:latin typeface="Arial" pitchFamily="34" charset="0"/>
                <a:ea typeface="Arial" pitchFamily="34" charset="-122"/>
                <a:cs typeface="Arial" pitchFamily="34" charset="-120"/>
              </a:rPr>
              <a:t>Urbaine </a:t>
            </a:r>
            <a:pPr algn="l" indent="0" marL="0">
              <a:lnSpc>
                <a:spcPct val="132353"/>
              </a:lnSpc>
              <a:buNone/>
            </a:pPr>
            <a:r>
              <a:rPr lang="en-US" sz="1800" dirty="0">
                <a:solidFill>
                  <a:srgbClr val="C2D6E8"/>
                </a:solidFill>
                <a:latin typeface="Arial" pitchFamily="34" charset="0"/>
                <a:ea typeface="Arial" pitchFamily="34" charset="-122"/>
                <a:cs typeface="Arial" pitchFamily="34" charset="-120"/>
              </a:rPr>
              <a:t>→ le modèle le classe Urbaine. Il est trop éloigné du centre Touristique (bien moins de cartes étrangères et de week-end) et du centre Isolée (un volume bien trop élevé).</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66750"/>
            <a:ext cx="18021300"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086C9"/>
                </a:solidFill>
                <a:latin typeface="Arial" pitchFamily="34" charset="0"/>
                <a:ea typeface="Arial" pitchFamily="34" charset="-122"/>
                <a:cs typeface="Arial" pitchFamily="34" charset="-120"/>
              </a:rPr>
              <a:t>← Vue d'ensemble</a:t>
            </a:r>
            <a:endParaRPr lang="en-US" sz="1800" dirty="0"/>
          </a:p>
        </p:txBody>
      </p:sp>
      <p:sp>
        <p:nvSpPr>
          <p:cNvPr id="3" name="Text 1"/>
          <p:cNvSpPr/>
          <p:nvPr/>
        </p:nvSpPr>
        <p:spPr>
          <a:xfrm>
            <a:off x="952500" y="1078230"/>
            <a:ext cx="18021300" cy="29718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009EE0"/>
                </a:solidFill>
                <a:latin typeface="Arial" pitchFamily="34" charset="0"/>
                <a:ea typeface="Arial" pitchFamily="34" charset="-122"/>
                <a:cs typeface="Arial" pitchFamily="34" charset="-120"/>
              </a:rPr>
              <a:t>APPROCHE 3 — EN PRATIQUE</a:t>
            </a:r>
            <a:endParaRPr lang="en-US" sz="1800" dirty="0"/>
          </a:p>
        </p:txBody>
      </p:sp>
      <p:sp>
        <p:nvSpPr>
          <p:cNvPr id="4" name="Text 2"/>
          <p:cNvSpPr/>
          <p:nvPr/>
        </p:nvSpPr>
        <p:spPr>
          <a:xfrm>
            <a:off x="952500" y="1451610"/>
            <a:ext cx="18021300" cy="502920"/>
          </a:xfrm>
          <a:prstGeom prst="rect">
            <a:avLst/>
          </a:prstGeom>
          <a:noFill/>
          <a:ln/>
        </p:spPr>
        <p:txBody>
          <a:bodyPr wrap="square" lIns="25400" tIns="25400" rIns="25400" bIns="25400" rtlCol="0" anchor="t">
            <a:normAutofit/>
          </a:bodyPr>
          <a:lstStyle/>
          <a:p>
            <a:pPr algn="l" indent="0" marL="0">
              <a:buNone/>
            </a:pPr>
            <a:r>
              <a:rPr lang="en-US" sz="3150" b="1" dirty="0">
                <a:solidFill>
                  <a:srgbClr val="0C2350"/>
                </a:solidFill>
                <a:latin typeface="Arial" pitchFamily="34" charset="0"/>
                <a:ea typeface="Arial" pitchFamily="34" charset="-122"/>
                <a:cs typeface="Arial" pitchFamily="34" charset="-120"/>
              </a:rPr>
              <a:t>5 distributeurs, 5 profils — comment le modèle décide</a:t>
            </a:r>
            <a:endParaRPr lang="en-US" sz="3150" dirty="0"/>
          </a:p>
        </p:txBody>
      </p:sp>
      <p:sp>
        <p:nvSpPr>
          <p:cNvPr id="5" name="Text 3"/>
          <p:cNvSpPr/>
          <p:nvPr/>
        </p:nvSpPr>
        <p:spPr>
          <a:xfrm>
            <a:off x="952500" y="1973580"/>
            <a:ext cx="180213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64758F"/>
                </a:solidFill>
                <a:latin typeface="Arial" pitchFamily="34" charset="0"/>
                <a:ea typeface="Arial" pitchFamily="34" charset="-122"/>
                <a:cs typeface="Arial" pitchFamily="34" charset="-120"/>
              </a:rPr>
              <a:t>Chaque distributeur est rattaché à la famille dont le profil comportemental est le plus proche du sien — jamais par une règle écrite à la main.</a:t>
            </a:r>
            <a:endParaRPr lang="en-US" sz="1800" dirty="0"/>
          </a:p>
        </p:txBody>
      </p:sp>
      <p:sp>
        <p:nvSpPr>
          <p:cNvPr id="6" name="Shape 4"/>
          <p:cNvSpPr/>
          <p:nvPr/>
        </p:nvSpPr>
        <p:spPr>
          <a:xfrm>
            <a:off x="952500" y="2495550"/>
            <a:ext cx="16383000" cy="773430"/>
          </a:xfrm>
          <a:prstGeom prst="roundRect">
            <a:avLst>
              <a:gd name="adj" fmla="val 17241"/>
            </a:avLst>
          </a:prstGeom>
          <a:solidFill>
            <a:srgbClr val="F2F8FC"/>
          </a:solidFill>
          <a:ln/>
        </p:spPr>
      </p:sp>
      <p:sp>
        <p:nvSpPr>
          <p:cNvPr id="7" name="Text 5"/>
          <p:cNvSpPr/>
          <p:nvPr/>
        </p:nvSpPr>
        <p:spPr>
          <a:xfrm>
            <a:off x="1219200" y="2752725"/>
            <a:ext cx="1043388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Gare centrale — volume et montant élevés, activité régulière</a:t>
            </a:r>
            <a:endParaRPr lang="en-US" sz="1800" dirty="0"/>
          </a:p>
        </p:txBody>
      </p:sp>
      <p:sp>
        <p:nvSpPr>
          <p:cNvPr id="8" name="Text 6"/>
          <p:cNvSpPr/>
          <p:nvPr/>
        </p:nvSpPr>
        <p:spPr>
          <a:xfrm>
            <a:off x="10933152" y="2745105"/>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0086C9"/>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11390352" y="2667000"/>
            <a:ext cx="5678448" cy="430530"/>
          </a:xfrm>
          <a:prstGeom prst="roundRect">
            <a:avLst>
              <a:gd name="adj" fmla="val 50000"/>
            </a:avLst>
          </a:prstGeom>
          <a:solidFill>
            <a:srgbClr val="0086C9"/>
          </a:solidFill>
          <a:ln/>
        </p:spPr>
      </p:sp>
      <p:sp>
        <p:nvSpPr>
          <p:cNvPr id="10" name="Text 8"/>
          <p:cNvSpPr/>
          <p:nvPr/>
        </p:nvSpPr>
        <p:spPr>
          <a:xfrm>
            <a:off x="11476626" y="2752725"/>
            <a:ext cx="550590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Urbaine</a:t>
            </a:r>
            <a:endParaRPr lang="en-US" sz="1800" dirty="0"/>
          </a:p>
        </p:txBody>
      </p:sp>
      <p:sp>
        <p:nvSpPr>
          <p:cNvPr id="11" name="Shape 9"/>
          <p:cNvSpPr/>
          <p:nvPr/>
        </p:nvSpPr>
        <p:spPr>
          <a:xfrm>
            <a:off x="952500" y="3402330"/>
            <a:ext cx="16383000" cy="773430"/>
          </a:xfrm>
          <a:prstGeom prst="roundRect">
            <a:avLst>
              <a:gd name="adj" fmla="val 17241"/>
            </a:avLst>
          </a:prstGeom>
          <a:solidFill>
            <a:srgbClr val="F2F8FC"/>
          </a:solidFill>
          <a:ln/>
        </p:spPr>
      </p:sp>
      <p:sp>
        <p:nvSpPr>
          <p:cNvPr id="12" name="Text 10"/>
          <p:cNvSpPr/>
          <p:nvPr/>
        </p:nvSpPr>
        <p:spPr>
          <a:xfrm>
            <a:off x="1219200" y="3659505"/>
            <a:ext cx="1043388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Littoral, août — fort taux de cartes étrangères, pic de week-end</a:t>
            </a:r>
            <a:endParaRPr lang="en-US" sz="1800" dirty="0"/>
          </a:p>
        </p:txBody>
      </p:sp>
      <p:sp>
        <p:nvSpPr>
          <p:cNvPr id="13" name="Text 11"/>
          <p:cNvSpPr/>
          <p:nvPr/>
        </p:nvSpPr>
        <p:spPr>
          <a:xfrm>
            <a:off x="10933152" y="3651885"/>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0086C9"/>
                </a:solidFill>
                <a:latin typeface="Arial" pitchFamily="34" charset="0"/>
                <a:ea typeface="Arial" pitchFamily="34" charset="-122"/>
                <a:cs typeface="Arial" pitchFamily="34" charset="-120"/>
              </a:rPr>
              <a:t>→</a:t>
            </a:r>
            <a:endParaRPr lang="en-US" sz="1800" dirty="0"/>
          </a:p>
        </p:txBody>
      </p:sp>
      <p:sp>
        <p:nvSpPr>
          <p:cNvPr id="14" name="Shape 12"/>
          <p:cNvSpPr/>
          <p:nvPr/>
        </p:nvSpPr>
        <p:spPr>
          <a:xfrm>
            <a:off x="11390352" y="3573780"/>
            <a:ext cx="5678448" cy="430530"/>
          </a:xfrm>
          <a:prstGeom prst="roundRect">
            <a:avLst>
              <a:gd name="adj" fmla="val 50000"/>
            </a:avLst>
          </a:prstGeom>
          <a:solidFill>
            <a:srgbClr val="16356E"/>
          </a:solidFill>
          <a:ln/>
        </p:spPr>
      </p:sp>
      <p:sp>
        <p:nvSpPr>
          <p:cNvPr id="15" name="Text 13"/>
          <p:cNvSpPr/>
          <p:nvPr/>
        </p:nvSpPr>
        <p:spPr>
          <a:xfrm>
            <a:off x="11476626" y="3659505"/>
            <a:ext cx="550590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Touristique</a:t>
            </a:r>
            <a:endParaRPr lang="en-US" sz="1800" dirty="0"/>
          </a:p>
        </p:txBody>
      </p:sp>
      <p:sp>
        <p:nvSpPr>
          <p:cNvPr id="16" name="Shape 14"/>
          <p:cNvSpPr/>
          <p:nvPr/>
        </p:nvSpPr>
        <p:spPr>
          <a:xfrm>
            <a:off x="952500" y="4309110"/>
            <a:ext cx="16383000" cy="773430"/>
          </a:xfrm>
          <a:prstGeom prst="roundRect">
            <a:avLst>
              <a:gd name="adj" fmla="val 17241"/>
            </a:avLst>
          </a:prstGeom>
          <a:solidFill>
            <a:srgbClr val="F2F8FC"/>
          </a:solidFill>
          <a:ln/>
        </p:spPr>
      </p:sp>
      <p:sp>
        <p:nvSpPr>
          <p:cNvPr id="17" name="Text 15"/>
          <p:cNvSpPr/>
          <p:nvPr/>
        </p:nvSpPr>
        <p:spPr>
          <a:xfrm>
            <a:off x="1219200" y="4566285"/>
            <a:ext cx="1043388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Village isolé — volume très faible, clientèle locale exclusive</a:t>
            </a:r>
            <a:endParaRPr lang="en-US" sz="1800" dirty="0"/>
          </a:p>
        </p:txBody>
      </p:sp>
      <p:sp>
        <p:nvSpPr>
          <p:cNvPr id="18" name="Text 16"/>
          <p:cNvSpPr/>
          <p:nvPr/>
        </p:nvSpPr>
        <p:spPr>
          <a:xfrm>
            <a:off x="10933152" y="4558665"/>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0086C9"/>
                </a:solidFill>
                <a:latin typeface="Arial" pitchFamily="34" charset="0"/>
                <a:ea typeface="Arial" pitchFamily="34" charset="-122"/>
                <a:cs typeface="Arial" pitchFamily="34" charset="-120"/>
              </a:rPr>
              <a:t>→</a:t>
            </a:r>
            <a:endParaRPr lang="en-US" sz="1800" dirty="0"/>
          </a:p>
        </p:txBody>
      </p:sp>
      <p:sp>
        <p:nvSpPr>
          <p:cNvPr id="19" name="Shape 17"/>
          <p:cNvSpPr/>
          <p:nvPr/>
        </p:nvSpPr>
        <p:spPr>
          <a:xfrm>
            <a:off x="11390352" y="4480560"/>
            <a:ext cx="5678448" cy="430530"/>
          </a:xfrm>
          <a:prstGeom prst="roundRect">
            <a:avLst>
              <a:gd name="adj" fmla="val 50000"/>
            </a:avLst>
          </a:prstGeom>
          <a:solidFill>
            <a:srgbClr val="5FC8EE"/>
          </a:solidFill>
          <a:ln/>
        </p:spPr>
      </p:sp>
      <p:sp>
        <p:nvSpPr>
          <p:cNvPr id="20" name="Text 18"/>
          <p:cNvSpPr/>
          <p:nvPr/>
        </p:nvSpPr>
        <p:spPr>
          <a:xfrm>
            <a:off x="11476626" y="4566285"/>
            <a:ext cx="550590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Isolée</a:t>
            </a:r>
            <a:endParaRPr lang="en-US" sz="1800" dirty="0"/>
          </a:p>
        </p:txBody>
      </p:sp>
      <p:sp>
        <p:nvSpPr>
          <p:cNvPr id="21" name="Shape 19"/>
          <p:cNvSpPr/>
          <p:nvPr/>
        </p:nvSpPr>
        <p:spPr>
          <a:xfrm>
            <a:off x="952500" y="5215890"/>
            <a:ext cx="16383000" cy="773430"/>
          </a:xfrm>
          <a:prstGeom prst="roundRect">
            <a:avLst>
              <a:gd name="adj" fmla="val 17241"/>
            </a:avLst>
          </a:prstGeom>
          <a:solidFill>
            <a:srgbClr val="F2F8FC"/>
          </a:solidFill>
          <a:ln/>
        </p:spPr>
      </p:sp>
      <p:sp>
        <p:nvSpPr>
          <p:cNvPr id="22" name="Text 20"/>
          <p:cNvSpPr/>
          <p:nvPr/>
        </p:nvSpPr>
        <p:spPr>
          <a:xfrm>
            <a:off x="1219200" y="5473065"/>
            <a:ext cx="1043388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Quartier résidentiel calme — indicateurs proches de la moyenne réseau</a:t>
            </a:r>
            <a:endParaRPr lang="en-US" sz="1800" dirty="0"/>
          </a:p>
        </p:txBody>
      </p:sp>
      <p:sp>
        <p:nvSpPr>
          <p:cNvPr id="23" name="Text 21"/>
          <p:cNvSpPr/>
          <p:nvPr/>
        </p:nvSpPr>
        <p:spPr>
          <a:xfrm>
            <a:off x="10933152" y="5465445"/>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0086C9"/>
                </a:solidFill>
                <a:latin typeface="Arial" pitchFamily="34" charset="0"/>
                <a:ea typeface="Arial" pitchFamily="34" charset="-122"/>
                <a:cs typeface="Arial" pitchFamily="34" charset="-120"/>
              </a:rPr>
              <a:t>→</a:t>
            </a:r>
            <a:endParaRPr lang="en-US" sz="1800" dirty="0"/>
          </a:p>
        </p:txBody>
      </p:sp>
      <p:sp>
        <p:nvSpPr>
          <p:cNvPr id="24" name="Shape 22"/>
          <p:cNvSpPr/>
          <p:nvPr/>
        </p:nvSpPr>
        <p:spPr>
          <a:xfrm>
            <a:off x="11390352" y="5387340"/>
            <a:ext cx="5678448" cy="430530"/>
          </a:xfrm>
          <a:prstGeom prst="roundRect">
            <a:avLst>
              <a:gd name="adj" fmla="val 50000"/>
            </a:avLst>
          </a:prstGeom>
          <a:solidFill>
            <a:srgbClr val="C2D6E8"/>
          </a:solidFill>
          <a:ln/>
        </p:spPr>
      </p:sp>
      <p:sp>
        <p:nvSpPr>
          <p:cNvPr id="25" name="Text 23"/>
          <p:cNvSpPr/>
          <p:nvPr/>
        </p:nvSpPr>
        <p:spPr>
          <a:xfrm>
            <a:off x="11476626" y="5473065"/>
            <a:ext cx="550590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Périurbaine</a:t>
            </a:r>
            <a:endParaRPr lang="en-US" sz="1800" dirty="0"/>
          </a:p>
        </p:txBody>
      </p:sp>
      <p:sp>
        <p:nvSpPr>
          <p:cNvPr id="26" name="Shape 24"/>
          <p:cNvSpPr/>
          <p:nvPr/>
        </p:nvSpPr>
        <p:spPr>
          <a:xfrm>
            <a:off x="952500" y="6122670"/>
            <a:ext cx="16383000" cy="803910"/>
          </a:xfrm>
          <a:prstGeom prst="roundRect">
            <a:avLst>
              <a:gd name="adj" fmla="val 16588"/>
            </a:avLst>
          </a:prstGeom>
          <a:solidFill>
            <a:srgbClr val="F2F8FC"/>
          </a:solidFill>
          <a:ln w="15240">
            <a:solidFill>
              <a:srgbClr val="FFC000"/>
            </a:solidFill>
            <a:prstDash val="solid"/>
          </a:ln>
        </p:spPr>
      </p:sp>
      <p:sp>
        <p:nvSpPr>
          <p:cNvPr id="27" name="Text 25"/>
          <p:cNvSpPr/>
          <p:nvPr/>
        </p:nvSpPr>
        <p:spPr>
          <a:xfrm>
            <a:off x="1234440" y="6395085"/>
            <a:ext cx="10412409"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Incident récent — taux de capture de carte anormalement élevé</a:t>
            </a:r>
            <a:endParaRPr lang="en-US" sz="1800" dirty="0"/>
          </a:p>
        </p:txBody>
      </p:sp>
      <p:sp>
        <p:nvSpPr>
          <p:cNvPr id="28" name="Text 26"/>
          <p:cNvSpPr/>
          <p:nvPr/>
        </p:nvSpPr>
        <p:spPr>
          <a:xfrm>
            <a:off x="10928867" y="6387465"/>
            <a:ext cx="304800" cy="312420"/>
          </a:xfrm>
          <a:prstGeom prst="rect">
            <a:avLst/>
          </a:prstGeom>
          <a:noFill/>
          <a:ln/>
        </p:spPr>
        <p:txBody>
          <a:bodyPr wrap="square" lIns="25400" tIns="25400" rIns="25400" bIns="25400" rtlCol="0" anchor="t">
            <a:normAutofit/>
          </a:bodyPr>
          <a:lstStyle/>
          <a:p>
            <a:pPr algn="l" indent="0" marL="0">
              <a:buNone/>
            </a:pPr>
            <a:r>
              <a:rPr lang="en-US" sz="1800" dirty="0">
                <a:solidFill>
                  <a:srgbClr val="0086C9"/>
                </a:solidFill>
                <a:latin typeface="Arial" pitchFamily="34" charset="0"/>
                <a:ea typeface="Arial" pitchFamily="34" charset="-122"/>
                <a:cs typeface="Arial" pitchFamily="34" charset="-120"/>
              </a:rPr>
              <a:t>→</a:t>
            </a:r>
            <a:endParaRPr lang="en-US" sz="1800" dirty="0"/>
          </a:p>
        </p:txBody>
      </p:sp>
      <p:sp>
        <p:nvSpPr>
          <p:cNvPr id="29" name="Shape 27"/>
          <p:cNvSpPr/>
          <p:nvPr/>
        </p:nvSpPr>
        <p:spPr>
          <a:xfrm>
            <a:off x="11386067" y="6309360"/>
            <a:ext cx="5667494" cy="430530"/>
          </a:xfrm>
          <a:prstGeom prst="roundRect">
            <a:avLst>
              <a:gd name="adj" fmla="val 50000"/>
            </a:avLst>
          </a:prstGeom>
          <a:solidFill>
            <a:srgbClr val="0C2350"/>
          </a:solidFill>
          <a:ln/>
        </p:spPr>
      </p:sp>
      <p:sp>
        <p:nvSpPr>
          <p:cNvPr id="30" name="Text 28"/>
          <p:cNvSpPr/>
          <p:nvPr/>
        </p:nvSpPr>
        <p:spPr>
          <a:xfrm>
            <a:off x="11472504" y="6395085"/>
            <a:ext cx="5494619"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C000"/>
                </a:solidFill>
                <a:latin typeface="Arial" pitchFamily="34" charset="0"/>
                <a:ea typeface="Arial" pitchFamily="34" charset="-122"/>
                <a:cs typeface="Arial" pitchFamily="34" charset="-120"/>
              </a:rPr>
              <a:t>Signalé en priorité</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350">
                  <a:alpha val="100000"/>
                </a:srgbClr>
              </a:gs>
              <a:gs pos="100000">
                <a:srgbClr val="16356E">
                  <a:alpha val="100000"/>
                </a:srgbClr>
              </a:gs>
            </a:gsLst>
            <a:lin ang="2700000" scaled="0"/>
          </a:gradFill>
          <a:ln/>
        </p:spPr>
      </p:sp>
      <p:sp>
        <p:nvSpPr>
          <p:cNvPr id="3" name="Text 1"/>
          <p:cNvSpPr/>
          <p:nvPr/>
        </p:nvSpPr>
        <p:spPr>
          <a:xfrm>
            <a:off x="952500" y="323469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SYNTHÈSE</a:t>
            </a:r>
            <a:endParaRPr lang="en-US" sz="1800" dirty="0"/>
          </a:p>
        </p:txBody>
      </p:sp>
      <p:sp>
        <p:nvSpPr>
          <p:cNvPr id="4" name="Text 2"/>
          <p:cNvSpPr/>
          <p:nvPr/>
        </p:nvSpPr>
        <p:spPr>
          <a:xfrm>
            <a:off x="952500" y="3684270"/>
            <a:ext cx="18021300"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FFFFFF"/>
                </a:solidFill>
                <a:latin typeface="Arial" pitchFamily="34" charset="0"/>
                <a:ea typeface="Arial" pitchFamily="34" charset="-122"/>
                <a:cs typeface="Arial" pitchFamily="34" charset="-120"/>
              </a:rPr>
              <a:t>Trois filtres successifs, une décision affinée</a:t>
            </a:r>
            <a:endParaRPr lang="en-US" sz="3900" dirty="0"/>
          </a:p>
        </p:txBody>
      </p:sp>
      <p:sp>
        <p:nvSpPr>
          <p:cNvPr id="5" name="Shape 3"/>
          <p:cNvSpPr/>
          <p:nvPr/>
        </p:nvSpPr>
        <p:spPr>
          <a:xfrm>
            <a:off x="952500" y="4979670"/>
            <a:ext cx="3607356" cy="1394460"/>
          </a:xfrm>
          <a:custGeom>
            <a:avLst/>
            <a:gdLst/>
            <a:ahLst/>
            <a:cxnLst/>
            <a:rect l="l" t="t" r="r" b="b"/>
            <a:pathLst>
              <a:path w="3607356" h="1394460">
                <a:moveTo>
                  <a:pt x="190500" y="0"/>
                </a:moveTo>
                <a:lnTo>
                  <a:pt x="3569256" y="0"/>
                </a:lnTo>
                <a:arcTo hR="38100" wR="38100" stAng="16200000" swAng="5400000"/>
                <a:lnTo>
                  <a:pt x="3607356" y="1356360"/>
                </a:lnTo>
                <a:arcTo hR="38100" wR="38100" stAng="0" swAng="5400000"/>
                <a:lnTo>
                  <a:pt x="190500" y="1394460"/>
                </a:lnTo>
                <a:arcTo hR="190500" wR="190500" stAng="5400000" swAng="5400000"/>
                <a:lnTo>
                  <a:pt x="0" y="190500"/>
                </a:lnTo>
                <a:arcTo hR="190500" wR="190500" stAng="10800000" swAng="5400000"/>
                <a:close/>
              </a:path>
            </a:pathLst>
          </a:custGeom>
          <a:solidFill>
            <a:srgbClr val="FFFFFF">
              <a:alpha val="7000"/>
            </a:srgbClr>
          </a:solidFill>
          <a:ln/>
        </p:spPr>
      </p:sp>
      <p:sp>
        <p:nvSpPr>
          <p:cNvPr id="6" name="Text 4"/>
          <p:cNvSpPr/>
          <p:nvPr/>
        </p:nvSpPr>
        <p:spPr>
          <a:xfrm>
            <a:off x="1276350" y="5360670"/>
            <a:ext cx="1411450"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5FC8EE"/>
                </a:solidFill>
                <a:latin typeface="Arial" pitchFamily="34" charset="0"/>
                <a:ea typeface="Arial" pitchFamily="34" charset="-122"/>
                <a:cs typeface="Arial" pitchFamily="34" charset="-120"/>
              </a:rPr>
              <a:t>Mono-critère</a:t>
            </a:r>
            <a:endParaRPr lang="en-US" sz="1800" dirty="0"/>
          </a:p>
        </p:txBody>
      </p:sp>
      <p:sp>
        <p:nvSpPr>
          <p:cNvPr id="7" name="Text 5"/>
          <p:cNvSpPr/>
          <p:nvPr/>
        </p:nvSpPr>
        <p:spPr>
          <a:xfrm>
            <a:off x="1276350" y="5734050"/>
            <a:ext cx="3255621"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Quelque chose change ?</a:t>
            </a:r>
            <a:endParaRPr lang="en-US" sz="1800" dirty="0"/>
          </a:p>
        </p:txBody>
      </p:sp>
      <p:sp>
        <p:nvSpPr>
          <p:cNvPr id="8" name="Text 6"/>
          <p:cNvSpPr/>
          <p:nvPr/>
        </p:nvSpPr>
        <p:spPr>
          <a:xfrm>
            <a:off x="4693206" y="5505450"/>
            <a:ext cx="34099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009EE0"/>
                </a:solidFill>
                <a:latin typeface="Arial" pitchFamily="34" charset="0"/>
                <a:ea typeface="Arial" pitchFamily="34" charset="-122"/>
                <a:cs typeface="Arial" pitchFamily="34" charset="-120"/>
              </a:rPr>
              <a:t>→</a:t>
            </a:r>
            <a:endParaRPr lang="en-US" sz="2250" dirty="0"/>
          </a:p>
        </p:txBody>
      </p:sp>
      <p:sp>
        <p:nvSpPr>
          <p:cNvPr id="9" name="Shape 7"/>
          <p:cNvSpPr/>
          <p:nvPr/>
        </p:nvSpPr>
        <p:spPr>
          <a:xfrm>
            <a:off x="5112306" y="4979670"/>
            <a:ext cx="3607475" cy="1394460"/>
          </a:xfrm>
          <a:prstGeom prst="rect">
            <a:avLst/>
          </a:prstGeom>
          <a:solidFill>
            <a:srgbClr val="FFFFFF">
              <a:alpha val="10000"/>
            </a:srgbClr>
          </a:solidFill>
          <a:ln/>
        </p:spPr>
      </p:sp>
      <p:sp>
        <p:nvSpPr>
          <p:cNvPr id="10" name="Text 8"/>
          <p:cNvSpPr/>
          <p:nvPr/>
        </p:nvSpPr>
        <p:spPr>
          <a:xfrm>
            <a:off x="5436156" y="5360670"/>
            <a:ext cx="1313355"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5FC8EE"/>
                </a:solidFill>
                <a:latin typeface="Arial" pitchFamily="34" charset="0"/>
                <a:ea typeface="Arial" pitchFamily="34" charset="-122"/>
                <a:cs typeface="Arial" pitchFamily="34" charset="-120"/>
              </a:rPr>
              <a:t>Multi-critère</a:t>
            </a:r>
            <a:endParaRPr lang="en-US" sz="1800" dirty="0"/>
          </a:p>
        </p:txBody>
      </p:sp>
      <p:sp>
        <p:nvSpPr>
          <p:cNvPr id="11" name="Text 9"/>
          <p:cNvSpPr/>
          <p:nvPr/>
        </p:nvSpPr>
        <p:spPr>
          <a:xfrm>
            <a:off x="5436156" y="5734050"/>
            <a:ext cx="3255752"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Est-ce isolé ou combiné ?</a:t>
            </a:r>
            <a:endParaRPr lang="en-US" sz="1800" dirty="0"/>
          </a:p>
        </p:txBody>
      </p:sp>
      <p:sp>
        <p:nvSpPr>
          <p:cNvPr id="12" name="Text 10"/>
          <p:cNvSpPr/>
          <p:nvPr/>
        </p:nvSpPr>
        <p:spPr>
          <a:xfrm>
            <a:off x="8853131" y="5505450"/>
            <a:ext cx="34099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009EE0"/>
                </a:solidFill>
                <a:latin typeface="Arial" pitchFamily="34" charset="0"/>
                <a:ea typeface="Arial" pitchFamily="34" charset="-122"/>
                <a:cs typeface="Arial" pitchFamily="34" charset="-120"/>
              </a:rPr>
              <a:t>→</a:t>
            </a:r>
            <a:endParaRPr lang="en-US" sz="2250" dirty="0"/>
          </a:p>
        </p:txBody>
      </p:sp>
      <p:sp>
        <p:nvSpPr>
          <p:cNvPr id="13" name="Shape 11"/>
          <p:cNvSpPr/>
          <p:nvPr/>
        </p:nvSpPr>
        <p:spPr>
          <a:xfrm>
            <a:off x="9272231" y="4850130"/>
            <a:ext cx="3607475" cy="1653540"/>
          </a:xfrm>
          <a:prstGeom prst="rect">
            <a:avLst/>
          </a:prstGeom>
          <a:solidFill>
            <a:srgbClr val="FFFFFF">
              <a:alpha val="14000"/>
            </a:srgbClr>
          </a:solidFill>
          <a:ln/>
        </p:spPr>
      </p:sp>
      <p:sp>
        <p:nvSpPr>
          <p:cNvPr id="14" name="Text 12"/>
          <p:cNvSpPr/>
          <p:nvPr/>
        </p:nvSpPr>
        <p:spPr>
          <a:xfrm>
            <a:off x="9596081" y="5231130"/>
            <a:ext cx="927259"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5FC8EE"/>
                </a:solidFill>
                <a:latin typeface="Arial" pitchFamily="34" charset="0"/>
                <a:ea typeface="Arial" pitchFamily="34" charset="-122"/>
                <a:cs typeface="Arial" pitchFamily="34" charset="-120"/>
              </a:rPr>
              <a:t>Familles</a:t>
            </a:r>
            <a:endParaRPr lang="en-US" sz="1800" dirty="0"/>
          </a:p>
        </p:txBody>
      </p:sp>
      <p:sp>
        <p:nvSpPr>
          <p:cNvPr id="15" name="Text 13"/>
          <p:cNvSpPr/>
          <p:nvPr/>
        </p:nvSpPr>
        <p:spPr>
          <a:xfrm>
            <a:off x="9596081" y="5604510"/>
            <a:ext cx="3048568" cy="55626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Est-ce anormal pour ses pairs ?</a:t>
            </a:r>
            <a:endParaRPr lang="en-US" sz="1800" dirty="0"/>
          </a:p>
        </p:txBody>
      </p:sp>
      <p:sp>
        <p:nvSpPr>
          <p:cNvPr id="16" name="Text 14"/>
          <p:cNvSpPr/>
          <p:nvPr/>
        </p:nvSpPr>
        <p:spPr>
          <a:xfrm>
            <a:off x="13013056" y="5505450"/>
            <a:ext cx="340995" cy="381000"/>
          </a:xfrm>
          <a:prstGeom prst="rect">
            <a:avLst/>
          </a:prstGeom>
          <a:noFill/>
          <a:ln/>
        </p:spPr>
        <p:txBody>
          <a:bodyPr wrap="square" lIns="25400" tIns="25400" rIns="25400" bIns="25400" rtlCol="0" anchor="t">
            <a:normAutofit/>
          </a:bodyPr>
          <a:lstStyle/>
          <a:p>
            <a:pPr algn="l" indent="0" marL="0">
              <a:buNone/>
            </a:pPr>
            <a:r>
              <a:rPr lang="en-US" sz="2250" dirty="0">
                <a:solidFill>
                  <a:srgbClr val="009EE0"/>
                </a:solidFill>
                <a:latin typeface="Arial" pitchFamily="34" charset="0"/>
                <a:ea typeface="Arial" pitchFamily="34" charset="-122"/>
                <a:cs typeface="Arial" pitchFamily="34" charset="-120"/>
              </a:rPr>
              <a:t>→</a:t>
            </a:r>
            <a:endParaRPr lang="en-US" sz="2250" dirty="0"/>
          </a:p>
        </p:txBody>
      </p:sp>
      <p:sp>
        <p:nvSpPr>
          <p:cNvPr id="17" name="Shape 15"/>
          <p:cNvSpPr/>
          <p:nvPr/>
        </p:nvSpPr>
        <p:spPr>
          <a:xfrm>
            <a:off x="13432156" y="4789170"/>
            <a:ext cx="3903345" cy="1775460"/>
          </a:xfrm>
          <a:custGeom>
            <a:avLst/>
            <a:gdLst/>
            <a:ahLst/>
            <a:cxnLst/>
            <a:rect l="l" t="t" r="r" b="b"/>
            <a:pathLst>
              <a:path w="3903345" h="1775460">
                <a:moveTo>
                  <a:pt x="38100" y="0"/>
                </a:moveTo>
                <a:lnTo>
                  <a:pt x="3712845" y="0"/>
                </a:lnTo>
                <a:arcTo hR="190500" wR="190500" stAng="16200000" swAng="5400000"/>
                <a:lnTo>
                  <a:pt x="3903345" y="1584960"/>
                </a:lnTo>
                <a:arcTo hR="190500" wR="190500" stAng="0" swAng="5400000"/>
                <a:lnTo>
                  <a:pt x="38100" y="1775460"/>
                </a:lnTo>
                <a:arcTo hR="38100" wR="38100" stAng="5400000" swAng="5400000"/>
                <a:lnTo>
                  <a:pt x="0" y="38100"/>
                </a:lnTo>
                <a:arcTo hR="38100" wR="38100" stAng="10800000" swAng="5400000"/>
                <a:close/>
              </a:path>
            </a:pathLst>
          </a:custGeom>
          <a:solidFill>
            <a:srgbClr val="009EE0"/>
          </a:solidFill>
          <a:ln/>
        </p:spPr>
      </p:sp>
      <p:sp>
        <p:nvSpPr>
          <p:cNvPr id="18" name="Text 16"/>
          <p:cNvSpPr/>
          <p:nvPr/>
        </p:nvSpPr>
        <p:spPr>
          <a:xfrm>
            <a:off x="13756006" y="5170170"/>
            <a:ext cx="914876"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Résultat</a:t>
            </a:r>
            <a:endParaRPr lang="en-US" sz="1800" dirty="0"/>
          </a:p>
        </p:txBody>
      </p:sp>
      <p:sp>
        <p:nvSpPr>
          <p:cNvPr id="19" name="Text 17"/>
          <p:cNvSpPr/>
          <p:nvPr/>
        </p:nvSpPr>
        <p:spPr>
          <a:xfrm>
            <a:off x="13756006" y="5543550"/>
            <a:ext cx="3353315" cy="678180"/>
          </a:xfrm>
          <a:prstGeom prst="rect">
            <a:avLst/>
          </a:prstGeom>
          <a:noFill/>
          <a:ln/>
        </p:spPr>
        <p:txBody>
          <a:bodyPr wrap="square" lIns="25400" tIns="25400" rIns="25400" bIns="25400" rtlCol="0" anchor="t">
            <a:normAutofit/>
          </a:bodyPr>
          <a:lstStyle/>
          <a:p>
            <a:pPr algn="l" indent="0" marL="0">
              <a:lnSpc>
                <a:spcPct val="123529"/>
              </a:lnSpc>
              <a:buNone/>
            </a:pPr>
            <a:r>
              <a:rPr lang="en-US" sz="1800" b="1" dirty="0">
                <a:solidFill>
                  <a:srgbClr val="FFFFFF"/>
                </a:solidFill>
                <a:latin typeface="Arial" pitchFamily="34" charset="0"/>
                <a:ea typeface="Arial" pitchFamily="34" charset="-122"/>
                <a:cs typeface="Arial" pitchFamily="34" charset="-120"/>
              </a:rPr>
              <a:t>Distributeurs priorisés, avec contexte pour agir</a:t>
            </a:r>
            <a:endParaRPr lang="en-US" sz="1800" dirty="0"/>
          </a:p>
        </p:txBody>
      </p:sp>
      <p:sp>
        <p:nvSpPr>
          <p:cNvPr id="20" name="Text 18"/>
          <p:cNvSpPr/>
          <p:nvPr/>
        </p:nvSpPr>
        <p:spPr>
          <a:xfrm>
            <a:off x="952500" y="6983730"/>
            <a:ext cx="18021300" cy="297180"/>
          </a:xfrm>
          <a:prstGeom prst="rect">
            <a:avLst/>
          </a:prstGeom>
          <a:noFill/>
          <a:ln/>
        </p:spPr>
        <p:txBody>
          <a:bodyPr wrap="square" lIns="25400" tIns="25400" rIns="25400" bIns="25400" rtlCol="0" anchor="t">
            <a:normAutofit/>
          </a:bodyPr>
          <a:lstStyle/>
          <a:p>
            <a:pPr algn="l" indent="0" marL="0">
              <a:buNone/>
            </a:pPr>
            <a:r>
              <a:rPr lang="en-US" sz="1800" i="1" dirty="0">
                <a:solidFill>
                  <a:srgbClr val="C2D6E8"/>
                </a:solidFill>
                <a:latin typeface="Arial" pitchFamily="34" charset="0"/>
                <a:ea typeface="Arial" pitchFamily="34" charset="-122"/>
                <a:cs typeface="Arial" pitchFamily="34" charset="-120"/>
              </a:rPr>
              <a:t>Résultat : une liste de distributeurs priorisés, avec le contexte nécessaire pour agir — pas une alerte brute parmi des milliers.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EN TOUTE TRANSPARENCE</a:t>
            </a:r>
            <a:endParaRPr lang="en-US" sz="1800" dirty="0"/>
          </a:p>
        </p:txBody>
      </p:sp>
      <p:sp>
        <p:nvSpPr>
          <p:cNvPr id="3" name="Text 1"/>
          <p:cNvSpPr/>
          <p:nvPr/>
        </p:nvSpPr>
        <p:spPr>
          <a:xfrm>
            <a:off x="952500" y="1306830"/>
            <a:ext cx="18021300"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0C2350"/>
                </a:solidFill>
                <a:latin typeface="Arial" pitchFamily="34" charset="0"/>
                <a:ea typeface="Arial" pitchFamily="34" charset="-122"/>
                <a:cs typeface="Arial" pitchFamily="34" charset="-120"/>
              </a:rPr>
              <a:t>Ce que nous savons déjà, ce qu'il reste à confirmer</a:t>
            </a:r>
            <a:endParaRPr lang="en-US" sz="3900" dirty="0"/>
          </a:p>
        </p:txBody>
      </p:sp>
      <p:sp>
        <p:nvSpPr>
          <p:cNvPr id="4" name="Shape 2"/>
          <p:cNvSpPr/>
          <p:nvPr/>
        </p:nvSpPr>
        <p:spPr>
          <a:xfrm>
            <a:off x="952500" y="2297430"/>
            <a:ext cx="8001000" cy="7322820"/>
          </a:xfrm>
          <a:prstGeom prst="roundRect">
            <a:avLst>
              <a:gd name="adj" fmla="val 2601"/>
            </a:avLst>
          </a:prstGeom>
          <a:solidFill>
            <a:srgbClr val="F2F8FC"/>
          </a:solidFill>
          <a:ln/>
        </p:spPr>
      </p:sp>
      <p:sp>
        <p:nvSpPr>
          <p:cNvPr id="5" name="Shape 3"/>
          <p:cNvSpPr/>
          <p:nvPr/>
        </p:nvSpPr>
        <p:spPr>
          <a:xfrm>
            <a:off x="1333500" y="2678430"/>
            <a:ext cx="419100" cy="419100"/>
          </a:xfrm>
          <a:prstGeom prst="ellipse">
            <a:avLst/>
          </a:prstGeom>
          <a:solidFill>
            <a:srgbClr val="70AD47"/>
          </a:solidFill>
          <a:ln/>
        </p:spPr>
      </p:sp>
      <p:sp>
        <p:nvSpPr>
          <p:cNvPr id="6" name="Text 4"/>
          <p:cNvSpPr/>
          <p:nvPr/>
        </p:nvSpPr>
        <p:spPr>
          <a:xfrm>
            <a:off x="1295400" y="2678430"/>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1885950" y="2758440"/>
            <a:ext cx="3047774"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Ce qui fonctionne déjà bien</a:t>
            </a:r>
            <a:endParaRPr lang="en-US" sz="1800" dirty="0"/>
          </a:p>
        </p:txBody>
      </p:sp>
      <p:sp>
        <p:nvSpPr>
          <p:cNvPr id="8" name="Text 6"/>
          <p:cNvSpPr/>
          <p:nvPr/>
        </p:nvSpPr>
        <p:spPr>
          <a:xfrm>
            <a:off x="1333500" y="3268980"/>
            <a:ext cx="7456170" cy="145542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64758F"/>
                </a:solidFill>
                <a:latin typeface="Arial" pitchFamily="34" charset="0"/>
                <a:ea typeface="Arial" pitchFamily="34" charset="-122"/>
                <a:cs typeface="Arial" pitchFamily="34" charset="-120"/>
              </a:rPr>
              <a:t>Les 3 approches tournent, produisent des résultats concrets, et repèrent des cas qu'un simple coup d'œil sur les chiffres bruts ne permettrait pas de voir. C'est suffisant, dès maintenant, pour montrer au métier ce que le dispositif peut leur apporter.</a:t>
            </a:r>
            <a:endParaRPr lang="en-US" sz="1800" dirty="0"/>
          </a:p>
        </p:txBody>
      </p:sp>
      <p:sp>
        <p:nvSpPr>
          <p:cNvPr id="9" name="Text 7"/>
          <p:cNvSpPr/>
          <p:nvPr/>
        </p:nvSpPr>
        <p:spPr>
          <a:xfrm>
            <a:off x="1333500" y="4876800"/>
            <a:ext cx="7456170" cy="815340"/>
          </a:xfrm>
          <a:prstGeom prst="rect">
            <a:avLst/>
          </a:prstGeom>
          <a:noFill/>
          <a:ln/>
        </p:spPr>
        <p:txBody>
          <a:bodyPr wrap="square" lIns="25400" tIns="25400" rIns="25400" bIns="25400" rtlCol="0" anchor="t">
            <a:normAutofit/>
          </a:bodyPr>
          <a:lstStyle/>
          <a:p>
            <a:pPr algn="l" indent="0" marL="0">
              <a:buNone/>
            </a:pPr>
            <a:r>
              <a:rPr lang="en-US" sz="1800" i="1" dirty="0">
                <a:solidFill>
                  <a:srgbClr val="8A99B3"/>
                </a:solidFill>
                <a:latin typeface="Arial" pitchFamily="34" charset="0"/>
                <a:ea typeface="Arial" pitchFamily="34" charset="-122"/>
                <a:cs typeface="Arial" pitchFamily="34" charset="-120"/>
              </a:rPr>
              <a:t>Nous ne disons jamais qu'un distributeur EST anormal dans l'absolu — seulement qu'il s'écarte de son propre comportement habituel, ou de celui de ses pairs.</a:t>
            </a:r>
            <a:endParaRPr lang="en-US" sz="1800" dirty="0"/>
          </a:p>
        </p:txBody>
      </p:sp>
      <p:sp>
        <p:nvSpPr>
          <p:cNvPr id="10" name="Shape 8"/>
          <p:cNvSpPr/>
          <p:nvPr/>
        </p:nvSpPr>
        <p:spPr>
          <a:xfrm>
            <a:off x="9334500" y="2297430"/>
            <a:ext cx="8001000" cy="7322820"/>
          </a:xfrm>
          <a:prstGeom prst="roundRect">
            <a:avLst>
              <a:gd name="adj" fmla="val 2601"/>
            </a:avLst>
          </a:prstGeom>
          <a:solidFill>
            <a:srgbClr val="0C2350"/>
          </a:solidFill>
          <a:ln/>
        </p:spPr>
      </p:sp>
      <p:sp>
        <p:nvSpPr>
          <p:cNvPr id="11" name="Shape 9"/>
          <p:cNvSpPr/>
          <p:nvPr/>
        </p:nvSpPr>
        <p:spPr>
          <a:xfrm>
            <a:off x="9715500" y="2678430"/>
            <a:ext cx="419100" cy="419100"/>
          </a:xfrm>
          <a:prstGeom prst="ellipse">
            <a:avLst/>
          </a:prstGeom>
          <a:solidFill>
            <a:srgbClr val="FFC000"/>
          </a:solidFill>
          <a:ln/>
        </p:spPr>
      </p:sp>
      <p:sp>
        <p:nvSpPr>
          <p:cNvPr id="12" name="Text 10"/>
          <p:cNvSpPr/>
          <p:nvPr/>
        </p:nvSpPr>
        <p:spPr>
          <a:xfrm>
            <a:off x="9677400" y="2678430"/>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10267950" y="2758440"/>
            <a:ext cx="3682056"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Ce qu'il reste à valider avec vous</a:t>
            </a:r>
            <a:endParaRPr lang="en-US" sz="1800" dirty="0"/>
          </a:p>
        </p:txBody>
      </p:sp>
      <p:sp>
        <p:nvSpPr>
          <p:cNvPr id="14" name="Text 12"/>
          <p:cNvSpPr/>
          <p:nvPr/>
        </p:nvSpPr>
        <p:spPr>
          <a:xfrm>
            <a:off x="9715500" y="3268980"/>
            <a:ext cx="7456170" cy="145542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C2D6E8"/>
                </a:solidFill>
                <a:latin typeface="Arial" pitchFamily="34" charset="0"/>
                <a:ea typeface="Arial" pitchFamily="34" charset="-122"/>
                <a:cs typeface="Arial" pitchFamily="34" charset="-120"/>
              </a:rPr>
              <a:t>Nous n'avons pas encore de retour terrain systématique confirmant chaque signalement. Nous avons besoin des équipes métier pour confirmer si les cas remontés sont pertinents, et affiner les seuils avec leur expérience.</a:t>
            </a:r>
            <a:endParaRPr lang="en-US" sz="1800" dirty="0"/>
          </a:p>
        </p:txBody>
      </p:sp>
      <p:sp>
        <p:nvSpPr>
          <p:cNvPr id="15" name="Text 13"/>
          <p:cNvSpPr/>
          <p:nvPr/>
        </p:nvSpPr>
        <p:spPr>
          <a:xfrm>
            <a:off x="9715500" y="4876800"/>
            <a:ext cx="7456170" cy="556260"/>
          </a:xfrm>
          <a:prstGeom prst="rect">
            <a:avLst/>
          </a:prstGeom>
          <a:noFill/>
          <a:ln/>
        </p:spPr>
        <p:txBody>
          <a:bodyPr wrap="square" lIns="25400" tIns="25400" rIns="25400" bIns="25400" rtlCol="0" anchor="t">
            <a:normAutofit/>
          </a:bodyPr>
          <a:lstStyle/>
          <a:p>
            <a:pPr algn="l" indent="0" marL="0">
              <a:buNone/>
            </a:pPr>
            <a:r>
              <a:rPr lang="en-US" sz="1800" i="1" dirty="0">
                <a:solidFill>
                  <a:srgbClr val="5FC8EE"/>
                </a:solidFill>
                <a:latin typeface="Arial" pitchFamily="34" charset="0"/>
                <a:ea typeface="Arial" pitchFamily="34" charset="-122"/>
                <a:cs typeface="Arial" pitchFamily="34" charset="-120"/>
              </a:rPr>
              <a:t>C'est normal à ce stade d'un POC — et c'est justement pour ça que cet échange avec vous compte autant.</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8FC"/>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AVANCEMENT</a:t>
            </a:r>
            <a:endParaRPr lang="en-US" sz="1800" dirty="0"/>
          </a:p>
        </p:txBody>
      </p:sp>
      <p:sp>
        <p:nvSpPr>
          <p:cNvPr id="3" name="Text 1"/>
          <p:cNvSpPr/>
          <p:nvPr/>
        </p:nvSpPr>
        <p:spPr>
          <a:xfrm>
            <a:off x="952500" y="1306830"/>
            <a:ext cx="18021300" cy="624840"/>
          </a:xfrm>
          <a:prstGeom prst="rect">
            <a:avLst/>
          </a:prstGeom>
          <a:noFill/>
          <a:ln/>
        </p:spPr>
        <p:txBody>
          <a:bodyPr wrap="square" lIns="25400" tIns="25400" rIns="25400" bIns="25400" rtlCol="0" anchor="t">
            <a:normAutofit/>
          </a:bodyPr>
          <a:lstStyle/>
          <a:p>
            <a:pPr algn="l" indent="0" marL="0">
              <a:buNone/>
            </a:pPr>
            <a:r>
              <a:rPr lang="en-US" sz="4050" b="1" dirty="0">
                <a:solidFill>
                  <a:srgbClr val="0C2350"/>
                </a:solidFill>
                <a:latin typeface="Arial" pitchFamily="34" charset="0"/>
                <a:ea typeface="Arial" pitchFamily="34" charset="-122"/>
                <a:cs typeface="Arial" pitchFamily="34" charset="-120"/>
              </a:rPr>
              <a:t>Où en est le POC ?</a:t>
            </a:r>
            <a:endParaRPr lang="en-US" sz="4050" dirty="0"/>
          </a:p>
        </p:txBody>
      </p:sp>
      <p:sp>
        <p:nvSpPr>
          <p:cNvPr id="4" name="Shape 2"/>
          <p:cNvSpPr/>
          <p:nvPr/>
        </p:nvSpPr>
        <p:spPr>
          <a:xfrm>
            <a:off x="1524000" y="2836545"/>
            <a:ext cx="15240000" cy="38100"/>
          </a:xfrm>
          <a:prstGeom prst="rect">
            <a:avLst/>
          </a:prstGeom>
          <a:solidFill>
            <a:srgbClr val="C2D6E8"/>
          </a:solidFill>
          <a:ln/>
        </p:spPr>
      </p:sp>
      <p:sp>
        <p:nvSpPr>
          <p:cNvPr id="5" name="Shape 3"/>
          <p:cNvSpPr/>
          <p:nvPr/>
        </p:nvSpPr>
        <p:spPr>
          <a:xfrm>
            <a:off x="1524000" y="2836545"/>
            <a:ext cx="5897880" cy="38100"/>
          </a:xfrm>
          <a:prstGeom prst="rect">
            <a:avLst/>
          </a:prstGeom>
          <a:solidFill>
            <a:srgbClr val="0086C9"/>
          </a:solidFill>
          <a:ln/>
        </p:spPr>
      </p:sp>
      <p:sp>
        <p:nvSpPr>
          <p:cNvPr id="6" name="Shape 4"/>
          <p:cNvSpPr/>
          <p:nvPr/>
        </p:nvSpPr>
        <p:spPr>
          <a:xfrm>
            <a:off x="2305050" y="2560320"/>
            <a:ext cx="571500" cy="571500"/>
          </a:xfrm>
          <a:prstGeom prst="ellipse">
            <a:avLst/>
          </a:prstGeom>
          <a:solidFill>
            <a:srgbClr val="0086C9"/>
          </a:solidFill>
          <a:ln/>
        </p:spPr>
      </p:sp>
      <p:sp>
        <p:nvSpPr>
          <p:cNvPr id="7" name="Text 5"/>
          <p:cNvSpPr/>
          <p:nvPr/>
        </p:nvSpPr>
        <p:spPr>
          <a:xfrm>
            <a:off x="2266950" y="2560320"/>
            <a:ext cx="647700" cy="6096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8" name="Text 6"/>
          <p:cNvSpPr/>
          <p:nvPr/>
        </p:nvSpPr>
        <p:spPr>
          <a:xfrm>
            <a:off x="2114193" y="3341370"/>
            <a:ext cx="953095"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Cadrage</a:t>
            </a:r>
            <a:endParaRPr lang="en-US" sz="1800" dirty="0"/>
          </a:p>
        </p:txBody>
      </p:sp>
      <p:sp>
        <p:nvSpPr>
          <p:cNvPr id="9" name="Text 7"/>
          <p:cNvSpPr/>
          <p:nvPr/>
        </p:nvSpPr>
        <p:spPr>
          <a:xfrm>
            <a:off x="1001459" y="3676650"/>
            <a:ext cx="3178683" cy="586740"/>
          </a:xfrm>
          <a:prstGeom prst="rect">
            <a:avLst/>
          </a:prstGeom>
          <a:noFill/>
          <a:ln/>
        </p:spPr>
        <p:txBody>
          <a:bodyPr wrap="square" lIns="25400" tIns="25400" rIns="25400" bIns="25400" rtlCol="0" anchor="t">
            <a:normAutofit/>
          </a:bodyPr>
          <a:lstStyle/>
          <a:p>
            <a:pPr algn="ctr" indent="0" marL="0">
              <a:buNone/>
            </a:pPr>
            <a:r>
              <a:rPr lang="en-US" sz="1800" dirty="0">
                <a:solidFill>
                  <a:srgbClr val="64758F"/>
                </a:solidFill>
                <a:latin typeface="Arial" pitchFamily="34" charset="0"/>
                <a:ea typeface="Arial" pitchFamily="34" charset="-122"/>
                <a:cs typeface="Arial" pitchFamily="34" charset="-120"/>
              </a:rPr>
              <a:t>Définition des 3 approches et du périmètre pilote</a:t>
            </a:r>
            <a:endParaRPr lang="en-US" sz="1800" dirty="0"/>
          </a:p>
        </p:txBody>
      </p:sp>
      <p:sp>
        <p:nvSpPr>
          <p:cNvPr id="10" name="Text 8"/>
          <p:cNvSpPr/>
          <p:nvPr/>
        </p:nvSpPr>
        <p:spPr>
          <a:xfrm>
            <a:off x="2171343" y="4320540"/>
            <a:ext cx="838795"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086C9"/>
                </a:solidFill>
                <a:latin typeface="Arial" pitchFamily="34" charset="0"/>
                <a:ea typeface="Arial" pitchFamily="34" charset="-122"/>
                <a:cs typeface="Arial" pitchFamily="34" charset="-120"/>
              </a:rPr>
              <a:t>Achevé</a:t>
            </a:r>
            <a:endParaRPr lang="en-US" sz="1800" dirty="0"/>
          </a:p>
        </p:txBody>
      </p:sp>
      <p:sp>
        <p:nvSpPr>
          <p:cNvPr id="11" name="Shape 9"/>
          <p:cNvSpPr/>
          <p:nvPr/>
        </p:nvSpPr>
        <p:spPr>
          <a:xfrm>
            <a:off x="5581650" y="2560320"/>
            <a:ext cx="571500" cy="571500"/>
          </a:xfrm>
          <a:prstGeom prst="ellipse">
            <a:avLst/>
          </a:prstGeom>
          <a:solidFill>
            <a:srgbClr val="0086C9"/>
          </a:solidFill>
          <a:ln/>
        </p:spPr>
      </p:sp>
      <p:sp>
        <p:nvSpPr>
          <p:cNvPr id="12" name="Text 10"/>
          <p:cNvSpPr/>
          <p:nvPr/>
        </p:nvSpPr>
        <p:spPr>
          <a:xfrm>
            <a:off x="5543550" y="2560320"/>
            <a:ext cx="647700" cy="609600"/>
          </a:xfrm>
          <a:prstGeom prst="rect">
            <a:avLst/>
          </a:prstGeom>
          <a:noFill/>
          <a:ln/>
        </p:spPr>
        <p:txBody>
          <a:bodyPr wrap="square" lIns="25400" tIns="25400" rIns="25400" bIns="25400" rtlCol="0" anchor="ctr">
            <a:normAutofit/>
          </a:bodyPr>
          <a:lstStyle/>
          <a:p>
            <a:pPr algn="ctr" indent="0" marL="0">
              <a:buNone/>
            </a:pPr>
            <a:r>
              <a:rPr lang="en-US" sz="1950" b="1" dirty="0">
                <a:solidFill>
                  <a:srgbClr val="FFFFFF"/>
                </a:solidFill>
                <a:latin typeface="Arial" pitchFamily="34" charset="0"/>
                <a:ea typeface="Arial" pitchFamily="34" charset="-122"/>
                <a:cs typeface="Arial" pitchFamily="34" charset="-120"/>
              </a:rPr>
              <a:t>✓</a:t>
            </a:r>
            <a:endParaRPr lang="en-US" sz="1950" dirty="0"/>
          </a:p>
        </p:txBody>
      </p:sp>
      <p:sp>
        <p:nvSpPr>
          <p:cNvPr id="13" name="Text 11"/>
          <p:cNvSpPr/>
          <p:nvPr/>
        </p:nvSpPr>
        <p:spPr>
          <a:xfrm>
            <a:off x="5161484" y="3341370"/>
            <a:ext cx="1411712"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Construction</a:t>
            </a:r>
            <a:endParaRPr lang="en-US" sz="1800" dirty="0"/>
          </a:p>
        </p:txBody>
      </p:sp>
      <p:sp>
        <p:nvSpPr>
          <p:cNvPr id="14" name="Text 12"/>
          <p:cNvSpPr/>
          <p:nvPr/>
        </p:nvSpPr>
        <p:spPr>
          <a:xfrm>
            <a:off x="4278059" y="3676650"/>
            <a:ext cx="3178683" cy="586740"/>
          </a:xfrm>
          <a:prstGeom prst="rect">
            <a:avLst/>
          </a:prstGeom>
          <a:noFill/>
          <a:ln/>
        </p:spPr>
        <p:txBody>
          <a:bodyPr wrap="square" lIns="25400" tIns="25400" rIns="25400" bIns="25400" rtlCol="0" anchor="t">
            <a:normAutofit/>
          </a:bodyPr>
          <a:lstStyle/>
          <a:p>
            <a:pPr algn="ctr" indent="0" marL="0">
              <a:buNone/>
            </a:pPr>
            <a:r>
              <a:rPr lang="en-US" sz="1800" dirty="0">
                <a:solidFill>
                  <a:srgbClr val="64758F"/>
                </a:solidFill>
                <a:latin typeface="Arial" pitchFamily="34" charset="0"/>
                <a:ea typeface="Arial" pitchFamily="34" charset="-122"/>
                <a:cs typeface="Arial" pitchFamily="34" charset="-120"/>
              </a:rPr>
              <a:t>Mono-critère, multi-critère et familles, testés et validés</a:t>
            </a:r>
            <a:endParaRPr lang="en-US" sz="1800" dirty="0"/>
          </a:p>
        </p:txBody>
      </p:sp>
      <p:sp>
        <p:nvSpPr>
          <p:cNvPr id="15" name="Text 13"/>
          <p:cNvSpPr/>
          <p:nvPr/>
        </p:nvSpPr>
        <p:spPr>
          <a:xfrm>
            <a:off x="5447943" y="4320540"/>
            <a:ext cx="838795"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086C9"/>
                </a:solidFill>
                <a:latin typeface="Arial" pitchFamily="34" charset="0"/>
                <a:ea typeface="Arial" pitchFamily="34" charset="-122"/>
                <a:cs typeface="Arial" pitchFamily="34" charset="-120"/>
              </a:rPr>
              <a:t>Achevé</a:t>
            </a:r>
            <a:endParaRPr lang="en-US" sz="1800" dirty="0"/>
          </a:p>
        </p:txBody>
      </p:sp>
      <p:sp>
        <p:nvSpPr>
          <p:cNvPr id="16" name="Shape 14"/>
          <p:cNvSpPr/>
          <p:nvPr/>
        </p:nvSpPr>
        <p:spPr>
          <a:xfrm>
            <a:off x="8839200" y="2560320"/>
            <a:ext cx="609600" cy="609600"/>
          </a:xfrm>
          <a:prstGeom prst="ellipse">
            <a:avLst/>
          </a:prstGeom>
          <a:solidFill>
            <a:srgbClr val="009EE0"/>
          </a:solidFill>
          <a:ln/>
          <a:effectLst>
            <a:outerShdw sx="100000" sy="100000" kx="0" ky="0" algn="bl" rotWithShape="0" blurRad="101600" dist="50800" dir="16200000">
              <a:srgbClr val="009EE0">
                <a:alpha val="9000"/>
              </a:srgbClr>
            </a:outerShdw>
          </a:effectLst>
        </p:spPr>
      </p:sp>
      <p:sp>
        <p:nvSpPr>
          <p:cNvPr id="17" name="Text 15"/>
          <p:cNvSpPr/>
          <p:nvPr/>
        </p:nvSpPr>
        <p:spPr>
          <a:xfrm>
            <a:off x="8801100" y="2560320"/>
            <a:ext cx="685800" cy="6477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8" name="Text 16"/>
          <p:cNvSpPr/>
          <p:nvPr/>
        </p:nvSpPr>
        <p:spPr>
          <a:xfrm>
            <a:off x="8216747" y="3341370"/>
            <a:ext cx="1854387"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C2350"/>
                </a:solidFill>
                <a:latin typeface="Arial" pitchFamily="34" charset="0"/>
                <a:ea typeface="Arial" pitchFamily="34" charset="-122"/>
                <a:cs typeface="Arial" pitchFamily="34" charset="-120"/>
              </a:rPr>
              <a:t>Validation métier</a:t>
            </a:r>
            <a:endParaRPr lang="en-US" sz="1800" dirty="0"/>
          </a:p>
        </p:txBody>
      </p:sp>
      <p:sp>
        <p:nvSpPr>
          <p:cNvPr id="19" name="Text 17"/>
          <p:cNvSpPr/>
          <p:nvPr/>
        </p:nvSpPr>
        <p:spPr>
          <a:xfrm>
            <a:off x="7554659" y="3676650"/>
            <a:ext cx="3178683" cy="861060"/>
          </a:xfrm>
          <a:prstGeom prst="rect">
            <a:avLst/>
          </a:prstGeom>
          <a:noFill/>
          <a:ln/>
        </p:spPr>
        <p:txBody>
          <a:bodyPr wrap="square" lIns="25400" tIns="25400" rIns="25400" bIns="25400" rtlCol="0" anchor="t">
            <a:normAutofit/>
          </a:bodyPr>
          <a:lstStyle/>
          <a:p>
            <a:pPr algn="ctr" indent="0" marL="0">
              <a:buNone/>
            </a:pPr>
            <a:r>
              <a:rPr lang="en-US" sz="1800" dirty="0">
                <a:solidFill>
                  <a:srgbClr val="64758F"/>
                </a:solidFill>
                <a:latin typeface="Arial" pitchFamily="34" charset="0"/>
                <a:ea typeface="Arial" pitchFamily="34" charset="-122"/>
                <a:cs typeface="Arial" pitchFamily="34" charset="-120"/>
              </a:rPr>
              <a:t>Ce point d'avancement — premiers résultats à affiner d'ici mi/fin septembre</a:t>
            </a:r>
            <a:endParaRPr lang="en-US" sz="1800" dirty="0"/>
          </a:p>
        </p:txBody>
      </p:sp>
      <p:sp>
        <p:nvSpPr>
          <p:cNvPr id="20" name="Text 18"/>
          <p:cNvSpPr/>
          <p:nvPr/>
        </p:nvSpPr>
        <p:spPr>
          <a:xfrm>
            <a:off x="8186755" y="4594860"/>
            <a:ext cx="1914370"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009EE0"/>
                </a:solidFill>
                <a:latin typeface="Arial" pitchFamily="34" charset="0"/>
                <a:ea typeface="Arial" pitchFamily="34" charset="-122"/>
                <a:cs typeface="Arial" pitchFamily="34" charset="-120"/>
              </a:rPr>
              <a:t>Nous sommes ici</a:t>
            </a:r>
            <a:endParaRPr lang="en-US" sz="1800" dirty="0"/>
          </a:p>
        </p:txBody>
      </p:sp>
      <p:sp>
        <p:nvSpPr>
          <p:cNvPr id="21" name="Shape 19"/>
          <p:cNvSpPr/>
          <p:nvPr/>
        </p:nvSpPr>
        <p:spPr>
          <a:xfrm>
            <a:off x="12111990" y="2560320"/>
            <a:ext cx="617220" cy="617220"/>
          </a:xfrm>
          <a:prstGeom prst="ellipse">
            <a:avLst/>
          </a:prstGeom>
          <a:solidFill>
            <a:srgbClr val="FFFFFF"/>
          </a:solidFill>
          <a:ln w="22860">
            <a:solidFill>
              <a:srgbClr val="C2D6E8"/>
            </a:solidFill>
            <a:prstDash val="solid"/>
          </a:ln>
        </p:spPr>
      </p:sp>
      <p:sp>
        <p:nvSpPr>
          <p:cNvPr id="22" name="Text 20"/>
          <p:cNvSpPr/>
          <p:nvPr/>
        </p:nvSpPr>
        <p:spPr>
          <a:xfrm>
            <a:off x="12096750" y="2583180"/>
            <a:ext cx="647700" cy="6096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2D6E8"/>
                </a:solidFill>
                <a:latin typeface="Arial" pitchFamily="34" charset="0"/>
                <a:ea typeface="Arial" pitchFamily="34" charset="-122"/>
                <a:cs typeface="Arial" pitchFamily="34" charset="-120"/>
              </a:rPr>
              <a:t>4</a:t>
            </a:r>
            <a:endParaRPr lang="en-US" sz="1950" dirty="0"/>
          </a:p>
        </p:txBody>
      </p:sp>
      <p:sp>
        <p:nvSpPr>
          <p:cNvPr id="23" name="Text 21"/>
          <p:cNvSpPr/>
          <p:nvPr/>
        </p:nvSpPr>
        <p:spPr>
          <a:xfrm>
            <a:off x="11302395" y="3387090"/>
            <a:ext cx="2236291"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8A99B3"/>
                </a:solidFill>
                <a:latin typeface="Arial" pitchFamily="34" charset="0"/>
                <a:ea typeface="Arial" pitchFamily="34" charset="-122"/>
                <a:cs typeface="Arial" pitchFamily="34" charset="-120"/>
              </a:rPr>
              <a:t>Extension périmètre</a:t>
            </a:r>
            <a:endParaRPr lang="en-US" sz="1800" dirty="0"/>
          </a:p>
        </p:txBody>
      </p:sp>
      <p:sp>
        <p:nvSpPr>
          <p:cNvPr id="24" name="Text 22"/>
          <p:cNvSpPr/>
          <p:nvPr/>
        </p:nvSpPr>
        <p:spPr>
          <a:xfrm>
            <a:off x="10831259" y="3722370"/>
            <a:ext cx="3178683" cy="586740"/>
          </a:xfrm>
          <a:prstGeom prst="rect">
            <a:avLst/>
          </a:prstGeom>
          <a:noFill/>
          <a:ln/>
        </p:spPr>
        <p:txBody>
          <a:bodyPr wrap="square" lIns="25400" tIns="25400" rIns="25400" bIns="25400" rtlCol="0" anchor="t">
            <a:normAutofit/>
          </a:bodyPr>
          <a:lstStyle/>
          <a:p>
            <a:pPr algn="ctr" indent="0" marL="0">
              <a:buNone/>
            </a:pPr>
            <a:r>
              <a:rPr lang="en-US" sz="1800" dirty="0">
                <a:solidFill>
                  <a:srgbClr val="8A99B3"/>
                </a:solidFill>
                <a:latin typeface="Arial" pitchFamily="34" charset="0"/>
                <a:ea typeface="Arial" pitchFamily="34" charset="-122"/>
                <a:cs typeface="Arial" pitchFamily="34" charset="-120"/>
              </a:rPr>
              <a:t>Élargissement à l'ensemble du réseau, DOM-TOM inclus</a:t>
            </a:r>
            <a:endParaRPr lang="en-US" sz="1800" dirty="0"/>
          </a:p>
        </p:txBody>
      </p:sp>
      <p:sp>
        <p:nvSpPr>
          <p:cNvPr id="25" name="Shape 23"/>
          <p:cNvSpPr/>
          <p:nvPr/>
        </p:nvSpPr>
        <p:spPr>
          <a:xfrm>
            <a:off x="15388590" y="2560320"/>
            <a:ext cx="617220" cy="617220"/>
          </a:xfrm>
          <a:prstGeom prst="ellipse">
            <a:avLst/>
          </a:prstGeom>
          <a:solidFill>
            <a:srgbClr val="FFFFFF"/>
          </a:solidFill>
          <a:ln w="22860">
            <a:solidFill>
              <a:srgbClr val="C2D6E8"/>
            </a:solidFill>
            <a:prstDash val="solid"/>
          </a:ln>
        </p:spPr>
      </p:sp>
      <p:sp>
        <p:nvSpPr>
          <p:cNvPr id="26" name="Text 24"/>
          <p:cNvSpPr/>
          <p:nvPr/>
        </p:nvSpPr>
        <p:spPr>
          <a:xfrm>
            <a:off x="15373350" y="2583180"/>
            <a:ext cx="647700" cy="609600"/>
          </a:xfrm>
          <a:prstGeom prst="rect">
            <a:avLst/>
          </a:prstGeom>
          <a:noFill/>
          <a:ln/>
        </p:spPr>
        <p:txBody>
          <a:bodyPr wrap="square" lIns="25400" tIns="25400" rIns="25400" bIns="25400" rtlCol="0" anchor="ctr">
            <a:normAutofit/>
          </a:bodyPr>
          <a:lstStyle/>
          <a:p>
            <a:pPr algn="ctr" indent="0" marL="0">
              <a:buNone/>
            </a:pPr>
            <a:r>
              <a:rPr lang="en-US" sz="1950" b="1" dirty="0">
                <a:solidFill>
                  <a:srgbClr val="C2D6E8"/>
                </a:solidFill>
                <a:latin typeface="Arial" pitchFamily="34" charset="0"/>
                <a:ea typeface="Arial" pitchFamily="34" charset="-122"/>
                <a:cs typeface="Arial" pitchFamily="34" charset="-120"/>
              </a:rPr>
              <a:t>5</a:t>
            </a:r>
            <a:endParaRPr lang="en-US" sz="1950" dirty="0"/>
          </a:p>
        </p:txBody>
      </p:sp>
      <p:sp>
        <p:nvSpPr>
          <p:cNvPr id="27" name="Text 25"/>
          <p:cNvSpPr/>
          <p:nvPr/>
        </p:nvSpPr>
        <p:spPr>
          <a:xfrm>
            <a:off x="14823514" y="3387090"/>
            <a:ext cx="1747254"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8A99B3"/>
                </a:solidFill>
                <a:latin typeface="Arial" pitchFamily="34" charset="0"/>
                <a:ea typeface="Arial" pitchFamily="34" charset="-122"/>
                <a:cs typeface="Arial" pitchFamily="34" charset="-120"/>
              </a:rPr>
              <a:t>Industrialisation</a:t>
            </a:r>
            <a:endParaRPr lang="en-US" sz="1800" dirty="0"/>
          </a:p>
        </p:txBody>
      </p:sp>
      <p:sp>
        <p:nvSpPr>
          <p:cNvPr id="28" name="Text 26"/>
          <p:cNvSpPr/>
          <p:nvPr/>
        </p:nvSpPr>
        <p:spPr>
          <a:xfrm>
            <a:off x="14107859" y="3722370"/>
            <a:ext cx="3178683" cy="586740"/>
          </a:xfrm>
          <a:prstGeom prst="rect">
            <a:avLst/>
          </a:prstGeom>
          <a:noFill/>
          <a:ln/>
        </p:spPr>
        <p:txBody>
          <a:bodyPr wrap="square" lIns="25400" tIns="25400" rIns="25400" bIns="25400" rtlCol="0" anchor="t">
            <a:normAutofit/>
          </a:bodyPr>
          <a:lstStyle/>
          <a:p>
            <a:pPr algn="ctr" indent="0" marL="0">
              <a:buNone/>
            </a:pPr>
            <a:r>
              <a:rPr lang="en-US" sz="1800" dirty="0">
                <a:solidFill>
                  <a:srgbClr val="8A99B3"/>
                </a:solidFill>
                <a:latin typeface="Arial" pitchFamily="34" charset="0"/>
                <a:ea typeface="Arial" pitchFamily="34" charset="-122"/>
                <a:cs typeface="Arial" pitchFamily="34" charset="-120"/>
              </a:rPr>
              <a:t>Automatisation et suivi pérenne du dispositif</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857250"/>
            <a:ext cx="18021300" cy="29718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9EE0"/>
                </a:solidFill>
                <a:latin typeface="Arial" pitchFamily="34" charset="0"/>
                <a:ea typeface="Arial" pitchFamily="34" charset="-122"/>
                <a:cs typeface="Arial" pitchFamily="34" charset="-120"/>
              </a:rPr>
              <a:t>CE QUI COMPTE VRAIMENT</a:t>
            </a:r>
            <a:endParaRPr lang="en-US" sz="1800" dirty="0"/>
          </a:p>
        </p:txBody>
      </p:sp>
      <p:sp>
        <p:nvSpPr>
          <p:cNvPr id="3" name="Text 1"/>
          <p:cNvSpPr/>
          <p:nvPr/>
        </p:nvSpPr>
        <p:spPr>
          <a:xfrm>
            <a:off x="952500" y="1306830"/>
            <a:ext cx="18021300" cy="609600"/>
          </a:xfrm>
          <a:prstGeom prst="rect">
            <a:avLst/>
          </a:prstGeom>
          <a:noFill/>
          <a:ln/>
        </p:spPr>
        <p:txBody>
          <a:bodyPr wrap="square" lIns="25400" tIns="25400" rIns="25400" bIns="25400" rtlCol="0" anchor="t">
            <a:normAutofit/>
          </a:bodyPr>
          <a:lstStyle/>
          <a:p>
            <a:pPr algn="l" indent="0" marL="0">
              <a:buNone/>
            </a:pPr>
            <a:r>
              <a:rPr lang="en-US" sz="3900" b="1" dirty="0">
                <a:solidFill>
                  <a:srgbClr val="0C2350"/>
                </a:solidFill>
                <a:latin typeface="Arial" pitchFamily="34" charset="0"/>
                <a:ea typeface="Arial" pitchFamily="34" charset="-122"/>
                <a:cs typeface="Arial" pitchFamily="34" charset="-120"/>
              </a:rPr>
              <a:t>Les équipes métier au cœur du dispositif</a:t>
            </a:r>
            <a:endParaRPr lang="en-US" sz="3900" dirty="0"/>
          </a:p>
        </p:txBody>
      </p:sp>
      <p:sp>
        <p:nvSpPr>
          <p:cNvPr id="4" name="Shape 2"/>
          <p:cNvSpPr/>
          <p:nvPr/>
        </p:nvSpPr>
        <p:spPr>
          <a:xfrm>
            <a:off x="952500" y="4173855"/>
            <a:ext cx="5757386" cy="601980"/>
          </a:xfrm>
          <a:prstGeom prst="roundRect">
            <a:avLst>
              <a:gd name="adj" fmla="val 18987"/>
            </a:avLst>
          </a:prstGeom>
          <a:solidFill>
            <a:srgbClr val="F2F8FC"/>
          </a:solidFill>
          <a:ln/>
        </p:spPr>
      </p:sp>
      <p:sp>
        <p:nvSpPr>
          <p:cNvPr id="5" name="Text 3"/>
          <p:cNvSpPr/>
          <p:nvPr/>
        </p:nvSpPr>
        <p:spPr>
          <a:xfrm>
            <a:off x="1200150" y="4345305"/>
            <a:ext cx="543480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Mono-critère</a:t>
            </a:r>
            <a:endParaRPr lang="en-US" sz="1800" dirty="0"/>
          </a:p>
        </p:txBody>
      </p:sp>
      <p:sp>
        <p:nvSpPr>
          <p:cNvPr id="6" name="Shape 4"/>
          <p:cNvSpPr/>
          <p:nvPr/>
        </p:nvSpPr>
        <p:spPr>
          <a:xfrm>
            <a:off x="952500" y="4947285"/>
            <a:ext cx="5757386" cy="601980"/>
          </a:xfrm>
          <a:prstGeom prst="roundRect">
            <a:avLst>
              <a:gd name="adj" fmla="val 18987"/>
            </a:avLst>
          </a:prstGeom>
          <a:solidFill>
            <a:srgbClr val="F2F8FC"/>
          </a:solidFill>
          <a:ln/>
        </p:spPr>
      </p:sp>
      <p:sp>
        <p:nvSpPr>
          <p:cNvPr id="7" name="Text 5"/>
          <p:cNvSpPr/>
          <p:nvPr/>
        </p:nvSpPr>
        <p:spPr>
          <a:xfrm>
            <a:off x="1200150" y="5118735"/>
            <a:ext cx="543480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Multi-critère</a:t>
            </a:r>
            <a:endParaRPr lang="en-US" sz="1800" dirty="0"/>
          </a:p>
        </p:txBody>
      </p:sp>
      <p:sp>
        <p:nvSpPr>
          <p:cNvPr id="8" name="Shape 6"/>
          <p:cNvSpPr/>
          <p:nvPr/>
        </p:nvSpPr>
        <p:spPr>
          <a:xfrm>
            <a:off x="952500" y="5720715"/>
            <a:ext cx="5757386" cy="601980"/>
          </a:xfrm>
          <a:prstGeom prst="roundRect">
            <a:avLst>
              <a:gd name="adj" fmla="val 18987"/>
            </a:avLst>
          </a:prstGeom>
          <a:solidFill>
            <a:srgbClr val="F2F8FC"/>
          </a:solidFill>
          <a:ln/>
        </p:spPr>
      </p:sp>
      <p:sp>
        <p:nvSpPr>
          <p:cNvPr id="9" name="Text 7"/>
          <p:cNvSpPr/>
          <p:nvPr/>
        </p:nvSpPr>
        <p:spPr>
          <a:xfrm>
            <a:off x="1200150" y="5892165"/>
            <a:ext cx="543480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0C2350"/>
                </a:solidFill>
                <a:latin typeface="Arial" pitchFamily="34" charset="0"/>
                <a:ea typeface="Arial" pitchFamily="34" charset="-122"/>
                <a:cs typeface="Arial" pitchFamily="34" charset="-120"/>
              </a:rPr>
              <a:t>Familles</a:t>
            </a:r>
            <a:endParaRPr lang="en-US" sz="1800" dirty="0"/>
          </a:p>
        </p:txBody>
      </p:sp>
      <p:sp>
        <p:nvSpPr>
          <p:cNvPr id="10" name="Text 8"/>
          <p:cNvSpPr/>
          <p:nvPr/>
        </p:nvSpPr>
        <p:spPr>
          <a:xfrm>
            <a:off x="6594741" y="5057775"/>
            <a:ext cx="2533198" cy="419100"/>
          </a:xfrm>
          <a:prstGeom prst="rect">
            <a:avLst/>
          </a:prstGeom>
          <a:noFill/>
          <a:ln/>
        </p:spPr>
        <p:txBody>
          <a:bodyPr wrap="square" lIns="25400" tIns="25400" rIns="25400" bIns="25400" rtlCol="0" anchor="t">
            <a:normAutofit/>
          </a:bodyPr>
          <a:lstStyle/>
          <a:p>
            <a:pPr algn="ctr" indent="0" marL="0">
              <a:buNone/>
            </a:pPr>
            <a:r>
              <a:rPr lang="en-US" sz="2550" dirty="0">
                <a:solidFill>
                  <a:srgbClr val="0086C9"/>
                </a:solidFill>
                <a:latin typeface="Arial" pitchFamily="34" charset="0"/>
                <a:ea typeface="Arial" pitchFamily="34" charset="-122"/>
                <a:cs typeface="Arial" pitchFamily="34" charset="-120"/>
              </a:rPr>
              <a:t>→</a:t>
            </a:r>
            <a:endParaRPr lang="en-US" sz="2550" dirty="0"/>
          </a:p>
        </p:txBody>
      </p:sp>
      <p:sp>
        <p:nvSpPr>
          <p:cNvPr id="11" name="Shape 9"/>
          <p:cNvSpPr/>
          <p:nvPr/>
        </p:nvSpPr>
        <p:spPr>
          <a:xfrm>
            <a:off x="9012793" y="3933825"/>
            <a:ext cx="8322707" cy="2628900"/>
          </a:xfrm>
          <a:prstGeom prst="roundRect">
            <a:avLst>
              <a:gd name="adj" fmla="val 8696"/>
            </a:avLst>
          </a:prstGeom>
          <a:solidFill>
            <a:srgbClr val="0C2350"/>
          </a:solidFill>
          <a:ln/>
        </p:spPr>
      </p:sp>
      <p:sp>
        <p:nvSpPr>
          <p:cNvPr id="12" name="Text 10"/>
          <p:cNvSpPr/>
          <p:nvPr/>
        </p:nvSpPr>
        <p:spPr>
          <a:xfrm>
            <a:off x="9431893" y="4352925"/>
            <a:ext cx="1677317" cy="28956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Équipes métier</a:t>
            </a:r>
            <a:endParaRPr lang="en-US" sz="1800" dirty="0"/>
          </a:p>
        </p:txBody>
      </p:sp>
      <p:sp>
        <p:nvSpPr>
          <p:cNvPr id="13" name="Text 11"/>
          <p:cNvSpPr/>
          <p:nvPr/>
        </p:nvSpPr>
        <p:spPr>
          <a:xfrm>
            <a:off x="9431893" y="4745355"/>
            <a:ext cx="8232958" cy="297180"/>
          </a:xfrm>
          <a:prstGeom prst="rect">
            <a:avLst/>
          </a:prstGeom>
          <a:noFill/>
          <a:ln/>
        </p:spPr>
        <p:txBody>
          <a:bodyPr wrap="square" lIns="25400" tIns="25400" rIns="25400" bIns="25400" rtlCol="0" anchor="t">
            <a:normAutofit/>
          </a:bodyPr>
          <a:lstStyle/>
          <a:p>
            <a:pPr algn="l" indent="0" marL="0">
              <a:buNone/>
            </a:pPr>
            <a:r>
              <a:rPr lang="en-US" sz="1800" b="1" dirty="0">
                <a:solidFill>
                  <a:srgbClr val="5FC8EE"/>
                </a:solidFill>
                <a:latin typeface="Arial" pitchFamily="34" charset="0"/>
                <a:ea typeface="Arial" pitchFamily="34" charset="-122"/>
                <a:cs typeface="Arial" pitchFamily="34" charset="-120"/>
              </a:rPr>
              <a:t>L'objectif final : un reporting quotidien (J+1)</a:t>
            </a:r>
            <a:endParaRPr lang="en-US" sz="1800" dirty="0"/>
          </a:p>
        </p:txBody>
      </p:sp>
      <p:sp>
        <p:nvSpPr>
          <p:cNvPr id="14" name="Text 12"/>
          <p:cNvSpPr/>
          <p:nvPr/>
        </p:nvSpPr>
        <p:spPr>
          <a:xfrm>
            <a:off x="9431893" y="5080635"/>
            <a:ext cx="7709042" cy="1101090"/>
          </a:xfrm>
          <a:prstGeom prst="rect">
            <a:avLst/>
          </a:prstGeom>
          <a:noFill/>
          <a:ln/>
        </p:spPr>
        <p:txBody>
          <a:bodyPr wrap="square" lIns="25400" tIns="25400" rIns="25400" bIns="25400" rtlCol="0" anchor="t">
            <a:normAutofit/>
          </a:bodyPr>
          <a:lstStyle/>
          <a:p>
            <a:pPr algn="l" indent="0" marL="0">
              <a:lnSpc>
                <a:spcPct val="136765"/>
              </a:lnSpc>
              <a:buNone/>
            </a:pPr>
            <a:r>
              <a:rPr lang="en-US" sz="1800" dirty="0">
                <a:solidFill>
                  <a:srgbClr val="C2D6E8"/>
                </a:solidFill>
                <a:latin typeface="Arial" pitchFamily="34" charset="0"/>
                <a:ea typeface="Arial" pitchFamily="34" charset="-122"/>
                <a:cs typeface="Arial" pitchFamily="34" charset="-120"/>
              </a:rPr>
              <a:t>Chaque jour, un reporting est remis aux équipes métier avec les distributeurs dont le comportement s'écarte de l'habituel — le jour même, pas 2 à 3 mois plus tard.</a:t>
            </a:r>
            <a:endParaRPr lang="en-US" sz="1800" dirty="0"/>
          </a:p>
        </p:txBody>
      </p:sp>
      <p:sp>
        <p:nvSpPr>
          <p:cNvPr id="15" name="Shape 13"/>
          <p:cNvSpPr/>
          <p:nvPr/>
        </p:nvSpPr>
        <p:spPr>
          <a:xfrm>
            <a:off x="952500" y="8446770"/>
            <a:ext cx="16383000" cy="1173480"/>
          </a:xfrm>
          <a:prstGeom prst="roundRect">
            <a:avLst>
              <a:gd name="adj" fmla="val 12987"/>
            </a:avLst>
          </a:prstGeom>
          <a:solidFill>
            <a:srgbClr val="F2F8FC"/>
          </a:solidFill>
          <a:ln w="15240">
            <a:solidFill>
              <a:srgbClr val="C2D6E8"/>
            </a:solidFill>
            <a:prstDash val="solid"/>
          </a:ln>
        </p:spPr>
      </p:sp>
      <p:sp>
        <p:nvSpPr>
          <p:cNvPr id="16" name="Text 14"/>
          <p:cNvSpPr/>
          <p:nvPr/>
        </p:nvSpPr>
        <p:spPr>
          <a:xfrm>
            <a:off x="1253490" y="8690610"/>
            <a:ext cx="16254451" cy="723900"/>
          </a:xfrm>
          <a:prstGeom prst="rect">
            <a:avLst/>
          </a:prstGeom>
          <a:noFill/>
          <a:ln/>
        </p:spPr>
        <p:txBody>
          <a:bodyPr wrap="square" lIns="25400" tIns="25400" rIns="25400" bIns="25400" rtlCol="0" anchor="t">
            <a:normAutofit/>
          </a:bodyPr>
          <a:lstStyle/>
          <a:p>
            <a:pPr algn="l" indent="0" marL="0">
              <a:lnSpc>
                <a:spcPct val="132353"/>
              </a:lnSpc>
              <a:buNone/>
            </a:pPr>
            <a:r>
              <a:rPr lang="en-US" sz="1800" dirty="0">
                <a:solidFill>
                  <a:srgbClr val="64758F"/>
                </a:solidFill>
                <a:latin typeface="Arial" pitchFamily="34" charset="0"/>
                <a:ea typeface="Arial" pitchFamily="34" charset="-122"/>
                <a:cs typeface="Arial" pitchFamily="34" charset="-120"/>
              </a:rPr>
              <a:t>Le dispositif ne prend aucune décision à la place des équipes. Il fournit le signal et le contexte — c'est le métier qui mène l'enquête et confirme si le distributeur est réellement atypique. </a:t>
            </a:r>
            <a:pPr algn="l" indent="0" marL="0">
              <a:lnSpc>
                <a:spcPct val="132353"/>
              </a:lnSpc>
              <a:buNone/>
            </a:pPr>
            <a:r>
              <a:rPr lang="en-US" sz="1800" b="1" dirty="0">
                <a:solidFill>
                  <a:srgbClr val="0C2350"/>
                </a:solidFill>
                <a:latin typeface="Arial" pitchFamily="34" charset="0"/>
                <a:ea typeface="Arial" pitchFamily="34" charset="-122"/>
                <a:cs typeface="Arial" pitchFamily="34" charset="-120"/>
              </a:rPr>
              <a:t>L'expertise métier reste seule juge de la décision finale.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C2350">
                  <a:alpha val="100000"/>
                </a:srgbClr>
              </a:gs>
              <a:gs pos="100000">
                <a:srgbClr val="16356E">
                  <a:alpha val="100000"/>
                </a:srgbClr>
              </a:gs>
            </a:gsLst>
            <a:lin ang="2700000" scaled="0"/>
          </a:gradFill>
          <a:ln/>
        </p:spPr>
      </p:sp>
      <p:sp>
        <p:nvSpPr>
          <p:cNvPr id="3" name="Shape 1"/>
          <p:cNvSpPr/>
          <p:nvPr/>
        </p:nvSpPr>
        <p:spPr>
          <a:xfrm>
            <a:off x="4850130" y="3223260"/>
            <a:ext cx="8587740" cy="8587740"/>
          </a:xfrm>
          <a:prstGeom prst="ellipse">
            <a:avLst/>
          </a:prstGeom>
          <a:ln w="7620">
            <a:solidFill>
              <a:srgbClr val="FFFFFF">
                <a:alpha val="8000"/>
              </a:srgbClr>
            </a:solidFill>
            <a:prstDash val="solid"/>
          </a:ln>
        </p:spPr>
      </p:sp>
      <p:sp>
        <p:nvSpPr>
          <p:cNvPr id="4" name="Text 2"/>
          <p:cNvSpPr/>
          <p:nvPr/>
        </p:nvSpPr>
        <p:spPr>
          <a:xfrm>
            <a:off x="5311860" y="4120515"/>
            <a:ext cx="7664160" cy="807720"/>
          </a:xfrm>
          <a:prstGeom prst="rect">
            <a:avLst/>
          </a:prstGeom>
          <a:noFill/>
          <a:ln/>
        </p:spPr>
        <p:txBody>
          <a:bodyPr wrap="square" lIns="25400" tIns="25400" rIns="25400" bIns="25400" rtlCol="0" anchor="t">
            <a:normAutofit/>
          </a:bodyPr>
          <a:lstStyle/>
          <a:p>
            <a:pPr algn="ctr" indent="0" marL="0">
              <a:buNone/>
            </a:pPr>
            <a:r>
              <a:rPr lang="en-US" sz="5250" b="1" dirty="0">
                <a:solidFill>
                  <a:srgbClr val="FFFFFF"/>
                </a:solidFill>
                <a:latin typeface="Arial" pitchFamily="34" charset="0"/>
                <a:ea typeface="Arial" pitchFamily="34" charset="-122"/>
                <a:cs typeface="Arial" pitchFamily="34" charset="-120"/>
              </a:rPr>
              <a:t>Merci de votre attention</a:t>
            </a:r>
            <a:endParaRPr lang="en-US" sz="5250" dirty="0"/>
          </a:p>
        </p:txBody>
      </p:sp>
      <p:sp>
        <p:nvSpPr>
          <p:cNvPr id="5" name="Text 3"/>
          <p:cNvSpPr/>
          <p:nvPr/>
        </p:nvSpPr>
        <p:spPr>
          <a:xfrm>
            <a:off x="5701492" y="5137785"/>
            <a:ext cx="6884896" cy="350520"/>
          </a:xfrm>
          <a:prstGeom prst="rect">
            <a:avLst/>
          </a:prstGeom>
          <a:noFill/>
          <a:ln/>
        </p:spPr>
        <p:txBody>
          <a:bodyPr wrap="square" lIns="25400" tIns="25400" rIns="25400" bIns="25400" rtlCol="0" anchor="t">
            <a:normAutofit/>
          </a:bodyPr>
          <a:lstStyle/>
          <a:p>
            <a:pPr algn="ctr" indent="0" marL="0">
              <a:buNone/>
            </a:pPr>
            <a:r>
              <a:rPr lang="en-US" sz="2100" dirty="0">
                <a:solidFill>
                  <a:srgbClr val="C2D6E8"/>
                </a:solidFill>
                <a:latin typeface="Arial" pitchFamily="34" charset="0"/>
                <a:ea typeface="Arial" pitchFamily="34" charset="-122"/>
                <a:cs typeface="Arial" pitchFamily="34" charset="-120"/>
              </a:rPr>
              <a:t>Questions, retours et points de vigilance bienvenus</a:t>
            </a:r>
            <a:endParaRPr lang="en-US" sz="2100" dirty="0"/>
          </a:p>
        </p:txBody>
      </p:sp>
      <p:sp>
        <p:nvSpPr>
          <p:cNvPr id="6" name="Shape 4"/>
          <p:cNvSpPr/>
          <p:nvPr/>
        </p:nvSpPr>
        <p:spPr>
          <a:xfrm>
            <a:off x="5780008" y="5989320"/>
            <a:ext cx="95250" cy="95250"/>
          </a:xfrm>
          <a:prstGeom prst="ellipse">
            <a:avLst/>
          </a:prstGeom>
          <a:solidFill>
            <a:srgbClr val="009EE0"/>
          </a:solidFill>
          <a:ln/>
        </p:spPr>
      </p:sp>
      <p:sp>
        <p:nvSpPr>
          <p:cNvPr id="7" name="Text 5"/>
          <p:cNvSpPr/>
          <p:nvPr/>
        </p:nvSpPr>
        <p:spPr>
          <a:xfrm>
            <a:off x="5703647" y="5907405"/>
            <a:ext cx="7128236" cy="297180"/>
          </a:xfrm>
          <a:prstGeom prst="rect">
            <a:avLst/>
          </a:prstGeom>
          <a:noFill/>
          <a:ln/>
        </p:spPr>
        <p:txBody>
          <a:bodyPr wrap="square" lIns="25400" tIns="25400" rIns="25400" bIns="25400" rtlCol="0" anchor="t">
            <a:normAutofit/>
          </a:bodyPr>
          <a:lstStyle/>
          <a:p>
            <a:pPr algn="ctr" indent="0" marL="0">
              <a:buNone/>
            </a:pPr>
            <a:r>
              <a:rPr lang="en-US" sz="1800" b="1" dirty="0">
                <a:solidFill>
                  <a:srgbClr val="FFFFFF"/>
                </a:solidFill>
                <a:latin typeface="Arial" pitchFamily="34" charset="0"/>
                <a:ea typeface="Arial" pitchFamily="34" charset="-122"/>
                <a:cs typeface="Arial" pitchFamily="34" charset="-120"/>
              </a:rPr>
              <a:t>La Banque Postale · Direction des Paiements · Data &amp; IA · POC</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2026-07-28T06:27:58Z</dcterms:created>
  <dcterms:modified xsi:type="dcterms:W3CDTF">2026-07-28T06:27:58Z</dcterms:modified>
</cp:coreProperties>
</file>